
<file path=[Content_Types].xml><?xml version="1.0" encoding="utf-8"?>
<Types xmlns="http://schemas.openxmlformats.org/package/2006/content-types">
  <Default Extension="fntdata" ContentType="application/x-fontdata"/>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95"/>
  </p:notesMasterIdLst>
  <p:sldIdLst>
    <p:sldId id="329" r:id="rId2"/>
    <p:sldId id="360" r:id="rId3"/>
    <p:sldId id="361" r:id="rId4"/>
    <p:sldId id="363" r:id="rId5"/>
    <p:sldId id="330" r:id="rId6"/>
    <p:sldId id="364" r:id="rId7"/>
    <p:sldId id="365" r:id="rId8"/>
    <p:sldId id="331" r:id="rId9"/>
    <p:sldId id="302" r:id="rId10"/>
    <p:sldId id="368" r:id="rId110"/>
    <p:sldId id="303" r:id="rId11"/>
    <p:sldId id="367" r:id="rId109"/>
    <p:sldId id="304" r:id="rId12"/>
    <p:sldId id="305" r:id="rId13"/>
    <p:sldId id="306" r:id="rId14"/>
    <p:sldId id="366" r:id="rId108"/>
    <p:sldId id="307" r:id="rId15"/>
    <p:sldId id="308" r:id="rId16"/>
    <p:sldId id="335" r:id="rId17"/>
    <p:sldId id="327" r:id="rId18"/>
    <p:sldId id="328" r:id="rId19"/>
    <p:sldId id="332" r:id="rId20"/>
    <p:sldId id="312" r:id="rId21"/>
    <p:sldId id="313" r:id="rId22"/>
    <p:sldId id="314" r:id="rId23"/>
    <p:sldId id="315" r:id="rId24"/>
    <p:sldId id="316" r:id="rId25"/>
    <p:sldId id="317" r:id="rId26"/>
    <p:sldId id="318" r:id="rId27"/>
    <p:sldId id="319" r:id="rId28"/>
    <p:sldId id="336" r:id="rId29"/>
    <p:sldId id="322" r:id="rId30"/>
    <p:sldId id="323" r:id="rId31"/>
    <p:sldId id="324" r:id="rId32"/>
    <p:sldId id="333" r:id="rId33"/>
    <p:sldId id="282" r:id="rId34"/>
    <p:sldId id="257" r:id="rId35"/>
    <p:sldId id="258" r:id="rId36"/>
    <p:sldId id="259" r:id="rId37"/>
    <p:sldId id="260" r:id="rId38"/>
    <p:sldId id="261" r:id="rId39"/>
    <p:sldId id="262" r:id="rId40"/>
    <p:sldId id="263" r:id="rId41"/>
    <p:sldId id="264" r:id="rId42"/>
    <p:sldId id="265" r:id="rId43"/>
    <p:sldId id="266" r:id="rId44"/>
    <p:sldId id="283" r:id="rId45"/>
    <p:sldId id="269" r:id="rId46"/>
    <p:sldId id="270" r:id="rId47"/>
    <p:sldId id="271" r:id="rId48"/>
    <p:sldId id="289" r:id="rId49"/>
    <p:sldId id="273" r:id="rId50"/>
    <p:sldId id="284" r:id="rId51"/>
    <p:sldId id="274" r:id="rId52"/>
    <p:sldId id="285" r:id="rId53"/>
    <p:sldId id="278" r:id="rId54"/>
    <p:sldId id="279" r:id="rId55"/>
    <p:sldId id="280" r:id="rId56"/>
    <p:sldId id="281" r:id="rId57"/>
    <p:sldId id="337" r:id="rId58"/>
    <p:sldId id="286" r:id="rId59"/>
    <p:sldId id="287" r:id="rId60"/>
    <p:sldId id="288" r:id="rId61"/>
    <p:sldId id="334" r:id="rId62"/>
    <p:sldId id="293" r:id="rId63"/>
    <p:sldId id="292" r:id="rId64"/>
    <p:sldId id="291" r:id="rId65"/>
    <p:sldId id="294" r:id="rId66"/>
    <p:sldId id="295" r:id="rId67"/>
    <p:sldId id="296" r:id="rId68"/>
    <p:sldId id="297" r:id="rId69"/>
    <p:sldId id="298" r:id="rId70"/>
    <p:sldId id="299" r:id="rId71"/>
    <p:sldId id="300" r:id="rId72"/>
    <p:sldId id="338" r:id="rId73"/>
    <p:sldId id="268" r:id="rId74"/>
    <p:sldId id="339" r:id="rId75"/>
    <p:sldId id="340" r:id="rId76"/>
    <p:sldId id="342" r:id="rId77"/>
    <p:sldId id="343" r:id="rId78"/>
    <p:sldId id="344" r:id="rId79"/>
    <p:sldId id="345" r:id="rId80"/>
    <p:sldId id="346" r:id="rId81"/>
    <p:sldId id="354" r:id="rId82"/>
    <p:sldId id="355" r:id="rId83"/>
    <p:sldId id="347" r:id="rId84"/>
    <p:sldId id="348" r:id="rId85"/>
    <p:sldId id="356" r:id="rId86"/>
    <p:sldId id="349" r:id="rId87"/>
    <p:sldId id="357" r:id="rId88"/>
    <p:sldId id="350" r:id="rId89"/>
    <p:sldId id="351" r:id="rId90"/>
    <p:sldId id="352" r:id="rId91"/>
    <p:sldId id="353" r:id="rId92"/>
    <p:sldId id="358" r:id="rId93"/>
    <p:sldId id="359" r:id="rId94"/>
  </p:sldIdLst>
  <p:sldSz cx="12192000" cy="6858000"/>
  <p:notesSz cx="6858000" cy="9144000"/>
  <p:embeddedFontLst>
    <p:embeddedFont>
      <p:font typeface="Gartner Sans" panose="020B0504030402040204"/>
      <p:regular r:id="rId96"/>
      <p:bold r:id="rId97"/>
      <p:italic r:id="rId98"/>
      <p:boldItalic r:id="rId99"/>
    </p:embeddedFont>
    <p:embeddedFont>
      <p:font typeface="Gartner Sans Semibold" panose="020B0704030402040204" pitchFamily="34" charset="77"/>
      <p:regular r:id="rId100"/>
      <p:bold r:id="rId101"/>
      <p:italic r:id="rId102"/>
      <p:boldItalic r:id="rId103"/>
    </p:embeddedFont>
  </p:embeddedFontLst>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58"/>
    <p:restoredTop sz="94651"/>
  </p:normalViewPr>
  <p:slideViewPr>
    <p:cSldViewPr snapToGrid="0" snapToObjects="1">
      <p:cViewPr varScale="1">
        <p:scale>
          <a:sx n="91" d="100"/>
          <a:sy n="91" d="100"/>
        </p:scale>
        <p:origin x="200"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font" Target="fonts/font1.fntdata"/><Relationship Id="rId97" Type="http://schemas.openxmlformats.org/officeDocument/2006/relationships/font" Target="fonts/font2.fntdata"/><Relationship Id="rId98" Type="http://schemas.openxmlformats.org/officeDocument/2006/relationships/font" Target="fonts/font3.fntdata"/><Relationship Id="rId99" Type="http://schemas.openxmlformats.org/officeDocument/2006/relationships/font" Target="fonts/font4.fntdata"/><Relationship Id="rId100" Type="http://schemas.openxmlformats.org/officeDocument/2006/relationships/font" Target="fonts/font5.fntdata"/><Relationship Id="rId101" Type="http://schemas.openxmlformats.org/officeDocument/2006/relationships/font" Target="fonts/font6.fntdata"/><Relationship Id="rId102" Type="http://schemas.openxmlformats.org/officeDocument/2006/relationships/font" Target="fonts/font7.fntdata"/><Relationship Id="rId103" Type="http://schemas.openxmlformats.org/officeDocument/2006/relationships/font" Target="fonts/font8.fntdata"/><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 Id="rId108" Type="http://schemas.openxmlformats.org/officeDocument/2006/relationships/slide" Target="slides/slide94.xml"/><Relationship Id="rId109" Type="http://schemas.openxmlformats.org/officeDocument/2006/relationships/slide" Target="slides/slide95.xml"/><Relationship Id="rId110" Type="http://schemas.openxmlformats.org/officeDocument/2006/relationships/slide" Target="slides/slide9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Developers</c:v>
                </c:pt>
              </c:strCache>
            </c:strRef>
          </c:tx>
          <c:spPr>
            <a:solidFill>
              <a:srgbClr val="002869"/>
            </a:solidFill>
          </c:spPr>
          <c:invertIfNegative val="0"/>
          <c:dLbls>
            <c:numFmt formatCode="0&quot;%&quot;" sourceLinked="0"/>
            <c:spPr>
              <a:noFill/>
              <a:ln>
                <a:noFill/>
              </a:ln>
              <a:effectLst/>
            </c:spPr>
            <c:txPr>
              <a:bodyPr/>
              <a:lstStyle/>
              <a:p>
                <a:pPr>
                  <a:defRPr sz="15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Tool sprawl: hard to keep track of AI tool options</c:v>
                </c:pt>
                <c:pt idx="1">
                  <c:v>Rapid AI change: hard to stay current</c:v>
                </c:pt>
                <c:pt idx="2">
                  <c:v>Review burden: more AI output to review and validate</c:v>
                </c:pt>
                <c:pt idx="3">
                  <c:v>Risk concerns: security, privacy and regulation</c:v>
                </c:pt>
              </c:strCache>
            </c:strRef>
          </c:cat>
          <c:val>
            <c:numRef>
              <c:f>Sheet1!$B$2:$B$5</c:f>
              <c:numCache>
                <c:formatCode>General</c:formatCode>
                <c:ptCount val="4"/>
                <c:pt idx="0">
                  <c:v>51</c:v>
                </c:pt>
                <c:pt idx="1">
                  <c:v>43</c:v>
                </c:pt>
                <c:pt idx="2">
                  <c:v>41</c:v>
                </c:pt>
                <c:pt idx="3">
                  <c:v>41</c:v>
                </c:pt>
              </c:numCache>
            </c:numRef>
          </c:val>
          <c:extLst>
            <c:ext xmlns:c16="http://schemas.microsoft.com/office/drawing/2014/chart" uri="{C3380CC4-5D6E-409C-BE32-E72D297353CC}">
              <c16:uniqueId val="{00000000-D5A8-034B-A5E1-11900BBCA42C}"/>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D0D7DF"/>
            </a:solidFill>
          </a:ln>
        </c:spPr>
        <c:crossAx val="-2113994440"/>
        <c:crosses val="autoZero"/>
        <c:auto val="1"/>
        <c:lblAlgn val="ctr"/>
        <c:lblOffset val="100"/>
        <c:noMultiLvlLbl val="0"/>
      </c:catAx>
      <c:valAx>
        <c:axId val="-2113994440"/>
        <c:scaling>
          <c:orientation val="minMax"/>
          <c:max val="70"/>
          <c:min val="0"/>
        </c:scaling>
        <c:delete val="0"/>
        <c:axPos val="t"/>
        <c:numFmt formatCode="General" sourceLinked="1"/>
        <c:majorTickMark val="none"/>
        <c:minorTickMark val="none"/>
        <c:tickLblPos val="none"/>
        <c:spPr>
          <a:ln>
            <a:noFill/>
          </a:ln>
        </c:spPr>
        <c:crossAx val="-2068027336"/>
        <c:crosses val="autoZero"/>
        <c:crossBetween val="between"/>
      </c:valAx>
    </c:plotArea>
    <c:plotVisOnly val="1"/>
    <c:dispBlanksAs val="gap"/>
    <c:showDLblsOverMax val="1"/>
  </c:chart>
  <c:txPr>
    <a:bodyPr/>
    <a:lstStyle/>
    <a:p>
      <a:pPr>
        <a:defRPr sz="1500">
          <a:solidFill>
            <a:srgbClr val="152230"/>
          </a:solidFill>
          <a:latin typeface="Gartner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Developers</c:v>
                </c:pt>
              </c:strCache>
            </c:strRef>
          </c:tx>
          <c:spPr>
            <a:solidFill>
              <a:srgbClr val="002869"/>
            </a:solidFill>
          </c:spPr>
          <c:invertIfNegative val="0"/>
          <c:dLbls>
            <c:numFmt formatCode="0&quot;%&quot;" sourceLinked="0"/>
            <c:spPr>
              <a:noFill/>
              <a:ln>
                <a:noFill/>
              </a:ln>
              <a:effectLst/>
            </c:spPr>
            <c:txPr>
              <a:bodyPr/>
              <a:lstStyle/>
              <a:p>
                <a:pPr>
                  <a:defRPr sz="15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Refactoring AI-generated code</c:v>
                </c:pt>
                <c:pt idx="1">
                  <c:v>Governing and managing AI risk</c:v>
                </c:pt>
                <c:pt idx="2">
                  <c:v>Reviewing code</c:v>
                </c:pt>
                <c:pt idx="3">
                  <c:v>Identifying security and compliance issues</c:v>
                </c:pt>
              </c:strCache>
            </c:strRef>
          </c:cat>
          <c:val>
            <c:numRef>
              <c:f>Sheet1!$B$2:$B$5</c:f>
              <c:numCache>
                <c:formatCode>General</c:formatCode>
                <c:ptCount val="4"/>
                <c:pt idx="0">
                  <c:v>55</c:v>
                </c:pt>
                <c:pt idx="1">
                  <c:v>44</c:v>
                </c:pt>
                <c:pt idx="2">
                  <c:v>42</c:v>
                </c:pt>
                <c:pt idx="3">
                  <c:v>41</c:v>
                </c:pt>
              </c:numCache>
            </c:numRef>
          </c:val>
          <c:extLst>
            <c:ext xmlns:c16="http://schemas.microsoft.com/office/drawing/2014/chart" uri="{C3380CC4-5D6E-409C-BE32-E72D297353CC}">
              <c16:uniqueId val="{00000000-CC8B-4B4D-845D-5CBFF583BB74}"/>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D0D7DF"/>
            </a:solidFill>
          </a:ln>
        </c:spPr>
        <c:crossAx val="-2113994440"/>
        <c:crosses val="autoZero"/>
        <c:auto val="1"/>
        <c:lblAlgn val="ctr"/>
        <c:lblOffset val="100"/>
        <c:noMultiLvlLbl val="0"/>
      </c:catAx>
      <c:valAx>
        <c:axId val="-2113994440"/>
        <c:scaling>
          <c:orientation val="minMax"/>
          <c:max val="75"/>
          <c:min val="0"/>
        </c:scaling>
        <c:delete val="0"/>
        <c:axPos val="t"/>
        <c:numFmt formatCode="General" sourceLinked="1"/>
        <c:majorTickMark val="none"/>
        <c:minorTickMark val="none"/>
        <c:tickLblPos val="none"/>
        <c:spPr>
          <a:ln>
            <a:noFill/>
          </a:ln>
        </c:spPr>
        <c:crossAx val="-2068027336"/>
        <c:crosses val="autoZero"/>
        <c:crossBetween val="between"/>
      </c:valAx>
    </c:plotArea>
    <c:plotVisOnly val="1"/>
    <c:dispBlanksAs val="gap"/>
    <c:showDLblsOverMax val="1"/>
  </c:chart>
  <c:txPr>
    <a:bodyPr/>
    <a:lstStyle/>
    <a:p>
      <a:pPr>
        <a:defRPr sz="1500">
          <a:solidFill>
            <a:srgbClr val="152230"/>
          </a:solidFill>
          <a:latin typeface="Gartner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exercise: 15 minutes to brainstorm as many stakeholders as possible, 10 minutes to narrow the list to seven key stakeholders, and 30 minutes to capture their goals and success criteria. The timings total 55 minutes. Arrange any whole-room share-back after the team exercise. During the brainstorm, everyone contributes and the scribe captures all ideas without filtering. Include internal and external people or groups who use, fund, support or influence the software, including those affected by it. Then combine duplicate suggestions and select seven based on their influence on delivery or how strongly delivery affects them. Keep the full brainstorm list. The person taking notes also contributes. If the group does not share a project, choose one member’s real example and briefly explain it. Use one table row for each of the seven selected stakeholders. Ask teams to state each success criterion so that it can be observed or measured. Goals and criteria are hypotheses unless confirmed by the stakeholder. The table row is an illustrative example. Keep the three-column table visible during the exercise.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stage of a one-hour exercise for teams of seven. Allow 20 minutes for brainstorming. Give each person sticky notes and a pen. Ask everyone to contribute challenges from their own experience of software delivery, with one challenge per note. Capture all ideas at this stage. Introduce the frequency-versus-impact grid only after the brainstorm.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stage of the one-hour exercise. Allow 40 minutes to prioritise the brainstormed challenges. Draw four boxes in a two-by-two grid on a flipchart or wall. Frequency is low in the bottom row and high in the top row. Impact is low in the left column and high in the right column. Agree what low and high mean for the team. Impact means the effect each time the issue occurs. Place each sticky note in the cell that best reflects the team’s experience. The shaded upper-right box highlights challenges with high frequency and high impact. Circle the three priorities the team wants to tackle first. Use judgement and real examples, including when a rare issue has severe consequences.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002869"/>
        </a:solidFill>
        <a:effectLst/>
      </p:bgPr>
    </p:bg>
    <p:spTree>
      <p:nvGrpSpPr>
        <p:cNvPr id="1" name=""/>
        <p:cNvGrpSpPr/>
        <p:nvPr/>
      </p:nvGrpSpPr>
      <p:grpSpPr>
        <a:xfrm>
          <a:off x="0" y="0"/>
          <a:ext cx="0" cy="0"/>
          <a:chOff x="0" y="0"/>
          <a:chExt cx="0" cy="0"/>
        </a:xfrm>
      </p:grpSpPr>
      <p:pic>
        <p:nvPicPr>
          <p:cNvPr id="9" name="Image 0"/>
          <p:cNvPicPr>
            <a:picLocks noChangeAspect="1"/>
          </p:cNvPicPr>
          <p:nvPr/>
        </p:nvPicPr>
        <p:blipFill>
          <a:blip r:embed="rId2"/>
          <a:stretch>
            <a:fillRect/>
          </a:stretch>
        </p:blipFill>
        <p:spPr>
          <a:xfrm>
            <a:off x="0" y="0"/>
            <a:ext cx="12191695" cy="6858000"/>
          </a:xfrm>
          <a:prstGeom prst="rect">
            <a:avLst/>
          </a:prstGeom>
        </p:spPr>
      </p:pic>
      <p:pic>
        <p:nvPicPr>
          <p:cNvPr id="10" name="Image 1"/>
          <p:cNvPicPr>
            <a:picLocks noChangeAspect="1"/>
          </p:cNvPicPr>
          <p:nvPr/>
        </p:nvPicPr>
        <p:blipFill>
          <a:blip r:embed="rId3"/>
          <a:stretch>
            <a:fillRect/>
          </a:stretch>
        </p:blipFill>
        <p:spPr>
          <a:xfrm>
            <a:off x="685800" y="685800"/>
            <a:ext cx="1728216" cy="393192"/>
          </a:xfrm>
          <a:prstGeom prst="rect">
            <a:avLst/>
          </a:prstGeom>
        </p:spPr>
      </p:pic>
      <p:sp>
        <p:nvSpPr>
          <p:cNvPr id="4" name="Shape 0">
            <a:extLst>
              <a:ext uri="{FF2B5EF4-FFF2-40B4-BE49-F238E27FC236}">
                <a16:creationId xmlns:a16="http://schemas.microsoft.com/office/drawing/2014/main" id="{3E93EBD2-92BF-4C00-A7BF-B6D063898C5F}"/>
              </a:ext>
            </a:extLst>
          </p:cNvPr>
          <p:cNvSpPr>
            <a:spLocks noGrp="1"/>
          </p:cNvSpPr>
          <p:nvPr/>
        </p:nvSpPr>
        <p:spPr>
          <a:xfrm>
            <a:off x="1498600" y="2148840"/>
            <a:ext cx="101600" cy="2185416"/>
          </a:xfrm>
          <a:prstGeom prst="rect">
            <a:avLst/>
          </a:prstGeom>
          <a:solidFill>
            <a:srgbClr val="1F96FF"/>
          </a:solidFill>
        </p:spPr>
        <p:txBody>
          <a:bodyPr/>
          <a:lstStyle/>
          <a:p>
            <a:endParaRPr lang="en-GB"/>
          </a:p>
        </p:txBody>
      </p:sp>
      <p:sp>
        <p:nvSpPr>
          <p:cNvPr id="5" name="Shape 1">
            <a:extLst>
              <a:ext uri="{FF2B5EF4-FFF2-40B4-BE49-F238E27FC236}">
                <a16:creationId xmlns:a16="http://schemas.microsoft.com/office/drawing/2014/main" id="{1633A166-63EE-4796-A608-C0378540A34C}"/>
              </a:ext>
            </a:extLst>
          </p:cNvPr>
          <p:cNvSpPr>
            <a:spLocks noGrp="1"/>
          </p:cNvSpPr>
          <p:nvPr/>
        </p:nvSpPr>
        <p:spPr>
          <a:xfrm>
            <a:off x="8961120" y="2148840"/>
            <a:ext cx="101600" cy="2185416"/>
          </a:xfrm>
          <a:prstGeom prst="rect">
            <a:avLst/>
          </a:prstGeom>
          <a:solidFill>
            <a:srgbClr val="1F96FF"/>
          </a:solidFill>
        </p:spPr>
        <p:txBody>
          <a:bodyPr/>
          <a:lstStyle/>
          <a:p>
            <a:endParaRPr lang="en-GB"/>
          </a:p>
        </p:txBody>
      </p:sp>
      <p:sp>
        <p:nvSpPr>
          <p:cNvPr id="6" name="Text 2">
            <a:extLst>
              <a:ext uri="{FF2B5EF4-FFF2-40B4-BE49-F238E27FC236}">
                <a16:creationId xmlns:a16="http://schemas.microsoft.com/office/drawing/2014/main" id="{BC3223F0-4F18-4C29-96BC-4B2C8859D3A7}"/>
              </a:ext>
            </a:extLst>
          </p:cNvPr>
          <p:cNvSpPr>
            <a:spLocks noGrp="1"/>
          </p:cNvSpPr>
          <p:nvPr/>
        </p:nvSpPr>
        <p:spPr>
          <a:xfrm>
            <a:off x="685800" y="6199632"/>
            <a:ext cx="8686800" cy="320040"/>
          </a:xfrm>
          <a:prstGeom prst="rect">
            <a:avLst/>
          </a:prstGeom>
          <a:noFill/>
        </p:spPr>
        <p:txBody>
          <a:bodyPr wrap="square" anchor="t"/>
          <a:lstStyle/>
          <a:p>
            <a:pPr marL="0" indent="0" algn="l">
              <a:buNone/>
            </a:pPr>
            <a:r>
              <a:rPr sz="700">
                <a:solidFill>
                  <a:srgbClr val="FFFFFF"/>
                </a:solidFill>
                <a:latin typeface="Gartner Sans"/>
                <a:ea typeface="Gartner Sans"/>
                <a:cs typeface="Gartner Sans"/>
              </a:rPr>
              <a:t>© 2026 Gartner, Inc. and/or its affiliates. All rights reserved. Gartner is a registered trademark of Gartner, Inc. or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sz="7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MASTER">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4CA55D2-5C6B-4148-8FF3-DCC00A87EC90}"/>
              </a:ext>
            </a:extLst>
          </p:cNvPr>
          <p:cNvSpPr>
            <a:spLocks noGrp="1"/>
          </p:cNvSpPr>
          <p:nvPr/>
        </p:nvSpPr>
        <p:spPr>
          <a:xfrm>
            <a:off x="658368" y="6391656"/>
            <a:ext cx="7104888" cy="155448"/>
          </a:xfrm>
          <a:prstGeom prst="rect">
            <a:avLst/>
          </a:prstGeom>
          <a:noFill/>
        </p:spPr>
        <p:txBody>
          <a:bodyPr wrap="square" anchor="ctr"/>
          <a:lstStyle/>
          <a:p>
            <a:pPr marL="0" indent="0" algn="l">
              <a:buNone/>
            </a:pPr>
            <a:r>
              <a:rPr sz="700">
                <a:solidFill>
                  <a:srgbClr val="000000"/>
                </a:solidFill>
                <a:latin typeface="Gartner Sans"/>
                <a:ea typeface="Gartner Sans"/>
                <a:cs typeface="Gartner Sans"/>
              </a:rPr>
              <a:t>Based on Gartner research. Stakeholder and challenges content is from Gartner's AskGartner tool; check it against www.gartner.com.</a:t>
            </a:r>
            <a:endParaRPr sz="700"/>
          </a:p>
        </p:txBody>
      </p:sp>
      <p:pic>
        <p:nvPicPr>
          <p:cNvPr id="5" name="Image 0"/>
          <p:cNvPicPr>
            <a:picLocks noChangeAspect="1"/>
          </p:cNvPicPr>
          <p:nvPr/>
        </p:nvPicPr>
        <p:blipFill>
          <a:blip r:embed="rId2"/>
          <a:stretch>
            <a:fillRect/>
          </a:stretch>
        </p:blipFill>
        <p:spPr>
          <a:xfrm>
            <a:off x="10451592" y="6236208"/>
            <a:ext cx="1362456" cy="31089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GAL_MASTER">
    <p:bg>
      <p:bgPr>
        <a:solidFill>
          <a:srgbClr val="E0F1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780CE26-B0CA-4C9E-92F0-9E4BE82C012C}"/>
              </a:ext>
            </a:extLst>
          </p:cNvPr>
          <p:cNvSpPr>
            <a:spLocks noGrp="1"/>
          </p:cNvSpPr>
          <p:nvPr/>
        </p:nvSpPr>
        <p:spPr>
          <a:xfrm>
            <a:off x="658368" y="6391656"/>
            <a:ext cx="7104888" cy="155448"/>
          </a:xfrm>
          <a:prstGeom prst="rect">
            <a:avLst/>
          </a:prstGeom>
          <a:noFill/>
        </p:spPr>
        <p:txBody>
          <a:bodyPr wrap="square" anchor="ctr"/>
          <a:lstStyle/>
          <a:p>
            <a:pPr marL="0" indent="0" algn="l">
              <a:buNone/>
            </a:pPr>
            <a:r>
              <a:rPr sz="700">
                <a:solidFill>
                  <a:srgbClr val="000000"/>
                </a:solidFill>
                <a:latin typeface="Gartner Sans"/>
                <a:ea typeface="Gartner Sans"/>
                <a:cs typeface="Gartner Sans"/>
              </a:rPr>
              <a:t>Based on Gartner research. Stakeholder and challenges content is from Gartner's AskGartner tool; check it against www.gartner.com.</a:t>
            </a:r>
            <a:endParaRPr sz="700"/>
          </a:p>
        </p:txBody>
      </p:sp>
      <p:pic>
        <p:nvPicPr>
          <p:cNvPr id="5" name="Image 0"/>
          <p:cNvPicPr>
            <a:picLocks noChangeAspect="1"/>
          </p:cNvPicPr>
          <p:nvPr/>
        </p:nvPicPr>
        <p:blipFill>
          <a:blip r:embed="rId2"/>
          <a:stretch>
            <a:fillRect/>
          </a:stretch>
        </p:blipFill>
        <p:spPr>
          <a:xfrm>
            <a:off x="10451592" y="6236208"/>
            <a:ext cx="1362456" cy="31089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_MASTER">
    <p:bg>
      <p:bgPr>
        <a:solidFill>
          <a:srgbClr val="002869"/>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D72E7-F1CC-4D58-AFD5-721B5ECFBD23}"/>
              </a:ext>
            </a:extLst>
          </p:cNvPr>
          <p:cNvSpPr>
            <a:spLocks noGrp="1"/>
          </p:cNvSpPr>
          <p:nvPr/>
        </p:nvSpPr>
        <p:spPr>
          <a:xfrm>
            <a:off x="1498600" y="2148840"/>
            <a:ext cx="101600" cy="2185416"/>
          </a:xfrm>
          <a:prstGeom prst="rect">
            <a:avLst/>
          </a:prstGeom>
          <a:solidFill>
            <a:srgbClr val="1F96FF"/>
          </a:solidFill>
        </p:spPr>
        <p:txBody>
          <a:bodyPr/>
          <a:lstStyle/>
          <a:p>
            <a:endParaRPr/>
          </a:p>
        </p:txBody>
      </p:sp>
      <p:sp>
        <p:nvSpPr>
          <p:cNvPr id="3" name="Shape 1">
            <a:extLst>
              <a:ext uri="{FF2B5EF4-FFF2-40B4-BE49-F238E27FC236}">
                <a16:creationId xmlns:a16="http://schemas.microsoft.com/office/drawing/2014/main" id="{F375C660-F98C-49B7-9A9B-0A0B579EBD7C}"/>
              </a:ext>
            </a:extLst>
          </p:cNvPr>
          <p:cNvSpPr>
            <a:spLocks noGrp="1"/>
          </p:cNvSpPr>
          <p:nvPr/>
        </p:nvSpPr>
        <p:spPr>
          <a:xfrm>
            <a:off x="8961120" y="2148840"/>
            <a:ext cx="101600" cy="2185416"/>
          </a:xfrm>
          <a:prstGeom prst="rect">
            <a:avLst/>
          </a:prstGeom>
          <a:solidFill>
            <a:srgbClr val="1F96FF"/>
          </a:solidFill>
        </p:spPr>
        <p:txBody>
          <a:bodyPr/>
          <a:lstStyle/>
          <a:p>
            <a:endParaRPr/>
          </a:p>
        </p:txBody>
      </p:sp>
      <p:sp>
        <p:nvSpPr>
          <p:cNvPr id="4" name="Text 2">
            <a:extLst>
              <a:ext uri="{FF2B5EF4-FFF2-40B4-BE49-F238E27FC236}">
                <a16:creationId xmlns:a16="http://schemas.microsoft.com/office/drawing/2014/main" id="{82807B57-5805-49E9-86D1-33C20E41EA39}"/>
              </a:ext>
            </a:extLst>
          </p:cNvPr>
          <p:cNvSpPr>
            <a:spLocks noGrp="1"/>
          </p:cNvSpPr>
          <p:nvPr/>
        </p:nvSpPr>
        <p:spPr>
          <a:xfrm>
            <a:off x="658368" y="6391656"/>
            <a:ext cx="7104888" cy="155448"/>
          </a:xfrm>
          <a:prstGeom prst="rect">
            <a:avLst/>
          </a:prstGeom>
          <a:noFill/>
        </p:spPr>
        <p:txBody>
          <a:bodyPr wrap="square" anchor="ctr"/>
          <a:lstStyle/>
          <a:p>
            <a:pPr marL="0" indent="0" algn="l">
              <a:buNone/>
            </a:pPr>
            <a:r>
              <a:rPr sz="700">
                <a:solidFill>
                  <a:srgbClr val="FFFFFF"/>
                </a:solidFill>
                <a:latin typeface="Gartner Sans"/>
                <a:ea typeface="Gartner Sans"/>
                <a:cs typeface="Gartner Sans"/>
              </a:rPr>
              <a:t>Based on Gartner research. Stakeholder and challenges content is from Gartner's AskGartner tool; check it against www.gartner.com.</a:t>
            </a:r>
            <a:endParaRPr sz="700"/>
          </a:p>
        </p:txBody>
      </p:sp>
      <p:pic>
        <p:nvPicPr>
          <p:cNvPr id="9" name="Image 0"/>
          <p:cNvPicPr>
            <a:picLocks noChangeAspect="1"/>
          </p:cNvPicPr>
          <p:nvPr/>
        </p:nvPicPr>
        <p:blipFill>
          <a:blip r:embed="rId2"/>
          <a:stretch>
            <a:fillRect/>
          </a:stretch>
        </p:blipFill>
        <p:spPr>
          <a:xfrm>
            <a:off x="10451592" y="6236208"/>
            <a:ext cx="1362456" cy="3108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hyperlink" Target="https://www.gartner.com/document-reader/document/6854166?ref=askgartner-pp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gartner.com/document-reader/document/7067198?ref=askgartner-pp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gartner.com/document-reader/document/6623702?ref=askgartner-pp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gartner.com/document-reader/document/7551073?ref=askgartner-ppt" TargetMode="External"/><Relationship Id="rId3" Type="http://schemas.openxmlformats.org/officeDocument/2006/relationships/hyperlink" Target="https://www.gartner.com/document-reader/document/6623702?ref=askgartner-pp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g"/><Relationship Id="rId3" Type="http://schemas.openxmlformats.org/officeDocument/2006/relationships/hyperlink" Target="https://www.gartner.com/document-reader/document/7624029?ref=askgartner-ppt"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gartner.com/document-reader/document/6593502?ref=askgartner-ppt" TargetMode="External"/><Relationship Id="rId3" Type="http://schemas.openxmlformats.org/officeDocument/2006/relationships/hyperlink" Target="https://www.gartner.com/document-reader/document/6655834?ref=askgartner-pp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gartner.com/document-reader/document/6854166?ref=askgartner-pp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3.xml"/><Relationship Id="rId4" Type="http://schemas.openxmlformats.org/officeDocument/2006/relationships/image" Target="../media/image12.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596A02B-A554-4E9A-BECF-F9829E839F8D}"/>
              </a:ext>
            </a:extLst>
          </p:cNvPr>
          <p:cNvSpPr>
            <a:spLocks noGrp="1"/>
          </p:cNvSpPr>
          <p:nvPr/>
        </p:nvSpPr>
        <p:spPr>
          <a:xfrm>
            <a:off x="1856232" y="2240280"/>
            <a:ext cx="6848856" cy="2002536"/>
          </a:xfrm>
          <a:prstGeom prst="rect">
            <a:avLst/>
          </a:prstGeom>
          <a:noFill/>
        </p:spPr>
        <p:txBody>
          <a:bodyPr wrap="square" anchor="ctr">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3600" b="0" i="0" u="none" strike="noStrike" kern="1200" cap="none" spc="0" normalizeH="0" baseline="0" noProof="0">
                <a:ln>
                  <a:noFill/>
                </a:ln>
                <a:solidFill>
                  <a:srgbClr val="FFFFFF"/>
                </a:solidFill>
                <a:effectLst/>
                <a:uLnTx/>
                <a:uFillTx/>
                <a:latin typeface="Gartner Sans Semibold"/>
                <a:ea typeface="Gartner Sans Semibold"/>
                <a:cs typeface="Gartner Sans Semibold"/>
              </a:rPr>
              <a:t>AI in software delivery workshop</a:t>
            </a:r>
            <a:endParaRPr kumimoji="0" sz="3600" b="0" i="0" u="none" strike="noStrike" kern="1200" cap="none" spc="0" normalizeH="0" baseline="0" noProof="0">
              <a:ln>
                <a:noFill/>
              </a:ln>
              <a:solidFill>
                <a:prstClr val="black"/>
              </a:solidFill>
              <a:effectLst/>
              <a:uLnTx/>
              <a:uFillTx/>
              <a:latin typeface="Calibri"/>
              <a:cs typeface="Calibri"/>
            </a:endParaRPr>
          </a:p>
        </p:txBody>
      </p:sp>
      <p:sp>
        <p:nvSpPr>
          <p:cNvPr id="3" name="Text 1">
            <a:extLst>
              <a:ext uri="{FF2B5EF4-FFF2-40B4-BE49-F238E27FC236}">
                <a16:creationId xmlns:a16="http://schemas.microsoft.com/office/drawing/2014/main" id="{12D94739-EB8C-4D89-9D41-BB0B525BD7BE}"/>
              </a:ext>
            </a:extLst>
          </p:cNvPr>
          <p:cNvSpPr>
            <a:spLocks noGrp="1"/>
          </p:cNvSpPr>
          <p:nvPr/>
        </p:nvSpPr>
        <p:spPr>
          <a:xfrm>
            <a:off x="1856232" y="4471416"/>
            <a:ext cx="6848856" cy="548640"/>
          </a:xfrm>
          <a:prstGeom prst="rect">
            <a:avLst/>
          </a:prstGeom>
          <a:noFill/>
        </p:spPr>
        <p:txBody>
          <a:bodyPr wrap="square" anchor="t">
            <a:normAutofit fontScale="93750"/>
          </a:bodyPr>
          <a:lstStyle/>
          <a:p>
            <a:pPr marL="0" marR="0" lvl="0" indent="0" algn="l" defTabSz="914400" eaLnBrk="1" fontAlgn="auto" latinLnBrk="0" hangingPunct="1">
              <a:lnSpc>
                <a:spcPct val="100000"/>
              </a:lnSpc>
              <a:spcBef>
                <a:spcPts val="0"/>
              </a:spcBef>
              <a:spcAft>
                <a:spcPts val="0"/>
              </a:spcAft>
              <a:buClrTx/>
              <a:buSzTx/>
              <a:buFontTx/>
              <a:buNone/>
              <a:tabLst/>
              <a:defRPr sz="1600">
                <a:solidFill>
                  <a:srgbClr val="FFFFFF"/>
                </a:solidFill>
                <a:latin typeface="Gartner Sans"/>
                <a:ea typeface="Gartner Sans"/>
                <a:cs typeface="Gartner Sans"/>
              </a:defRPr>
            </a:pPr>
            <a:r>
              <a:rPr kumimoji="0" sz="1600" b="0" i="0" u="none" strike="noStrike" kern="1200" cap="none" spc="0" normalizeH="0" baseline="0" noProof="0">
                <a:ln>
                  <a:noFill/>
                </a:ln>
                <a:solidFill>
                  <a:srgbClr val="FFFFFF"/>
                </a:solidFill>
                <a:effectLst/>
                <a:uLnTx/>
                <a:uFillTx/>
                <a:latin typeface="Gartner Sans"/>
                <a:ea typeface="Gartner Sans"/>
                <a:cs typeface="Gartner Sans"/>
              </a:rPr>
              <a:t>What Gartner sees, and what it means in your context</a:t>
            </a:r>
            <a:endParaRPr kumimoji="0" sz="1600" b="0" i="0" u="none" strike="noStrike" kern="1200" cap="none" spc="0" normalizeH="0" baseline="0" noProof="0">
              <a:ln>
                <a:noFill/>
              </a:ln>
              <a:solidFill>
                <a:srgbClr val="FFFFFF"/>
              </a:solidFill>
              <a:effectLst/>
              <a:uLnTx/>
              <a:uFillTx/>
              <a:latin typeface="Gartner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title"/>
          <p:cNvSpPr txBox="1"/>
          <p:nvPr/>
        </p:nvSpPr>
        <p:spPr>
          <a:xfrm>
            <a:off x="1856231" y="2194560"/>
            <a:ext cx="6309360" cy="1463040"/>
          </a:xfrm>
          <a:prstGeom prst="rect">
            <a:avLst/>
          </a:prstGeom>
          <a:noFill/>
        </p:spPr>
        <p:txBody>
          <a:bodyPr wrap="square" lIns="0" tIns="0" rIns="0" bIns="0" anchor="b">
            <a:spAutoFit/>
          </a:bodyPr>
          <a:lstStyle/>
          <a:p>
            <a:pPr algn="l"/>
            <a:r>
              <a:rPr sz="2800" b="0">
                <a:solidFill>
                  <a:srgbClr val="FFFFFF"/>
                </a:solidFill>
                <a:latin typeface="Gartner Sans"/>
                <a:ea typeface="Gartner Sans"/>
                <a:cs typeface="Gartner Sans"/>
              </a:rPr>
              <a:t>Why we are here</a:t>
            </a:r>
          </a:p>
        </p:txBody>
      </p:sp>
      <p:sp>
        <p:nvSpPr>
          <p:cNvPr id="3" name="Section subtitle"/>
          <p:cNvSpPr txBox="1"/>
          <p:nvPr/>
        </p:nvSpPr>
        <p:spPr>
          <a:xfrm>
            <a:off x="1856231" y="3794760"/>
            <a:ext cx="6309360" cy="685800"/>
          </a:xfrm>
          <a:prstGeom prst="rect">
            <a:avLst/>
          </a:prstGeom>
          <a:noFill/>
        </p:spPr>
        <p:txBody>
          <a:bodyPr wrap="square" lIns="0" tIns="0" rIns="0" bIns="0" anchor="t">
            <a:spAutoFit/>
          </a:bodyPr>
          <a:lstStyle/>
          <a:p>
            <a:pPr algn="l"/>
            <a:r>
              <a:rPr sz="1800" b="0">
                <a:solidFill>
                  <a:srgbClr val="FFFFFF"/>
                </a:solidFill>
                <a:latin typeface="Gartner Sans"/>
                <a:ea typeface="Gartner Sans"/>
                <a:cs typeface="Gartner Sans"/>
              </a:rPr>
              <a:t>Improving software delivery with AI and flow principles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Better delivery needs AI and flow principles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3</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The starting point</a:t>
            </a:r>
          </a:p>
        </p:txBody>
      </p:sp>
      <p:sp>
        <p:nvSpPr>
          <p:cNvPr id="12" name="Column 1 heading"/>
          <p:cNvSpPr/>
          <p:nvPr/>
        </p:nvSpPr>
        <p:spPr>
          <a:xfrm>
            <a:off x="552297" y="1828800"/>
            <a:ext cx="3532632" cy="50292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Gartner Sans"/>
                <a:ea typeface="Gartner Sans"/>
                <a:cs typeface="Gartner Sans"/>
              </a:rPr>
              <a:t>1  The consensus</a:t>
            </a:r>
          </a:p>
        </p:txBody>
      </p:sp>
      <p:sp>
        <p:nvSpPr>
          <p:cNvPr id="13" name="Column 1 items"/>
          <p:cNvSpPr/>
          <p:nvPr/>
        </p:nvSpPr>
        <p:spPr>
          <a:xfrm>
            <a:off x="552297" y="2331720"/>
            <a:ext cx="3532632" cy="338328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There is agreement that the software delivery processes need to improve.</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The aim is better delivery from request to support, not only faster tasks.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These two days turn that agreement into specific changes.</a:t>
            </a:r>
          </a:p>
        </p:txBody>
      </p:sp>
      <p:sp>
        <p:nvSpPr>
          <p:cNvPr id="14" name="Column 2 heading"/>
          <p:cNvSpPr/>
          <p:nvPr/>
        </p:nvSpPr>
        <p:spPr>
          <a:xfrm>
            <a:off x="4359249" y="1828800"/>
            <a:ext cx="3532632" cy="50292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Gartner Sans"/>
                <a:ea typeface="Gartner Sans"/>
                <a:cs typeface="Gartner Sans"/>
              </a:rPr>
              <a:t>2  AI alone is not enough</a:t>
            </a:r>
          </a:p>
        </p:txBody>
      </p:sp>
      <p:sp>
        <p:nvSpPr>
          <p:cNvPr id="15" name="Column 2 items"/>
          <p:cNvSpPr/>
          <p:nvPr/>
        </p:nvSpPr>
        <p:spPr>
          <a:xfrm>
            <a:off x="4359249" y="2331720"/>
            <a:ext cx="3532632" cy="338328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AI speeds up tasks, but work still waits between roles and sprints.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Faster tasks do not automatically give faster end-to-end delivery.</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When roles and workflows stay the same, the gains stall at the task level.</a:t>
            </a:r>
          </a:p>
        </p:txBody>
      </p:sp>
      <p:sp>
        <p:nvSpPr>
          <p:cNvPr id="16" name="Column 3 heading"/>
          <p:cNvSpPr/>
          <p:nvPr/>
        </p:nvSpPr>
        <p:spPr>
          <a:xfrm>
            <a:off x="8166201" y="1828800"/>
            <a:ext cx="3532632" cy="50292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Gartner Sans"/>
                <a:ea typeface="Gartner Sans"/>
                <a:cs typeface="Gartner Sans"/>
              </a:rPr>
              <a:t>3  Flow principles as well</a:t>
            </a:r>
          </a:p>
        </p:txBody>
      </p:sp>
      <p:sp>
        <p:nvSpPr>
          <p:cNvPr id="17" name="Column 3 items"/>
          <p:cNvSpPr/>
          <p:nvPr/>
        </p:nvSpPr>
        <p:spPr>
          <a:xfrm>
            <a:off x="8166201" y="2331720"/>
            <a:ext cx="3532632" cy="338328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Flow principles improve how work moves, waits and is handed over.</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AI improves how each piece of work is done.</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Used together, they improve the whole delivery process.</a:t>
            </a:r>
          </a:p>
        </p:txBody>
      </p:sp>
      <p:sp>
        <p:nvSpPr>
          <p:cNvPr id="18"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 for column 2: G00857393. Section 3 covers these points in detail</a:t>
            </a:r>
          </a:p>
        </p:txBody>
      </p:sp>
    </p:spTree>
    <p:extLst>
      <p:ext uri="{BB962C8B-B14F-4D97-AF65-F5344CB8AC3E}">
        <p14:creationId xmlns:p14="http://schemas.microsoft.com/office/powerpoint/2010/main" val="3292002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What we will do and what you will take away</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4</a:t>
            </a:r>
          </a:p>
        </p:txBody>
      </p:sp>
      <p:sp>
        <p:nvSpPr>
          <p:cNvPr id="10" name="Card heading"/>
          <p:cNvSpPr/>
          <p:nvPr/>
        </p:nvSpPr>
        <p:spPr>
          <a:xfrm>
            <a:off x="552297" y="1325880"/>
            <a:ext cx="5074920" cy="502920"/>
          </a:xfrm>
          <a:prstGeom prst="rect">
            <a:avLst/>
          </a:prstGeom>
          <a:solidFill>
            <a:srgbClr val="F0F7FD"/>
          </a:solidFill>
          <a:ln w="12700">
            <a:solidFill>
              <a:srgbClr val="D0D7DF"/>
            </a:solidFill>
          </a:ln>
        </p:spPr>
        <p:txBody>
          <a:bodyPr wrap="square" lIns="228600" tIns="0" rIns="228600" bIns="0" rtlCol="0" anchor="ctr"/>
          <a:lstStyle/>
          <a:p>
            <a:pPr algn="l"/>
            <a:r>
              <a:rPr sz="1800" b="1">
                <a:solidFill>
                  <a:srgbClr val="002869"/>
                </a:solidFill>
                <a:latin typeface="Gartner Sans"/>
                <a:ea typeface="Gartner Sans"/>
                <a:cs typeface="Gartner Sans"/>
              </a:rPr>
              <a:t>Over the two days</a:t>
            </a:r>
          </a:p>
        </p:txBody>
      </p:sp>
      <p:sp>
        <p:nvSpPr>
          <p:cNvPr id="11" name="Card body"/>
          <p:cNvSpPr/>
          <p:nvPr/>
        </p:nvSpPr>
        <p:spPr>
          <a:xfrm>
            <a:off x="552297" y="1828800"/>
            <a:ext cx="5074920" cy="2788920"/>
          </a:xfrm>
          <a:prstGeom prst="rect">
            <a:avLst/>
          </a:prstGeom>
          <a:solidFill>
            <a:srgbClr val="FFFFFF"/>
          </a:solidFill>
          <a:ln w="12700">
            <a:solidFill>
              <a:srgbClr val="D0D7DF"/>
            </a:solidFill>
          </a:ln>
        </p:spPr>
        <p:txBody>
          <a:bodyPr wrap="square" lIns="274320" tIns="274320" rIns="228600" bIns="137160" rtlCol="0" anchor="t"/>
          <a:lstStyle/>
          <a:p>
            <a:pPr marL="171450" indent="-171450" algn="l">
              <a:buFont typeface="Arial"/>
              <a:buChar char="•"/>
            </a:pPr>
            <a:r>
              <a:rPr sz="1550" b="0">
                <a:solidFill>
                  <a:srgbClr val="152230"/>
                </a:solidFill>
                <a:latin typeface="Gartner Sans"/>
                <a:ea typeface="Gartner Sans"/>
                <a:cs typeface="Gartner Sans"/>
              </a:rPr>
              <a:t>See what Gartner research says about AI and delivery flow.</a:t>
            </a:r>
          </a:p>
          <a:p>
            <a:pPr marL="171450" indent="-171450" algn="l">
              <a:spcBef>
                <a:spcPts val="1000"/>
              </a:spcBef>
              <a:buFont typeface="Arial"/>
              <a:buChar char="•"/>
            </a:pPr>
            <a:r>
              <a:rPr sz="1550" b="0">
                <a:solidFill>
                  <a:srgbClr val="152230"/>
                </a:solidFill>
                <a:latin typeface="Gartner Sans"/>
                <a:ea typeface="Gartner Sans"/>
                <a:cs typeface="Gartner Sans"/>
              </a:rPr>
              <a:t>Put it in your own context, in teams, using your own projects and services.</a:t>
            </a:r>
          </a:p>
          <a:p>
            <a:pPr marL="171450" indent="-171450" algn="l">
              <a:spcBef>
                <a:spcPts val="1000"/>
              </a:spcBef>
              <a:buFont typeface="Arial"/>
              <a:buChar char="•"/>
            </a:pPr>
            <a:r>
              <a:rPr sz="1550" b="0">
                <a:solidFill>
                  <a:srgbClr val="152230"/>
                </a:solidFill>
                <a:latin typeface="Gartner Sans"/>
                <a:ea typeface="Gartner Sans"/>
                <a:cs typeface="Gartner Sans"/>
              </a:rPr>
              <a:t>Agree where AI and flow principles would help, and what stands in the way.</a:t>
            </a:r>
          </a:p>
        </p:txBody>
      </p:sp>
      <p:sp>
        <p:nvSpPr>
          <p:cNvPr id="12" name="Card heading"/>
          <p:cNvSpPr/>
          <p:nvPr/>
        </p:nvSpPr>
        <p:spPr>
          <a:xfrm>
            <a:off x="6623913" y="1325880"/>
            <a:ext cx="5074920" cy="502920"/>
          </a:xfrm>
          <a:prstGeom prst="rect">
            <a:avLst/>
          </a:prstGeom>
          <a:solidFill>
            <a:srgbClr val="002869"/>
          </a:solidFill>
          <a:ln w="12700">
            <a:solidFill>
              <a:srgbClr val="002869"/>
            </a:solidFill>
          </a:ln>
        </p:spPr>
        <p:txBody>
          <a:bodyPr wrap="square" lIns="228600" tIns="0" rIns="228600" bIns="0" rtlCol="0" anchor="ctr"/>
          <a:lstStyle/>
          <a:p>
            <a:pPr algn="l"/>
            <a:r>
              <a:rPr sz="1800" b="1">
                <a:solidFill>
                  <a:srgbClr val="FFFFFF"/>
                </a:solidFill>
                <a:latin typeface="Gartner Sans"/>
                <a:ea typeface="Gartner Sans"/>
                <a:cs typeface="Gartner Sans"/>
              </a:rPr>
              <a:t>What each team takes away</a:t>
            </a:r>
          </a:p>
        </p:txBody>
      </p:sp>
      <p:sp>
        <p:nvSpPr>
          <p:cNvPr id="13" name="Card body"/>
          <p:cNvSpPr/>
          <p:nvPr/>
        </p:nvSpPr>
        <p:spPr>
          <a:xfrm>
            <a:off x="6623913" y="1828800"/>
            <a:ext cx="5074920" cy="2788920"/>
          </a:xfrm>
          <a:prstGeom prst="rect">
            <a:avLst/>
          </a:prstGeom>
          <a:solidFill>
            <a:srgbClr val="FFFFFF"/>
          </a:solidFill>
          <a:ln w="12700">
            <a:solidFill>
              <a:srgbClr val="002869"/>
            </a:solidFill>
          </a:ln>
        </p:spPr>
        <p:txBody>
          <a:bodyPr wrap="square" lIns="274320" tIns="274320" rIns="228600" bIns="137160" rtlCol="0" anchor="t"/>
          <a:lstStyle/>
          <a:p>
            <a:pPr marL="171450" indent="-171450" algn="l">
              <a:buFont typeface="Arial"/>
              <a:buChar char="•"/>
            </a:pPr>
            <a:r>
              <a:rPr sz="1550" b="0">
                <a:solidFill>
                  <a:srgbClr val="152230"/>
                </a:solidFill>
                <a:latin typeface="Gartner Sans"/>
                <a:ea typeface="Gartner Sans"/>
                <a:cs typeface="Gartner Sans"/>
              </a:rPr>
              <a:t>Your key stakeholders, their goals and success criteria.</a:t>
            </a:r>
          </a:p>
          <a:p>
            <a:pPr marL="171450" indent="-171450" algn="l">
              <a:spcBef>
                <a:spcPts val="1000"/>
              </a:spcBef>
              <a:buFont typeface="Arial"/>
              <a:buChar char="•"/>
            </a:pPr>
            <a:r>
              <a:rPr sz="1550" b="0">
                <a:solidFill>
                  <a:srgbClr val="152230"/>
                </a:solidFill>
                <a:latin typeface="Gartner Sans"/>
                <a:ea typeface="Gartner Sans"/>
                <a:cs typeface="Gartner Sans"/>
              </a:rPr>
              <a:t>Your top three delivery challenges.</a:t>
            </a:r>
          </a:p>
          <a:p>
            <a:pPr marL="171450" indent="-171450" algn="l">
              <a:spcBef>
                <a:spcPts val="1000"/>
              </a:spcBef>
              <a:buFont typeface="Arial"/>
              <a:buChar char="•"/>
            </a:pPr>
            <a:r>
              <a:rPr sz="1550" b="0">
                <a:solidFill>
                  <a:srgbClr val="152230"/>
                </a:solidFill>
                <a:latin typeface="Gartner Sans"/>
                <a:ea typeface="Gartner Sans"/>
                <a:cs typeface="Gartner Sans"/>
              </a:rPr>
              <a:t>Drawings of your current SDLC and your future SDLC.</a:t>
            </a:r>
          </a:p>
          <a:p>
            <a:pPr marL="171450" indent="-171450" algn="l">
              <a:spcBef>
                <a:spcPts val="1000"/>
              </a:spcBef>
              <a:buFont typeface="Arial"/>
              <a:buChar char="•"/>
            </a:pPr>
            <a:r>
              <a:rPr sz="1550" b="0">
                <a:solidFill>
                  <a:srgbClr val="152230"/>
                </a:solidFill>
                <a:latin typeface="Gartner Sans"/>
                <a:ea typeface="Gartner Sans"/>
                <a:cs typeface="Gartner Sans"/>
              </a:rPr>
              <a:t>One AI agent design, with a small test.</a:t>
            </a:r>
          </a:p>
          <a:p>
            <a:pPr marL="171450" indent="-171450" algn="l">
              <a:spcBef>
                <a:spcPts val="1000"/>
              </a:spcBef>
              <a:buFont typeface="Arial"/>
              <a:buChar char="•"/>
            </a:pPr>
            <a:r>
              <a:rPr sz="1550" b="0">
                <a:solidFill>
                  <a:srgbClr val="152230"/>
                </a:solidFill>
                <a:latin typeface="Gartner Sans"/>
                <a:ea typeface="Gartner Sans"/>
                <a:cs typeface="Gartner Sans"/>
              </a:rPr>
              <a:t>Your barriers to adoption, with mitigation steps.</a:t>
            </a:r>
          </a:p>
        </p:txBody>
      </p:sp>
      <p:sp>
        <p:nvSpPr>
          <p:cNvPr id="14" name="Arrow"/>
          <p:cNvSpPr/>
          <p:nvPr/>
        </p:nvSpPr>
        <p:spPr>
          <a:xfrm>
            <a:off x="5810097" y="2743200"/>
            <a:ext cx="630935" cy="548640"/>
          </a:xfrm>
          <a:prstGeom prst="rightArrow">
            <a:avLst/>
          </a:prstGeom>
          <a:solidFill>
            <a:srgbClr val="002869"/>
          </a:solidFill>
          <a:ln>
            <a:noFill/>
          </a:ln>
        </p:spPr>
        <p:txBody>
          <a:bodyPr rtlCol="0" anchor="ctr"/>
          <a:lstStyle/>
          <a:p>
            <a:pPr algn="ctr"/>
            <a:endParaRPr/>
          </a:p>
        </p:txBody>
      </p:sp>
      <p:sp>
        <p:nvSpPr>
          <p:cNvPr id="15" name="Note"/>
          <p:cNvSpPr/>
          <p:nvPr/>
        </p:nvSpPr>
        <p:spPr>
          <a:xfrm>
            <a:off x="552297" y="4892040"/>
            <a:ext cx="11146536" cy="68580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The aim: </a:t>
            </a:r>
            <a:r>
              <a:rPr sz="1800" b="0">
                <a:solidFill>
                  <a:srgbClr val="152230"/>
                </a:solidFill>
                <a:latin typeface="Gartner Sans"/>
                <a:ea typeface="Gartner Sans"/>
                <a:cs typeface="Gartner Sans"/>
              </a:rPr>
              <a:t>a future SDLC improved by AI and flow principles, and steps you can act 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Agenda: five sections over two days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5</a:t>
            </a:r>
          </a:p>
        </p:txBody>
      </p:sp>
      <p:graphicFrame>
        <p:nvGraphicFramePr>
          <p:cNvPr id="10" name="Table"/>
          <p:cNvGraphicFramePr>
            <a:graphicFrameLocks noGrp="1"/>
          </p:cNvGraphicFramePr>
          <p:nvPr/>
        </p:nvGraphicFramePr>
        <p:xfrm>
          <a:off x="552297" y="1325880"/>
          <a:ext cx="11146535" cy="3858768"/>
        </p:xfrm>
        <a:graphic>
          <a:graphicData uri="http://schemas.openxmlformats.org/drawingml/2006/table">
            <a:tbl>
              <a:tblPr>
                <a:tableStyleId>{2D5ABB26-0587-4C30-8999-92F81FD0307C}</a:tableStyleId>
              </a:tblPr>
              <a:tblGrid>
                <a:gridCol w="1064215">
                  <a:extLst>
                    <a:ext uri="{9D8B030D-6E8A-4147-A177-3AD203B41FA5}">
                      <a16:colId xmlns:a16="http://schemas.microsoft.com/office/drawing/2014/main" val="20000"/>
                    </a:ext>
                  </a:extLst>
                </a:gridCol>
                <a:gridCol w="2678908">
                  <a:extLst>
                    <a:ext uri="{9D8B030D-6E8A-4147-A177-3AD203B41FA5}">
                      <a16:colId xmlns:a16="http://schemas.microsoft.com/office/drawing/2014/main" val="20001"/>
                    </a:ext>
                  </a:extLst>
                </a:gridCol>
                <a:gridCol w="3772085">
                  <a:extLst>
                    <a:ext uri="{9D8B030D-6E8A-4147-A177-3AD203B41FA5}">
                      <a16:colId xmlns:a16="http://schemas.microsoft.com/office/drawing/2014/main" val="20002"/>
                    </a:ext>
                  </a:extLst>
                </a:gridCol>
                <a:gridCol w="3631327">
                  <a:extLst>
                    <a:ext uri="{9D8B030D-6E8A-4147-A177-3AD203B41FA5}">
                      <a16:colId xmlns:a16="http://schemas.microsoft.com/office/drawing/2014/main" val="20003"/>
                    </a:ext>
                  </a:extLst>
                </a:gridCol>
              </a:tblGrid>
              <a:tr h="457200">
                <a:tc>
                  <a:txBody>
                    <a:bodyPr/>
                    <a:lstStyle/>
                    <a:p>
                      <a:pPr algn="l"/>
                      <a:r>
                        <a:rPr sz="1500" b="1">
                          <a:solidFill>
                            <a:srgbClr val="FFFFFF"/>
                          </a:solidFill>
                          <a:latin typeface="Gartner Sans"/>
                          <a:ea typeface="Gartner Sans"/>
                          <a:cs typeface="Gartner Sans"/>
                        </a:rPr>
                        <a:t>Day</a:t>
                      </a:r>
                    </a:p>
                  </a:txBody>
                  <a:tcPr marL="137160" marR="137160" anchor="ctr">
                    <a:solidFill>
                      <a:srgbClr val="002869"/>
                    </a:solidFill>
                  </a:tcPr>
                </a:tc>
                <a:tc>
                  <a:txBody>
                    <a:bodyPr/>
                    <a:lstStyle/>
                    <a:p>
                      <a:pPr algn="l"/>
                      <a:r>
                        <a:rPr sz="1500" b="1">
                          <a:solidFill>
                            <a:srgbClr val="FFFFFF"/>
                          </a:solidFill>
                          <a:latin typeface="Gartner Sans"/>
                          <a:ea typeface="Gartner Sans"/>
                          <a:cs typeface="Gartner Sans"/>
                        </a:rPr>
                        <a:t>Section</a:t>
                      </a:r>
                    </a:p>
                  </a:txBody>
                  <a:tcPr marL="137160" marR="137160" anchor="ctr">
                    <a:solidFill>
                      <a:srgbClr val="002869"/>
                    </a:solidFill>
                  </a:tcPr>
                </a:tc>
                <a:tc>
                  <a:txBody>
                    <a:bodyPr/>
                    <a:lstStyle/>
                    <a:p>
                      <a:pPr algn="l"/>
                      <a:r>
                        <a:rPr sz="1500" b="1">
                          <a:solidFill>
                            <a:srgbClr val="FFFFFF"/>
                          </a:solidFill>
                          <a:latin typeface="Gartner Sans"/>
                          <a:ea typeface="Gartner Sans"/>
                          <a:cs typeface="Gartner Sans"/>
                        </a:rPr>
                        <a:t>What Gartner sees</a:t>
                      </a:r>
                    </a:p>
                  </a:txBody>
                  <a:tcPr marL="137160" marR="137160" anchor="ctr">
                    <a:solidFill>
                      <a:srgbClr val="002869"/>
                    </a:solidFill>
                  </a:tcPr>
                </a:tc>
                <a:tc>
                  <a:txBody>
                    <a:bodyPr/>
                    <a:lstStyle/>
                    <a:p>
                      <a:pPr algn="l"/>
                      <a:r>
                        <a:rPr sz="1500" b="1">
                          <a:solidFill>
                            <a:srgbClr val="FFFFFF"/>
                          </a:solidFill>
                          <a:latin typeface="Gartner Sans"/>
                          <a:ea typeface="Gartner Sans"/>
                          <a:cs typeface="Gartner Sans"/>
                        </a:rPr>
                        <a:t>In your context</a:t>
                      </a:r>
                    </a:p>
                  </a:txBody>
                  <a:tcPr marL="137160" marR="137160" anchor="ctr">
                    <a:solidFill>
                      <a:srgbClr val="002869"/>
                    </a:solidFill>
                  </a:tcPr>
                </a:tc>
                <a:extLst>
                  <a:ext uri="{0D108BD9-81ED-4DB2-BD59-A6C34878D82A}">
                    <a16:rowId xmlns:a16="http://schemas.microsoft.com/office/drawing/2014/main" val="10000"/>
                  </a:ext>
                </a:extLst>
              </a:tr>
              <a:tr h="566928">
                <a:tc>
                  <a:txBody>
                    <a:bodyPr/>
                    <a:lstStyle/>
                    <a:p>
                      <a:pPr algn="l"/>
                      <a:r>
                        <a:rPr sz="1500" b="1">
                          <a:solidFill>
                            <a:srgbClr val="152230"/>
                          </a:solidFill>
                          <a:latin typeface="Gartner Sans"/>
                          <a:ea typeface="Gartner Sans"/>
                          <a:cs typeface="Gartner Sans"/>
                        </a:rPr>
                        <a:t>Day 1</a:t>
                      </a:r>
                    </a:p>
                  </a:txBody>
                  <a:tcPr marL="137160" marR="137160" anchor="ctr">
                    <a:lnB w="9525">
                      <a:solidFill>
                        <a:srgbClr val="D0D7DF"/>
                      </a:solidFill>
                    </a:lnB>
                    <a:solidFill>
                      <a:srgbClr val="F0F7FD"/>
                    </a:solidFill>
                  </a:tcPr>
                </a:tc>
                <a:tc>
                  <a:txBody>
                    <a:bodyPr/>
                    <a:lstStyle/>
                    <a:p>
                      <a:pPr algn="l"/>
                      <a:r>
                        <a:rPr sz="1500" b="1">
                          <a:solidFill>
                            <a:srgbClr val="152230"/>
                          </a:solidFill>
                          <a:latin typeface="Gartner Sans"/>
                          <a:ea typeface="Gartner Sans"/>
                          <a:cs typeface="Gartner Sans"/>
                        </a:rPr>
                        <a:t>Why we are here</a:t>
                      </a:r>
                    </a:p>
                  </a:txBody>
                  <a:tcPr marL="137160" marR="137160" anchor="ctr">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Why delivery needs to improve, with AI and flow principles</a:t>
                      </a:r>
                    </a:p>
                  </a:txBody>
                  <a:tcPr marL="137160" marR="137160" anchor="ctr">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What we will produce (30 minutes)</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566928">
                <a:tc>
                  <a:txBody>
                    <a:bodyPr/>
                    <a:lstStyle/>
                    <a:p>
                      <a:pPr algn="l"/>
                      <a:r>
                        <a:rPr sz="1500" b="1">
                          <a:solidFill>
                            <a:srgbClr val="152230"/>
                          </a:solidFill>
                          <a:latin typeface="Gartner Sans"/>
                          <a:ea typeface="Gartner Sans"/>
                          <a:cs typeface="Gartner Sans"/>
                        </a:rPr>
                        <a:t>Day 1</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1">
                          <a:solidFill>
                            <a:srgbClr val="152230"/>
                          </a:solidFill>
                          <a:latin typeface="Gartner Sans"/>
                          <a:ea typeface="Gartner Sans"/>
                          <a:cs typeface="Gartner Sans"/>
                        </a:rPr>
                        <a:t>1  Stakeholders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Who takes part in delivery, what goes wrong in engagement and what to do</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Your stakeholders, their goals and success criteria (55 minutes)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566928">
                <a:tc>
                  <a:txBody>
                    <a:bodyPr/>
                    <a:lstStyle/>
                    <a:p>
                      <a:pPr algn="l"/>
                      <a:r>
                        <a:rPr sz="1500" b="1">
                          <a:solidFill>
                            <a:srgbClr val="152230"/>
                          </a:solidFill>
                          <a:latin typeface="Gartner Sans"/>
                          <a:ea typeface="Gartner Sans"/>
                          <a:cs typeface="Gartner Sans"/>
                        </a:rPr>
                        <a:t>Day 1</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1">
                          <a:solidFill>
                            <a:srgbClr val="152230"/>
                          </a:solidFill>
                          <a:latin typeface="Gartner Sans"/>
                          <a:ea typeface="Gartner Sans"/>
                          <a:cs typeface="Gartner Sans"/>
                        </a:rPr>
                        <a:t>2  Delivery challenges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Eighteen common challenges in project management, requirements and QA</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Brainstorm and prioritise your own challenges (60 minutes)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3"/>
                  </a:ext>
                </a:extLst>
              </a:tr>
              <a:tr h="566928">
                <a:tc>
                  <a:txBody>
                    <a:bodyPr/>
                    <a:lstStyle/>
                    <a:p>
                      <a:pPr algn="l"/>
                      <a:r>
                        <a:rPr sz="1500" b="1">
                          <a:solidFill>
                            <a:srgbClr val="152230"/>
                          </a:solidFill>
                          <a:latin typeface="Gartner Sans"/>
                          <a:ea typeface="Gartner Sans"/>
                          <a:cs typeface="Gartner Sans"/>
                        </a:rPr>
                        <a:t>Days 1–2</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1">
                          <a:solidFill>
                            <a:srgbClr val="152230"/>
                          </a:solidFill>
                          <a:latin typeface="Gartner Sans"/>
                          <a:ea typeface="Gartner Sans"/>
                          <a:cs typeface="Gartner Sans"/>
                        </a:rPr>
                        <a:t>3  AI and the SDLC</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How AI changes the SDLC, and how to adopt it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From your current SDLC to your future SDLC (3 hours, across both days)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4"/>
                  </a:ext>
                </a:extLst>
              </a:tr>
              <a:tr h="566928">
                <a:tc>
                  <a:txBody>
                    <a:bodyPr/>
                    <a:lstStyle/>
                    <a:p>
                      <a:pPr algn="l"/>
                      <a:r>
                        <a:rPr sz="1500" b="1">
                          <a:solidFill>
                            <a:srgbClr val="152230"/>
                          </a:solidFill>
                          <a:latin typeface="Gartner Sans"/>
                          <a:ea typeface="Gartner Sans"/>
                          <a:cs typeface="Gartner Sans"/>
                        </a:rPr>
                        <a:t>Day 2</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1">
                          <a:solidFill>
                            <a:srgbClr val="152230"/>
                          </a:solidFill>
                          <a:latin typeface="Gartner Sans"/>
                          <a:ea typeface="Gartner Sans"/>
                          <a:cs typeface="Gartner Sans"/>
                        </a:rPr>
                        <a:t>4  Designing an AI agent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Seven design questions, with a worked example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Design one AI agent on the canvas (1 hour 50 minutes)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5"/>
                  </a:ext>
                </a:extLst>
              </a:tr>
              <a:tr h="566928">
                <a:tc>
                  <a:txBody>
                    <a:bodyPr/>
                    <a:lstStyle/>
                    <a:p>
                      <a:pPr algn="l"/>
                      <a:r>
                        <a:rPr sz="1500" b="1">
                          <a:solidFill>
                            <a:srgbClr val="152230"/>
                          </a:solidFill>
                          <a:latin typeface="Gartner Sans"/>
                          <a:ea typeface="Gartner Sans"/>
                          <a:cs typeface="Gartner Sans"/>
                        </a:rPr>
                        <a:t>Day 2</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1">
                          <a:solidFill>
                            <a:srgbClr val="152230"/>
                          </a:solidFill>
                          <a:latin typeface="Gartner Sans"/>
                          <a:ea typeface="Gartner Sans"/>
                          <a:cs typeface="Gartner Sans"/>
                        </a:rPr>
                        <a:t>5  Overcoming challenges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The barriers Gartner sees, and what helps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Your challenges and barriers, grouped, with mitigation steps (60 minutes)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6"/>
                  </a:ext>
                </a:extLst>
              </a:tr>
            </a:tbl>
          </a:graphicData>
        </a:graphic>
      </p:graphicFrame>
      <p:sp>
        <p:nvSpPr>
          <p:cNvPr id="11" name="Note"/>
          <p:cNvSpPr/>
          <p:nvPr/>
        </p:nvSpPr>
        <p:spPr>
          <a:xfrm>
            <a:off x="552297" y="5413248"/>
            <a:ext cx="11146536" cy="411480"/>
          </a:xfrm>
          <a:prstGeom prst="rect">
            <a:avLst/>
          </a:prstGeom>
          <a:solidFill>
            <a:srgbClr val="F0F7FD"/>
          </a:solidFill>
          <a:ln>
            <a:noFill/>
          </a:ln>
        </p:spPr>
        <p:txBody>
          <a:bodyPr wrap="square" lIns="228600" rIns="228600" rtlCol="0" anchor="ctr"/>
          <a:lstStyle/>
          <a:p>
            <a:pPr algn="l"/>
            <a:r>
              <a:rPr sz="1700" b="1">
                <a:solidFill>
                  <a:srgbClr val="002869"/>
                </a:solidFill>
                <a:latin typeface="Gartner Sans"/>
                <a:ea typeface="Gartner Sans"/>
                <a:cs typeface="Gartner Sans"/>
              </a:rPr>
              <a:t>Each section follows the same pattern: </a:t>
            </a:r>
            <a:r>
              <a:rPr sz="1700" b="0">
                <a:solidFill>
                  <a:srgbClr val="152230"/>
                </a:solidFill>
                <a:latin typeface="Gartner Sans"/>
                <a:ea typeface="Gartner Sans"/>
                <a:cs typeface="Gartner Sans"/>
              </a:rPr>
              <a:t>what Gartner sees, an exercise in your context, then a share-back.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Day 1 timings: 09:00 to 17:00</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6</a:t>
            </a:r>
          </a:p>
        </p:txBody>
      </p:sp>
      <p:graphicFrame>
        <p:nvGraphicFramePr>
          <p:cNvPr id="10" name="Table"/>
          <p:cNvGraphicFramePr>
            <a:graphicFrameLocks noGrp="1"/>
          </p:cNvGraphicFramePr>
          <p:nvPr/>
        </p:nvGraphicFramePr>
        <p:xfrm>
          <a:off x="552297" y="1325880"/>
          <a:ext cx="11146535" cy="4407408"/>
        </p:xfrm>
        <a:graphic>
          <a:graphicData uri="http://schemas.openxmlformats.org/drawingml/2006/table">
            <a:tbl>
              <a:tblPr>
                <a:tableStyleId>{2D5ABB26-0587-4C30-8999-92F81FD0307C}</a:tableStyleId>
              </a:tblPr>
              <a:tblGrid>
                <a:gridCol w="869433">
                  <a:extLst>
                    <a:ext uri="{9D8B030D-6E8A-4147-A177-3AD203B41FA5}">
                      <a16:colId xmlns:a16="http://schemas.microsoft.com/office/drawing/2014/main" val="20000"/>
                    </a:ext>
                  </a:extLst>
                </a:gridCol>
                <a:gridCol w="4228356">
                  <a:extLst>
                    <a:ext uri="{9D8B030D-6E8A-4147-A177-3AD203B41FA5}">
                      <a16:colId xmlns:a16="http://schemas.microsoft.com/office/drawing/2014/main" val="20001"/>
                    </a:ext>
                  </a:extLst>
                </a:gridCol>
                <a:gridCol w="5378909">
                  <a:extLst>
                    <a:ext uri="{9D8B030D-6E8A-4147-A177-3AD203B41FA5}">
                      <a16:colId xmlns:a16="http://schemas.microsoft.com/office/drawing/2014/main" val="20002"/>
                    </a:ext>
                  </a:extLst>
                </a:gridCol>
                <a:gridCol w="669837">
                  <a:extLst>
                    <a:ext uri="{9D8B030D-6E8A-4147-A177-3AD203B41FA5}">
                      <a16:colId xmlns:a16="http://schemas.microsoft.com/office/drawing/2014/main" val="20003"/>
                    </a:ext>
                  </a:extLst>
                </a:gridCol>
              </a:tblGrid>
              <a:tr h="365760">
                <a:tc>
                  <a:txBody>
                    <a:bodyPr/>
                    <a:lstStyle/>
                    <a:p>
                      <a:pPr algn="l"/>
                      <a:r>
                        <a:rPr sz="1600" b="1">
                          <a:solidFill>
                            <a:srgbClr val="FFFFFF"/>
                          </a:solidFill>
                          <a:latin typeface="Gartner Sans"/>
                          <a:ea typeface="Gartner Sans"/>
                          <a:cs typeface="Gartner Sans"/>
                        </a:rPr>
                        <a:t>Time</a:t>
                      </a:r>
                    </a:p>
                  </a:txBody>
                  <a:tcPr marL="137160" marR="137160" anchor="ctr">
                    <a:solidFill>
                      <a:srgbClr val="002869"/>
                    </a:solidFill>
                  </a:tcPr>
                </a:tc>
                <a:tc>
                  <a:txBody>
                    <a:bodyPr/>
                    <a:lstStyle/>
                    <a:p>
                      <a:pPr algn="l"/>
                      <a:r>
                        <a:rPr sz="1600" b="1">
                          <a:solidFill>
                            <a:srgbClr val="FFFFFF"/>
                          </a:solidFill>
                          <a:latin typeface="Gartner Sans"/>
                          <a:ea typeface="Gartner Sans"/>
                          <a:cs typeface="Gartner Sans"/>
                        </a:rPr>
                        <a:t>Session</a:t>
                      </a:r>
                    </a:p>
                  </a:txBody>
                  <a:tcPr marL="137160" marR="137160" anchor="ctr">
                    <a:solidFill>
                      <a:srgbClr val="002869"/>
                    </a:solidFill>
                  </a:tcPr>
                </a:tc>
                <a:tc>
                  <a:txBody>
                    <a:bodyPr/>
                    <a:lstStyle/>
                    <a:p>
                      <a:pPr algn="l"/>
                      <a:r>
                        <a:rPr sz="1600" b="1">
                          <a:solidFill>
                            <a:srgbClr val="FFFFFF"/>
                          </a:solidFill>
                          <a:latin typeface="Gartner Sans"/>
                          <a:ea typeface="Gartner Sans"/>
                          <a:cs typeface="Gartner Sans"/>
                        </a:rPr>
                        <a:t>What happens</a:t>
                      </a:r>
                    </a:p>
                  </a:txBody>
                  <a:tcPr marL="137160" marR="137160" anchor="ctr">
                    <a:solidFill>
                      <a:srgbClr val="002869"/>
                    </a:solidFill>
                  </a:tcPr>
                </a:tc>
                <a:tc>
                  <a:txBody>
                    <a:bodyPr/>
                    <a:lstStyle/>
                    <a:p>
                      <a:pPr algn="l"/>
                      <a:r>
                        <a:rPr sz="1600" b="1">
                          <a:solidFill>
                            <a:srgbClr val="FFFFFF"/>
                          </a:solidFill>
                          <a:latin typeface="Gartner Sans"/>
                          <a:ea typeface="Gartner Sans"/>
                          <a:cs typeface="Gartner Sans"/>
                        </a:rPr>
                        <a:t>Min</a:t>
                      </a:r>
                    </a:p>
                  </a:txBody>
                  <a:tcPr marL="137160" marR="137160" anchor="ctr">
                    <a:solidFill>
                      <a:srgbClr val="002869"/>
                    </a:solidFill>
                  </a:tcPr>
                </a:tc>
                <a:extLst>
                  <a:ext uri="{0D108BD9-81ED-4DB2-BD59-A6C34878D82A}">
                    <a16:rowId xmlns:a16="http://schemas.microsoft.com/office/drawing/2014/main" val="10000"/>
                  </a:ext>
                </a:extLst>
              </a:tr>
              <a:tr h="310896">
                <a:tc>
                  <a:txBody>
                    <a:bodyPr/>
                    <a:lstStyle/>
                    <a:p>
                      <a:pPr algn="l"/>
                      <a:r>
                        <a:rPr sz="1500" b="1">
                          <a:solidFill>
                            <a:srgbClr val="152230"/>
                          </a:solidFill>
                          <a:latin typeface="Gartner Sans"/>
                          <a:ea typeface="Gartner Sans"/>
                          <a:cs typeface="Gartner Sans"/>
                        </a:rPr>
                        <a:t>09:00</a:t>
                      </a:r>
                    </a:p>
                  </a:txBody>
                  <a:tcPr marL="137160" marR="137160" anchor="ctr">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Welcome and why we are here</a:t>
                      </a:r>
                    </a:p>
                  </a:txBody>
                  <a:tcPr marL="137160" marR="137160" anchor="ctr">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Why we are here, what we will produce and the agenda</a:t>
                      </a:r>
                    </a:p>
                  </a:txBody>
                  <a:tcPr marL="137160" marR="137160" anchor="ctr">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30</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310896">
                <a:tc>
                  <a:txBody>
                    <a:bodyPr/>
                    <a:lstStyle/>
                    <a:p>
                      <a:pPr algn="l"/>
                      <a:r>
                        <a:rPr sz="1500" b="1">
                          <a:solidFill>
                            <a:srgbClr val="152230"/>
                          </a:solidFill>
                          <a:latin typeface="Gartner Sans"/>
                          <a:ea typeface="Gartner Sans"/>
                          <a:cs typeface="Gartner Sans"/>
                        </a:rPr>
                        <a:t>09:30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1  Stakeholders: what Gartner sees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Who to engage, what goes wrong and what to do</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30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310896">
                <a:tc>
                  <a:txBody>
                    <a:bodyPr/>
                    <a:lstStyle/>
                    <a:p>
                      <a:pPr algn="l"/>
                      <a:r>
                        <a:rPr sz="1500" b="1">
                          <a:solidFill>
                            <a:srgbClr val="152230"/>
                          </a:solidFill>
                          <a:latin typeface="Gartner Sans"/>
                          <a:ea typeface="Gartner Sans"/>
                          <a:cs typeface="Gartner Sans"/>
                        </a:rPr>
                        <a:t>10:00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1  Exercise in teams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Your stakeholders, their goals and success criteria</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55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3"/>
                  </a:ext>
                </a:extLst>
              </a:tr>
              <a:tr h="310896">
                <a:tc>
                  <a:txBody>
                    <a:bodyPr/>
                    <a:lstStyle/>
                    <a:p>
                      <a:pPr algn="l"/>
                      <a:r>
                        <a:rPr sz="1500" b="1">
                          <a:solidFill>
                            <a:srgbClr val="152230"/>
                          </a:solidFill>
                          <a:latin typeface="Gartner Sans"/>
                          <a:ea typeface="Gartner Sans"/>
                          <a:cs typeface="Gartner Sans"/>
                        </a:rPr>
                        <a:t>10:55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Break</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endParaRPr sz="1500"/>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20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extLst>
                  <a:ext uri="{0D108BD9-81ED-4DB2-BD59-A6C34878D82A}">
                    <a16:rowId xmlns:a16="http://schemas.microsoft.com/office/drawing/2014/main" val="10004"/>
                  </a:ext>
                </a:extLst>
              </a:tr>
              <a:tr h="310896">
                <a:tc>
                  <a:txBody>
                    <a:bodyPr/>
                    <a:lstStyle/>
                    <a:p>
                      <a:pPr algn="l"/>
                      <a:r>
                        <a:rPr sz="1500" b="1">
                          <a:solidFill>
                            <a:srgbClr val="152230"/>
                          </a:solidFill>
                          <a:latin typeface="Gartner Sans"/>
                          <a:ea typeface="Gartner Sans"/>
                          <a:cs typeface="Gartner Sans"/>
                        </a:rPr>
                        <a:t>11:15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1  Share-back</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Teams share their stakeholder flipcharts with the room</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15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5"/>
                  </a:ext>
                </a:extLst>
              </a:tr>
              <a:tr h="310896">
                <a:tc>
                  <a:txBody>
                    <a:bodyPr/>
                    <a:lstStyle/>
                    <a:p>
                      <a:pPr algn="l"/>
                      <a:r>
                        <a:rPr sz="1500" b="1">
                          <a:solidFill>
                            <a:srgbClr val="152230"/>
                          </a:solidFill>
                          <a:latin typeface="Gartner Sans"/>
                          <a:ea typeface="Gartner Sans"/>
                          <a:cs typeface="Gartner Sans"/>
                        </a:rPr>
                        <a:t>11:30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2  Delivery challenges: what Gartner sees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Eighteen common delivery challenges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30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6"/>
                  </a:ext>
                </a:extLst>
              </a:tr>
              <a:tr h="310896">
                <a:tc>
                  <a:txBody>
                    <a:bodyPr/>
                    <a:lstStyle/>
                    <a:p>
                      <a:pPr algn="l"/>
                      <a:r>
                        <a:rPr sz="1500" b="1">
                          <a:solidFill>
                            <a:srgbClr val="152230"/>
                          </a:solidFill>
                          <a:latin typeface="Gartner Sans"/>
                          <a:ea typeface="Gartner Sans"/>
                          <a:cs typeface="Gartner Sans"/>
                        </a:rPr>
                        <a:t>12:00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Lunch</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endParaRPr sz="1500"/>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60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extLst>
                  <a:ext uri="{0D108BD9-81ED-4DB2-BD59-A6C34878D82A}">
                    <a16:rowId xmlns:a16="http://schemas.microsoft.com/office/drawing/2014/main" val="10007"/>
                  </a:ext>
                </a:extLst>
              </a:tr>
              <a:tr h="310896">
                <a:tc>
                  <a:txBody>
                    <a:bodyPr/>
                    <a:lstStyle/>
                    <a:p>
                      <a:pPr algn="l"/>
                      <a:r>
                        <a:rPr sz="1500" b="1">
                          <a:solidFill>
                            <a:srgbClr val="152230"/>
                          </a:solidFill>
                          <a:latin typeface="Gartner Sans"/>
                          <a:ea typeface="Gartner Sans"/>
                          <a:cs typeface="Gartner Sans"/>
                        </a:rPr>
                        <a:t>13:00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2  Exercise in teams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Brainstorm your challenges, then prioritise them</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60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8"/>
                  </a:ext>
                </a:extLst>
              </a:tr>
              <a:tr h="310896">
                <a:tc>
                  <a:txBody>
                    <a:bodyPr/>
                    <a:lstStyle/>
                    <a:p>
                      <a:pPr algn="l"/>
                      <a:r>
                        <a:rPr sz="1500" b="1">
                          <a:solidFill>
                            <a:srgbClr val="152230"/>
                          </a:solidFill>
                          <a:latin typeface="Gartner Sans"/>
                          <a:ea typeface="Gartner Sans"/>
                          <a:cs typeface="Gartner Sans"/>
                        </a:rPr>
                        <a:t>14:00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2  Share-back</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Teams share their top three challenges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15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9"/>
                  </a:ext>
                </a:extLst>
              </a:tr>
              <a:tr h="310896">
                <a:tc>
                  <a:txBody>
                    <a:bodyPr/>
                    <a:lstStyle/>
                    <a:p>
                      <a:pPr algn="l"/>
                      <a:r>
                        <a:rPr sz="1500" b="1">
                          <a:solidFill>
                            <a:srgbClr val="152230"/>
                          </a:solidFill>
                          <a:latin typeface="Gartner Sans"/>
                          <a:ea typeface="Gartner Sans"/>
                          <a:cs typeface="Gartner Sans"/>
                        </a:rPr>
                        <a:t>14:15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3  AI and the SDLC: what Gartner sees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How AI changes the SDLC, and how to adopt it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70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10"/>
                  </a:ext>
                </a:extLst>
              </a:tr>
              <a:tr h="310896">
                <a:tc>
                  <a:txBody>
                    <a:bodyPr/>
                    <a:lstStyle/>
                    <a:p>
                      <a:pPr algn="l"/>
                      <a:r>
                        <a:rPr sz="1500" b="1">
                          <a:solidFill>
                            <a:srgbClr val="152230"/>
                          </a:solidFill>
                          <a:latin typeface="Gartner Sans"/>
                          <a:ea typeface="Gartner Sans"/>
                          <a:cs typeface="Gartner Sans"/>
                        </a:rPr>
                        <a:t>15:25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Break</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endParaRPr sz="1500"/>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20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extLst>
                  <a:ext uri="{0D108BD9-81ED-4DB2-BD59-A6C34878D82A}">
                    <a16:rowId xmlns:a16="http://schemas.microsoft.com/office/drawing/2014/main" val="10011"/>
                  </a:ext>
                </a:extLst>
              </a:tr>
              <a:tr h="310896">
                <a:tc>
                  <a:txBody>
                    <a:bodyPr/>
                    <a:lstStyle/>
                    <a:p>
                      <a:pPr algn="l"/>
                      <a:r>
                        <a:rPr sz="1500" b="1">
                          <a:solidFill>
                            <a:srgbClr val="152230"/>
                          </a:solidFill>
                          <a:latin typeface="Gartner Sans"/>
                          <a:ea typeface="Gartner Sans"/>
                          <a:cs typeface="Gartner Sans"/>
                        </a:rPr>
                        <a:t>15:45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3  Exercise in teams, steps 1 and 2</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Draw your current SDLC and mark where work waits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65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12"/>
                  </a:ext>
                </a:extLst>
              </a:tr>
              <a:tr h="310896">
                <a:tc>
                  <a:txBody>
                    <a:bodyPr/>
                    <a:lstStyle/>
                    <a:p>
                      <a:pPr algn="l"/>
                      <a:r>
                        <a:rPr sz="1500" b="1">
                          <a:solidFill>
                            <a:srgbClr val="152230"/>
                          </a:solidFill>
                          <a:latin typeface="Gartner Sans"/>
                          <a:ea typeface="Gartner Sans"/>
                          <a:cs typeface="Gartner Sans"/>
                        </a:rPr>
                        <a:t>16:50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Review of day 1</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Progress so far and the plan for day 2. Close at 17:00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10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Day 2 timings: 09:00 to 17:30</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a:t>
            </a:r>
          </a:p>
        </p:txBody>
      </p:sp>
      <p:graphicFrame>
        <p:nvGraphicFramePr>
          <p:cNvPr id="10" name="Table"/>
          <p:cNvGraphicFramePr>
            <a:graphicFrameLocks noGrp="1"/>
          </p:cNvGraphicFramePr>
          <p:nvPr/>
        </p:nvGraphicFramePr>
        <p:xfrm>
          <a:off x="552297" y="1325880"/>
          <a:ext cx="11146535" cy="4096512"/>
        </p:xfrm>
        <a:graphic>
          <a:graphicData uri="http://schemas.openxmlformats.org/drawingml/2006/table">
            <a:tbl>
              <a:tblPr>
                <a:tableStyleId>{2D5ABB26-0587-4C30-8999-92F81FD0307C}</a:tableStyleId>
              </a:tblPr>
              <a:tblGrid>
                <a:gridCol w="835804">
                  <a:extLst>
                    <a:ext uri="{9D8B030D-6E8A-4147-A177-3AD203B41FA5}">
                      <a16:colId xmlns:a16="http://schemas.microsoft.com/office/drawing/2014/main" val="20000"/>
                    </a:ext>
                  </a:extLst>
                </a:gridCol>
                <a:gridCol w="4454621">
                  <a:extLst>
                    <a:ext uri="{9D8B030D-6E8A-4147-A177-3AD203B41FA5}">
                      <a16:colId xmlns:a16="http://schemas.microsoft.com/office/drawing/2014/main" val="20001"/>
                    </a:ext>
                  </a:extLst>
                </a:gridCol>
                <a:gridCol w="5216281">
                  <a:extLst>
                    <a:ext uri="{9D8B030D-6E8A-4147-A177-3AD203B41FA5}">
                      <a16:colId xmlns:a16="http://schemas.microsoft.com/office/drawing/2014/main" val="20002"/>
                    </a:ext>
                  </a:extLst>
                </a:gridCol>
                <a:gridCol w="639829">
                  <a:extLst>
                    <a:ext uri="{9D8B030D-6E8A-4147-A177-3AD203B41FA5}">
                      <a16:colId xmlns:a16="http://schemas.microsoft.com/office/drawing/2014/main" val="20003"/>
                    </a:ext>
                  </a:extLst>
                </a:gridCol>
              </a:tblGrid>
              <a:tr h="365760">
                <a:tc>
                  <a:txBody>
                    <a:bodyPr/>
                    <a:lstStyle/>
                    <a:p>
                      <a:pPr algn="l"/>
                      <a:r>
                        <a:rPr sz="1600" b="1">
                          <a:solidFill>
                            <a:srgbClr val="FFFFFF"/>
                          </a:solidFill>
                          <a:latin typeface="Gartner Sans"/>
                          <a:ea typeface="Gartner Sans"/>
                          <a:cs typeface="Gartner Sans"/>
                        </a:rPr>
                        <a:t>Time</a:t>
                      </a:r>
                    </a:p>
                  </a:txBody>
                  <a:tcPr marL="137160" marR="137160" anchor="ctr">
                    <a:solidFill>
                      <a:srgbClr val="002869"/>
                    </a:solidFill>
                  </a:tcPr>
                </a:tc>
                <a:tc>
                  <a:txBody>
                    <a:bodyPr/>
                    <a:lstStyle/>
                    <a:p>
                      <a:pPr algn="l"/>
                      <a:r>
                        <a:rPr sz="1600" b="1">
                          <a:solidFill>
                            <a:srgbClr val="FFFFFF"/>
                          </a:solidFill>
                          <a:latin typeface="Gartner Sans"/>
                          <a:ea typeface="Gartner Sans"/>
                          <a:cs typeface="Gartner Sans"/>
                        </a:rPr>
                        <a:t>Session</a:t>
                      </a:r>
                    </a:p>
                  </a:txBody>
                  <a:tcPr marL="137160" marR="137160" anchor="ctr">
                    <a:solidFill>
                      <a:srgbClr val="002869"/>
                    </a:solidFill>
                  </a:tcPr>
                </a:tc>
                <a:tc>
                  <a:txBody>
                    <a:bodyPr/>
                    <a:lstStyle/>
                    <a:p>
                      <a:pPr algn="l"/>
                      <a:r>
                        <a:rPr sz="1600" b="1">
                          <a:solidFill>
                            <a:srgbClr val="FFFFFF"/>
                          </a:solidFill>
                          <a:latin typeface="Gartner Sans"/>
                          <a:ea typeface="Gartner Sans"/>
                          <a:cs typeface="Gartner Sans"/>
                        </a:rPr>
                        <a:t>What happens</a:t>
                      </a:r>
                    </a:p>
                  </a:txBody>
                  <a:tcPr marL="137160" marR="137160" anchor="ctr">
                    <a:solidFill>
                      <a:srgbClr val="002869"/>
                    </a:solidFill>
                  </a:tcPr>
                </a:tc>
                <a:tc>
                  <a:txBody>
                    <a:bodyPr/>
                    <a:lstStyle/>
                    <a:p>
                      <a:pPr algn="l"/>
                      <a:r>
                        <a:rPr sz="1600" b="1">
                          <a:solidFill>
                            <a:srgbClr val="FFFFFF"/>
                          </a:solidFill>
                          <a:latin typeface="Gartner Sans"/>
                          <a:ea typeface="Gartner Sans"/>
                          <a:cs typeface="Gartner Sans"/>
                        </a:rPr>
                        <a:t>Min</a:t>
                      </a:r>
                    </a:p>
                  </a:txBody>
                  <a:tcPr marL="137160" marR="137160" anchor="ctr">
                    <a:solidFill>
                      <a:srgbClr val="002869"/>
                    </a:solidFill>
                  </a:tcPr>
                </a:tc>
                <a:extLst>
                  <a:ext uri="{0D108BD9-81ED-4DB2-BD59-A6C34878D82A}">
                    <a16:rowId xmlns:a16="http://schemas.microsoft.com/office/drawing/2014/main" val="10000"/>
                  </a:ext>
                </a:extLst>
              </a:tr>
              <a:tr h="310896">
                <a:tc>
                  <a:txBody>
                    <a:bodyPr/>
                    <a:lstStyle/>
                    <a:p>
                      <a:pPr algn="l"/>
                      <a:r>
                        <a:rPr sz="1500" b="1">
                          <a:solidFill>
                            <a:srgbClr val="152230"/>
                          </a:solidFill>
                          <a:latin typeface="Gartner Sans"/>
                          <a:ea typeface="Gartner Sans"/>
                          <a:cs typeface="Gartner Sans"/>
                        </a:rPr>
                        <a:t>09:00</a:t>
                      </a:r>
                    </a:p>
                  </a:txBody>
                  <a:tcPr marL="137160" marR="137160" anchor="ctr">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Recap of day 1</a:t>
                      </a:r>
                    </a:p>
                  </a:txBody>
                  <a:tcPr marL="137160" marR="137160" anchor="ctr">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The current SDLC drawings and the plan for the day</a:t>
                      </a:r>
                    </a:p>
                  </a:txBody>
                  <a:tcPr marL="137160" marR="137160" anchor="ctr">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10</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310896">
                <a:tc>
                  <a:txBody>
                    <a:bodyPr/>
                    <a:lstStyle/>
                    <a:p>
                      <a:pPr algn="l"/>
                      <a:r>
                        <a:rPr sz="1500" b="1">
                          <a:solidFill>
                            <a:srgbClr val="152230"/>
                          </a:solidFill>
                          <a:latin typeface="Gartner Sans"/>
                          <a:ea typeface="Gartner Sans"/>
                          <a:cs typeface="Gartner Sans"/>
                        </a:rPr>
                        <a:t>09:10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3  Exercise in teams, steps 3 and 4</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Choose where AI helps most, then draw your future SDLC</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95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310896">
                <a:tc>
                  <a:txBody>
                    <a:bodyPr/>
                    <a:lstStyle/>
                    <a:p>
                      <a:pPr algn="l"/>
                      <a:r>
                        <a:rPr sz="1500" b="1">
                          <a:solidFill>
                            <a:srgbClr val="152230"/>
                          </a:solidFill>
                          <a:latin typeface="Gartner Sans"/>
                          <a:ea typeface="Gartner Sans"/>
                          <a:cs typeface="Gartner Sans"/>
                        </a:rPr>
                        <a:t>10:45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Break</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endParaRPr sz="1500"/>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20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extLst>
                  <a:ext uri="{0D108BD9-81ED-4DB2-BD59-A6C34878D82A}">
                    <a16:rowId xmlns:a16="http://schemas.microsoft.com/office/drawing/2014/main" val="10003"/>
                  </a:ext>
                </a:extLst>
              </a:tr>
              <a:tr h="310896">
                <a:tc>
                  <a:txBody>
                    <a:bodyPr/>
                    <a:lstStyle/>
                    <a:p>
                      <a:pPr algn="l"/>
                      <a:r>
                        <a:rPr sz="1500" b="1">
                          <a:solidFill>
                            <a:srgbClr val="152230"/>
                          </a:solidFill>
                          <a:latin typeface="Gartner Sans"/>
                          <a:ea typeface="Gartner Sans"/>
                          <a:cs typeface="Gartner Sans"/>
                        </a:rPr>
                        <a:t>11:05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3  Share-back</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Each team presents its future SDLC</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25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4"/>
                  </a:ext>
                </a:extLst>
              </a:tr>
              <a:tr h="310896">
                <a:tc>
                  <a:txBody>
                    <a:bodyPr/>
                    <a:lstStyle/>
                    <a:p>
                      <a:pPr algn="l"/>
                      <a:r>
                        <a:rPr sz="1500" b="1">
                          <a:solidFill>
                            <a:srgbClr val="152230"/>
                          </a:solidFill>
                          <a:latin typeface="Gartner Sans"/>
                          <a:ea typeface="Gartner Sans"/>
                          <a:cs typeface="Gartner Sans"/>
                        </a:rPr>
                        <a:t>11:30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4  Designing an AI agent: what Gartner sees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Seven design questions, a worked example and a video</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40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5"/>
                  </a:ext>
                </a:extLst>
              </a:tr>
              <a:tr h="310896">
                <a:tc>
                  <a:txBody>
                    <a:bodyPr/>
                    <a:lstStyle/>
                    <a:p>
                      <a:pPr algn="l"/>
                      <a:r>
                        <a:rPr sz="1500" b="1">
                          <a:solidFill>
                            <a:srgbClr val="152230"/>
                          </a:solidFill>
                          <a:latin typeface="Gartner Sans"/>
                          <a:ea typeface="Gartner Sans"/>
                          <a:cs typeface="Gartner Sans"/>
                        </a:rPr>
                        <a:t>12:10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Lunch</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endParaRPr sz="1500"/>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60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extLst>
                  <a:ext uri="{0D108BD9-81ED-4DB2-BD59-A6C34878D82A}">
                    <a16:rowId xmlns:a16="http://schemas.microsoft.com/office/drawing/2014/main" val="10006"/>
                  </a:ext>
                </a:extLst>
              </a:tr>
              <a:tr h="310896">
                <a:tc>
                  <a:txBody>
                    <a:bodyPr/>
                    <a:lstStyle/>
                    <a:p>
                      <a:pPr algn="l"/>
                      <a:r>
                        <a:rPr sz="1500" b="1">
                          <a:solidFill>
                            <a:srgbClr val="152230"/>
                          </a:solidFill>
                          <a:latin typeface="Gartner Sans"/>
                          <a:ea typeface="Gartner Sans"/>
                          <a:cs typeface="Gartner Sans"/>
                        </a:rPr>
                        <a:t>13:10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4  Exercise in teams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Design one AI agent on the canvas and agree a small test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110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7"/>
                  </a:ext>
                </a:extLst>
              </a:tr>
              <a:tr h="310896">
                <a:tc>
                  <a:txBody>
                    <a:bodyPr/>
                    <a:lstStyle/>
                    <a:p>
                      <a:pPr algn="l"/>
                      <a:r>
                        <a:rPr sz="1500" b="1">
                          <a:solidFill>
                            <a:srgbClr val="152230"/>
                          </a:solidFill>
                          <a:latin typeface="Gartner Sans"/>
                          <a:ea typeface="Gartner Sans"/>
                          <a:cs typeface="Gartner Sans"/>
                        </a:rPr>
                        <a:t>15:00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Break</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endParaRPr sz="1500"/>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20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extLst>
                  <a:ext uri="{0D108BD9-81ED-4DB2-BD59-A6C34878D82A}">
                    <a16:rowId xmlns:a16="http://schemas.microsoft.com/office/drawing/2014/main" val="10008"/>
                  </a:ext>
                </a:extLst>
              </a:tr>
              <a:tr h="310896">
                <a:tc>
                  <a:txBody>
                    <a:bodyPr/>
                    <a:lstStyle/>
                    <a:p>
                      <a:pPr algn="l"/>
                      <a:r>
                        <a:rPr sz="1500" b="1">
                          <a:solidFill>
                            <a:srgbClr val="152230"/>
                          </a:solidFill>
                          <a:latin typeface="Gartner Sans"/>
                          <a:ea typeface="Gartner Sans"/>
                          <a:cs typeface="Gartner Sans"/>
                        </a:rPr>
                        <a:t>15:20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4  Share-back</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Teams share their agent design and their test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15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9"/>
                  </a:ext>
                </a:extLst>
              </a:tr>
              <a:tr h="310896">
                <a:tc>
                  <a:txBody>
                    <a:bodyPr/>
                    <a:lstStyle/>
                    <a:p>
                      <a:pPr algn="l"/>
                      <a:r>
                        <a:rPr sz="1500" b="1">
                          <a:solidFill>
                            <a:srgbClr val="152230"/>
                          </a:solidFill>
                          <a:latin typeface="Gartner Sans"/>
                          <a:ea typeface="Gartner Sans"/>
                          <a:cs typeface="Gartner Sans"/>
                        </a:rPr>
                        <a:t>15:35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5  Overcoming challenges: what Gartner sees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The barriers to adoption, and what helps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30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10"/>
                  </a:ext>
                </a:extLst>
              </a:tr>
              <a:tr h="310896">
                <a:tc>
                  <a:txBody>
                    <a:bodyPr/>
                    <a:lstStyle/>
                    <a:p>
                      <a:pPr algn="l"/>
                      <a:r>
                        <a:rPr sz="1500" b="1">
                          <a:solidFill>
                            <a:srgbClr val="152230"/>
                          </a:solidFill>
                          <a:latin typeface="Gartner Sans"/>
                          <a:ea typeface="Gartner Sans"/>
                          <a:cs typeface="Gartner Sans"/>
                        </a:rPr>
                        <a:t>16:05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5  Exercise in teams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Your barriers to adoption, grouped, with mitigation steps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60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11"/>
                  </a:ext>
                </a:extLst>
              </a:tr>
              <a:tr h="310896">
                <a:tc>
                  <a:txBody>
                    <a:bodyPr/>
                    <a:lstStyle/>
                    <a:p>
                      <a:pPr algn="l"/>
                      <a:r>
                        <a:rPr sz="1500" b="1">
                          <a:solidFill>
                            <a:srgbClr val="152230"/>
                          </a:solidFill>
                          <a:latin typeface="Gartner Sans"/>
                          <a:ea typeface="Gartner Sans"/>
                          <a:cs typeface="Gartner Sans"/>
                        </a:rPr>
                        <a:t>17:05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1">
                          <a:solidFill>
                            <a:srgbClr val="152230"/>
                          </a:solidFill>
                          <a:latin typeface="Gartner Sans"/>
                          <a:ea typeface="Gartner Sans"/>
                          <a:cs typeface="Gartner Sans"/>
                        </a:rPr>
                        <a:t>Share-back, next steps and close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Teams share their mitigation steps. Close at 17:30</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25</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title"/>
          <p:cNvSpPr txBox="1"/>
          <p:nvPr/>
        </p:nvSpPr>
        <p:spPr>
          <a:xfrm>
            <a:off x="1856231" y="2194560"/>
            <a:ext cx="6309360" cy="1463040"/>
          </a:xfrm>
          <a:prstGeom prst="rect">
            <a:avLst/>
          </a:prstGeom>
          <a:noFill/>
        </p:spPr>
        <p:txBody>
          <a:bodyPr wrap="square" lIns="0" tIns="0" rIns="0" bIns="0" anchor="b">
            <a:spAutoFit/>
          </a:bodyPr>
          <a:lstStyle/>
          <a:p>
            <a:pPr algn="l"/>
            <a:r>
              <a:rPr sz="2800" b="0">
                <a:solidFill>
                  <a:srgbClr val="FFFFFF"/>
                </a:solidFill>
                <a:latin typeface="Gartner Sans"/>
                <a:ea typeface="Gartner Sans"/>
                <a:cs typeface="Gartner Sans"/>
              </a:rPr>
              <a:t>Major software project stakeholders and engagement challenges</a:t>
            </a:r>
          </a:p>
        </p:txBody>
      </p:sp>
      <p:sp>
        <p:nvSpPr>
          <p:cNvPr id="3" name="Section subtitle"/>
          <p:cNvSpPr txBox="1"/>
          <p:nvPr/>
        </p:nvSpPr>
        <p:spPr>
          <a:xfrm>
            <a:off x="1856231" y="3794760"/>
            <a:ext cx="6309360" cy="685800"/>
          </a:xfrm>
          <a:prstGeom prst="rect">
            <a:avLst/>
          </a:prstGeom>
          <a:noFill/>
        </p:spPr>
        <p:txBody>
          <a:bodyPr wrap="square" lIns="0" tIns="0" rIns="0" bIns="0" anchor="t">
            <a:spAutoFit/>
          </a:bodyPr>
          <a:lstStyle/>
          <a:p>
            <a:pPr algn="l"/>
            <a:r>
              <a:rPr sz="1800" b="0">
                <a:solidFill>
                  <a:srgbClr val="FFFFFF"/>
                </a:solidFill>
                <a:latin typeface="Gartner Sans"/>
                <a:ea typeface="Gartner Sans"/>
                <a:cs typeface="Gartner Sans"/>
              </a:rPr>
              <a:t>Who to engage, what goes wrong and what to 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Ten stakeholder groups take part in software delivery</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9</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Who to engage: delivery and execution</a:t>
            </a:r>
          </a:p>
        </p:txBody>
      </p:sp>
      <p:graphicFrame>
        <p:nvGraphicFramePr>
          <p:cNvPr id="12" name="Table"/>
          <p:cNvGraphicFramePr>
            <a:graphicFrameLocks noGrp="1"/>
          </p:cNvGraphicFramePr>
          <p:nvPr/>
        </p:nvGraphicFramePr>
        <p:xfrm>
          <a:off x="552297" y="1783080"/>
          <a:ext cx="11146536" cy="1700784"/>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6528816">
                  <a:extLst>
                    <a:ext uri="{9D8B030D-6E8A-4147-A177-3AD203B41FA5}">
                      <a16:colId xmlns:a16="http://schemas.microsoft.com/office/drawing/2014/main" val="20002"/>
                    </a:ext>
                  </a:extLst>
                </a:gridCol>
              </a:tblGrid>
              <a:tr h="310896">
                <a:tc>
                  <a:txBody>
                    <a:bodyPr/>
                    <a:lstStyle/>
                    <a:p>
                      <a:pPr algn="l"/>
                      <a:r>
                        <a:rPr sz="1700" b="1">
                          <a:solidFill>
                            <a:srgbClr val="FFFFFF"/>
                          </a:solidFill>
                          <a:latin typeface="Gartner Sans"/>
                          <a:ea typeface="Gartner Sans"/>
                          <a:cs typeface="Gartner Sans"/>
                        </a:rPr>
                        <a:t>Group</a:t>
                      </a:r>
                    </a:p>
                  </a:txBody>
                  <a:tcPr marL="137160" marR="137160" anchor="ctr">
                    <a:solidFill>
                      <a:srgbClr val="002869"/>
                    </a:solidFill>
                  </a:tcPr>
                </a:tc>
                <a:tc>
                  <a:txBody>
                    <a:bodyPr/>
                    <a:lstStyle/>
                    <a:p>
                      <a:pPr algn="l"/>
                      <a:r>
                        <a:rPr sz="1700" b="1">
                          <a:solidFill>
                            <a:srgbClr val="FFFFFF"/>
                          </a:solidFill>
                          <a:latin typeface="Gartner Sans"/>
                          <a:ea typeface="Gartner Sans"/>
                          <a:cs typeface="Gartner Sans"/>
                        </a:rPr>
                        <a:t>Stakeholder</a:t>
                      </a:r>
                    </a:p>
                  </a:txBody>
                  <a:tcPr marL="137160" marR="137160" anchor="ctr">
                    <a:solidFill>
                      <a:srgbClr val="002869"/>
                    </a:solidFill>
                  </a:tcPr>
                </a:tc>
                <a:tc>
                  <a:txBody>
                    <a:bodyPr/>
                    <a:lstStyle/>
                    <a:p>
                      <a:pPr algn="l"/>
                      <a:r>
                        <a:rPr sz="1700" b="1">
                          <a:solidFill>
                            <a:srgbClr val="FFFFFF"/>
                          </a:solidFill>
                          <a:latin typeface="Gartner Sans"/>
                          <a:ea typeface="Gartner Sans"/>
                          <a:cs typeface="Gartner Sans"/>
                        </a:rPr>
                        <a:t>Role in delivery</a:t>
                      </a:r>
                    </a:p>
                  </a:txBody>
                  <a:tcPr marL="137160" marR="137160" anchor="ctr">
                    <a:solidFill>
                      <a:srgbClr val="002869"/>
                    </a:solidFill>
                  </a:tcPr>
                </a:tc>
                <a:extLst>
                  <a:ext uri="{0D108BD9-81ED-4DB2-BD59-A6C34878D82A}">
                    <a16:rowId xmlns:a16="http://schemas.microsoft.com/office/drawing/2014/main" val="10000"/>
                  </a:ext>
                </a:extLst>
              </a:tr>
              <a:tr h="347472">
                <a:tc rowSpan="2">
                  <a:txBody>
                    <a:bodyPr/>
                    <a:lstStyle/>
                    <a:p>
                      <a:pPr algn="l"/>
                      <a:r>
                        <a:rPr sz="1700" b="1">
                          <a:solidFill>
                            <a:srgbClr val="152230"/>
                          </a:solidFill>
                          <a:latin typeface="Gartner Sans"/>
                          <a:ea typeface="Gartner Sans"/>
                          <a:cs typeface="Gartner Sans"/>
                        </a:rPr>
                        <a:t>Product and delivery leaders</a:t>
                      </a:r>
                    </a:p>
                  </a:txBody>
                  <a:tcPr marL="137160" marR="137160" anchor="ctr">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Product managers</a:t>
                      </a:r>
                    </a:p>
                  </a:txBody>
                  <a:tcPr marL="137160" marR="137160" anchor="ctr">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Own roadmaps, align budgets and teams, and set product direction from business priorities.</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347472">
                <a:tc vMerge="1">
                  <a:txBody>
                    <a:bodyPr/>
                    <a:lstStyle/>
                    <a:p>
                      <a:pPr algn="l"/>
                      <a:endParaRPr sz="1700"/>
                    </a:p>
                  </a:txBody>
                  <a:tcPr marL="137160" marR="137160" anchor="ctr">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Software engineering leaders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Coordinate product and project teams, set shared terms and establish adaptive governance.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347472">
                <a:tc rowSpan="2">
                  <a:txBody>
                    <a:bodyPr/>
                    <a:lstStyle/>
                    <a:p>
                      <a:pPr algn="l"/>
                      <a:r>
                        <a:rPr sz="1700" b="1">
                          <a:solidFill>
                            <a:srgbClr val="152230"/>
                          </a:solidFill>
                          <a:latin typeface="Gartner Sans"/>
                          <a:ea typeface="Gartner Sans"/>
                          <a:cs typeface="Gartner Sans"/>
                        </a:rPr>
                        <a:t>Execution teams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Development teams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Build specific products or services. Need clarity on ownership and expected outcomes.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3"/>
                  </a:ext>
                </a:extLst>
              </a:tr>
              <a:tr h="347472">
                <a:tc vMerge="1">
                  <a:txBody>
                    <a:bodyPr/>
                    <a:lstStyle/>
                    <a:p>
                      <a:pPr algn="l"/>
                      <a:endParaRPr sz="1700"/>
                    </a:p>
                  </a:txBody>
                  <a:tcPr marL="137160" marR="137160" anchor="ctr">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Architects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Define technical contracts, such as APIs, to manage dependencies between teams.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4"/>
                  </a:ext>
                </a:extLst>
              </a:tr>
            </a:tbl>
          </a:graphicData>
        </a:graphic>
      </p:graphicFrame>
      <p:sp>
        <p:nvSpPr>
          <p:cNvPr id="13"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references 3, 4 and 7 (see the References slide)</a:t>
            </a:r>
          </a:p>
        </p:txBody>
      </p:sp>
    </p:spTree>
    <p:extLst>
      <p:ext uri="{BB962C8B-B14F-4D97-AF65-F5344CB8AC3E}">
        <p14:creationId xmlns:p14="http://schemas.microsoft.com/office/powerpoint/2010/main" val="2477744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Eight issues recur in stakeholder engagement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11</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goes wrong: issues 1 to 4</a:t>
            </a:r>
          </a:p>
        </p:txBody>
      </p:sp>
      <p:sp>
        <p:nvSpPr>
          <p:cNvPr id="12" name="Unclear roles and expectations"/>
          <p:cNvSpPr/>
          <p:nvPr/>
        </p:nvSpPr>
        <p:spPr>
          <a:xfrm>
            <a:off x="552297" y="1764792"/>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13" name="Number 1"/>
          <p:cNvSpPr/>
          <p:nvPr/>
        </p:nvSpPr>
        <p:spPr>
          <a:xfrm>
            <a:off x="735177" y="194767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1</a:t>
            </a:r>
          </a:p>
        </p:txBody>
      </p:sp>
      <p:sp>
        <p:nvSpPr>
          <p:cNvPr id="14" name="Unclear roles and expectations text"/>
          <p:cNvSpPr txBox="1"/>
          <p:nvPr/>
        </p:nvSpPr>
        <p:spPr>
          <a:xfrm>
            <a:off x="1146657" y="1860804"/>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Unclear roles and expectations</a:t>
            </a:r>
          </a:p>
        </p:txBody>
      </p:sp>
      <p:sp>
        <p:nvSpPr>
          <p:cNvPr id="37" name="Unclear roles and expectations body"/>
          <p:cNvSpPr txBox="1"/>
          <p:nvPr/>
        </p:nvSpPr>
        <p:spPr>
          <a:xfrm>
            <a:off x="735177" y="2404872"/>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Stakeholders hold different views of success and of who is accountable. Engineering leaders are often left out of strategic business discussions.</a:t>
            </a:r>
          </a:p>
        </p:txBody>
      </p:sp>
      <p:sp>
        <p:nvSpPr>
          <p:cNvPr id="15" name="Technical language"/>
          <p:cNvSpPr/>
          <p:nvPr/>
        </p:nvSpPr>
        <p:spPr>
          <a:xfrm>
            <a:off x="6217004" y="1764792"/>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16" name="Number 2"/>
          <p:cNvSpPr/>
          <p:nvPr/>
        </p:nvSpPr>
        <p:spPr>
          <a:xfrm>
            <a:off x="6399884" y="194767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2</a:t>
            </a:r>
          </a:p>
        </p:txBody>
      </p:sp>
      <p:sp>
        <p:nvSpPr>
          <p:cNvPr id="17" name="Technical language text"/>
          <p:cNvSpPr txBox="1"/>
          <p:nvPr/>
        </p:nvSpPr>
        <p:spPr>
          <a:xfrm>
            <a:off x="6811364" y="1860804"/>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Technical language</a:t>
            </a:r>
          </a:p>
        </p:txBody>
      </p:sp>
      <p:sp>
        <p:nvSpPr>
          <p:cNvPr id="38" name="Technical language body"/>
          <p:cNvSpPr txBox="1"/>
          <p:nvPr/>
        </p:nvSpPr>
        <p:spPr>
          <a:xfrm>
            <a:off x="6399884" y="2404872"/>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About half of software engineering leaders say they can state a business case in business terms. Executives need outcomes, not technical metrics.</a:t>
            </a:r>
          </a:p>
        </p:txBody>
      </p:sp>
      <p:sp>
        <p:nvSpPr>
          <p:cNvPr id="18" name="Late, transactional engagement"/>
          <p:cNvSpPr/>
          <p:nvPr/>
        </p:nvSpPr>
        <p:spPr>
          <a:xfrm>
            <a:off x="552297" y="3923836"/>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19" name="Number 3"/>
          <p:cNvSpPr/>
          <p:nvPr/>
        </p:nvSpPr>
        <p:spPr>
          <a:xfrm>
            <a:off x="735177" y="410671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3</a:t>
            </a:r>
          </a:p>
        </p:txBody>
      </p:sp>
      <p:sp>
        <p:nvSpPr>
          <p:cNvPr id="20" name="Late, transactional engagement text"/>
          <p:cNvSpPr txBox="1"/>
          <p:nvPr/>
        </p:nvSpPr>
        <p:spPr>
          <a:xfrm>
            <a:off x="1146657" y="4019848"/>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Late, transactional engagement</a:t>
            </a:r>
          </a:p>
        </p:txBody>
      </p:sp>
      <p:sp>
        <p:nvSpPr>
          <p:cNvPr id="39" name="Late, transactional engagement body"/>
          <p:cNvSpPr txBox="1"/>
          <p:nvPr/>
        </p:nvSpPr>
        <p:spPr>
          <a:xfrm>
            <a:off x="735177" y="4563916"/>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45% of software engineering leaders spend less time building stakeholder partnerships than they would like.</a:t>
            </a:r>
          </a:p>
        </p:txBody>
      </p:sp>
      <p:sp>
        <p:nvSpPr>
          <p:cNvPr id="21" name="Collaboration gaps"/>
          <p:cNvSpPr/>
          <p:nvPr/>
        </p:nvSpPr>
        <p:spPr>
          <a:xfrm>
            <a:off x="6217004" y="3923836"/>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22" name="Number 4"/>
          <p:cNvSpPr/>
          <p:nvPr/>
        </p:nvSpPr>
        <p:spPr>
          <a:xfrm>
            <a:off x="6399884" y="410671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4</a:t>
            </a:r>
          </a:p>
        </p:txBody>
      </p:sp>
      <p:sp>
        <p:nvSpPr>
          <p:cNvPr id="23" name="Collaboration gaps text"/>
          <p:cNvSpPr txBox="1"/>
          <p:nvPr/>
        </p:nvSpPr>
        <p:spPr>
          <a:xfrm>
            <a:off x="6811364" y="4019848"/>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Collaboration gaps</a:t>
            </a:r>
          </a:p>
        </p:txBody>
      </p:sp>
      <p:sp>
        <p:nvSpPr>
          <p:cNvPr id="40" name="Collaboration gaps body"/>
          <p:cNvSpPr txBox="1"/>
          <p:nvPr/>
        </p:nvSpPr>
        <p:spPr>
          <a:xfrm>
            <a:off x="6399884" y="4563916"/>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Product leaders report too little collaboration with customer success (37%), sales (32%) and marketing (28%).</a:t>
            </a:r>
          </a:p>
        </p:txBody>
      </p:sp>
      <p:sp>
        <p:nvSpPr>
          <p:cNvPr id="36"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references 1, 2, 5 and 7 (see the References slide)</a:t>
            </a:r>
          </a:p>
        </p:txBody>
      </p:sp>
    </p:spTree>
    <p:extLst>
      <p:ext uri="{BB962C8B-B14F-4D97-AF65-F5344CB8AC3E}">
        <p14:creationId xmlns:p14="http://schemas.microsoft.com/office/powerpoint/2010/main" val="1518650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Product teams spend too little time with customers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13</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goes wrong: supporting figure</a:t>
            </a:r>
          </a:p>
        </p:txBody>
      </p:sp>
      <p:pic>
        <p:nvPicPr>
          <p:cNvPr id="12" name="Figure" descr="Gartner figure: time spent on product management compared with other tasks"/>
          <p:cNvPicPr>
            <a:picLocks noChangeAspect="1"/>
          </p:cNvPicPr>
          <p:nvPr/>
        </p:nvPicPr>
        <p:blipFill>
          <a:blip r:embed="rId2"/>
          <a:stretch>
            <a:fillRect/>
          </a:stretch>
        </p:blipFill>
        <p:spPr>
          <a:xfrm>
            <a:off x="552297" y="1828800"/>
            <a:ext cx="4420895" cy="3657600"/>
          </a:xfrm>
          <a:prstGeom prst="rect">
            <a:avLst/>
          </a:prstGeom>
        </p:spPr>
      </p:pic>
      <p:sp>
        <p:nvSpPr>
          <p:cNvPr id="13" name="Heading"/>
          <p:cNvSpPr txBox="1"/>
          <p:nvPr/>
        </p:nvSpPr>
        <p:spPr>
          <a:xfrm>
            <a:off x="5672937" y="1810512"/>
            <a:ext cx="6025895" cy="279737"/>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What the figure shows</a:t>
            </a:r>
          </a:p>
        </p:txBody>
      </p:sp>
      <p:sp>
        <p:nvSpPr>
          <p:cNvPr id="14" name="What the figure shows"/>
          <p:cNvSpPr txBox="1"/>
          <p:nvPr/>
        </p:nvSpPr>
        <p:spPr>
          <a:xfrm>
            <a:off x="5672937" y="2148840"/>
            <a:ext cx="6025895" cy="2103120"/>
          </a:xfrm>
          <a:prstGeom prst="rect">
            <a:avLst/>
          </a:prstGeom>
          <a:noFill/>
        </p:spPr>
        <p:txBody>
          <a:bodyPr wrap="square" lIns="0" tIns="0" rIns="0" bIns="0" anchor="t">
            <a:spAutoFit/>
          </a:bodyPr>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42% of product leaders say their teams spend too little time validating problems and solutions with customers.</a:t>
            </a:r>
          </a:p>
          <a:p>
            <a:pPr marL="171450" marR="0" lvl="0" indent="-171450" algn="l" defTabSz="914400" eaLnBrk="1" fontAlgn="auto" latinLnBrk="0" hangingPunct="1">
              <a:lnSpc>
                <a:spcPct val="100000"/>
              </a:lnSpc>
              <a:spcBef>
                <a:spcPts val="6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37% report too little time with customer experience and success, 32% with sales, and 29% with security and compliance.</a:t>
            </a:r>
          </a:p>
          <a:p>
            <a:pPr marL="171450" marR="0" lvl="0" indent="-171450" algn="l" defTabSz="914400" eaLnBrk="1" fontAlgn="auto" latinLnBrk="0" hangingPunct="1">
              <a:lnSpc>
                <a:spcPct val="100000"/>
              </a:lnSpc>
              <a:spcBef>
                <a:spcPts val="6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44% say too much time goes on project management.</a:t>
            </a:r>
          </a:p>
          <a:p>
            <a:pPr marL="171450" marR="0" lvl="0" indent="-171450" algn="l" defTabSz="914400" eaLnBrk="1" fontAlgn="auto" latinLnBrk="0" hangingPunct="1">
              <a:lnSpc>
                <a:spcPct val="100000"/>
              </a:lnSpc>
              <a:spcBef>
                <a:spcPts val="6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n varies from 251 to 256. 2024 Gartner Product Management Survey.</a:t>
            </a:r>
          </a:p>
        </p:txBody>
      </p:sp>
      <p:sp>
        <p:nvSpPr>
          <p:cNvPr id="15" name="How to apply it"/>
          <p:cNvSpPr/>
          <p:nvPr/>
        </p:nvSpPr>
        <p:spPr>
          <a:xfrm>
            <a:off x="5672937" y="4343400"/>
            <a:ext cx="6025895" cy="1417320"/>
          </a:xfrm>
          <a:prstGeom prst="rect">
            <a:avLst/>
          </a:prstGeom>
          <a:solidFill>
            <a:srgbClr val="F0F7FD"/>
          </a:solidFill>
          <a:ln>
            <a:noFill/>
          </a:ln>
        </p:spPr>
        <p:txBody>
          <a:bodyPr wrap="square" lIns="201168" tIns="73152" rIns="182880" bIns="73152"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How to apply it</a:t>
            </a:r>
          </a:p>
          <a:p>
            <a:pPr marL="0" marR="0" lvl="0" indent="0" algn="l" defTabSz="914400" eaLnBrk="1" fontAlgn="auto" latinLnBrk="0" hangingPunct="1">
              <a:lnSpc>
                <a:spcPct val="100000"/>
              </a:lnSpc>
              <a:spcBef>
                <a:spcPts val="40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Add product owner and product operations roles, so that product managers can rebalance their time.</a:t>
            </a:r>
          </a:p>
        </p:txBody>
      </p:sp>
      <p:sp>
        <p:nvSpPr>
          <p:cNvPr id="16"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Figure source: reference 5 (see the References slide)</a:t>
            </a:r>
          </a:p>
        </p:txBody>
      </p:sp>
    </p:spTree>
    <p:extLst>
      <p:ext uri="{BB962C8B-B14F-4D97-AF65-F5344CB8AC3E}">
        <p14:creationId xmlns:p14="http://schemas.microsoft.com/office/powerpoint/2010/main" val="236936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Twelve signals that engagement is not working</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14</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goes wrong</a:t>
            </a:r>
          </a:p>
        </p:txBody>
      </p:sp>
      <p:sp>
        <p:nvSpPr>
          <p:cNvPr id="12" name="Column 1 heading"/>
          <p:cNvSpPr/>
          <p:nvPr/>
        </p:nvSpPr>
        <p:spPr>
          <a:xfrm>
            <a:off x="552297" y="1828800"/>
            <a:ext cx="2615184" cy="68580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Poor communication flows</a:t>
            </a:r>
          </a:p>
        </p:txBody>
      </p:sp>
      <p:sp>
        <p:nvSpPr>
          <p:cNvPr id="13" name="Column 1 items"/>
          <p:cNvSpPr/>
          <p:nvPr/>
        </p:nvSpPr>
        <p:spPr>
          <a:xfrm>
            <a:off x="552297" y="2514600"/>
            <a:ext cx="2615184" cy="301752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Stakeholders are surprised by decisions or delays.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Technical and business language do not match.</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Discussions happen in silos.</a:t>
            </a:r>
          </a:p>
        </p:txBody>
      </p:sp>
      <p:sp>
        <p:nvSpPr>
          <p:cNvPr id="14" name="Column 2 heading"/>
          <p:cNvSpPr/>
          <p:nvPr/>
        </p:nvSpPr>
        <p:spPr>
          <a:xfrm>
            <a:off x="3396081" y="1828800"/>
            <a:ext cx="2615184" cy="68580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Unclear accountability</a:t>
            </a:r>
          </a:p>
        </p:txBody>
      </p:sp>
      <p:sp>
        <p:nvSpPr>
          <p:cNvPr id="15" name="Column 2 items"/>
          <p:cNvSpPr/>
          <p:nvPr/>
        </p:nvSpPr>
        <p:spPr>
          <a:xfrm>
            <a:off x="3396081" y="2514600"/>
            <a:ext cx="2615184" cy="301752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Responsibilities overlap or are ambiguous.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No single point of ownership for outcomes.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Governance and compliance review comes too late.</a:t>
            </a:r>
          </a:p>
        </p:txBody>
      </p:sp>
      <p:sp>
        <p:nvSpPr>
          <p:cNvPr id="16" name="Column 3 heading"/>
          <p:cNvSpPr/>
          <p:nvPr/>
        </p:nvSpPr>
        <p:spPr>
          <a:xfrm>
            <a:off x="6239865" y="1828800"/>
            <a:ext cx="2615184" cy="68580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Misaligned incentives</a:t>
            </a:r>
          </a:p>
        </p:txBody>
      </p:sp>
      <p:sp>
        <p:nvSpPr>
          <p:cNvPr id="17" name="Column 3 items"/>
          <p:cNvSpPr/>
          <p:nvPr/>
        </p:nvSpPr>
        <p:spPr>
          <a:xfrm>
            <a:off x="6239865" y="2514600"/>
            <a:ext cx="2615184" cy="301752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Stakeholder groups have conflicting goals and no shared priority framework.</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Success metrics are not tied to business outcomes.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Resistance is dismissed, not managed.</a:t>
            </a:r>
          </a:p>
        </p:txBody>
      </p:sp>
      <p:sp>
        <p:nvSpPr>
          <p:cNvPr id="18" name="Column 4 heading"/>
          <p:cNvSpPr/>
          <p:nvPr/>
        </p:nvSpPr>
        <p:spPr>
          <a:xfrm>
            <a:off x="9083649" y="1828800"/>
            <a:ext cx="2615184" cy="68580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Gaps in engagement structure</a:t>
            </a:r>
          </a:p>
        </p:txBody>
      </p:sp>
      <p:sp>
        <p:nvSpPr>
          <p:cNvPr id="19" name="Column 4 items"/>
          <p:cNvSpPr/>
          <p:nvPr/>
        </p:nvSpPr>
        <p:spPr>
          <a:xfrm>
            <a:off x="9083649" y="2514600"/>
            <a:ext cx="2615184" cy="301752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Interaction is transactional and happens only at project boundaries.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Finance, customer success and compliance are not included early.</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Specialist roles are absent or underused.</a:t>
            </a:r>
          </a:p>
        </p:txBody>
      </p:sp>
      <p:sp>
        <p:nvSpPr>
          <p:cNvPr id="20"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references 1, 2 and 5 (see the References slide)</a:t>
            </a:r>
          </a:p>
        </p:txBody>
      </p:sp>
    </p:spTree>
    <p:extLst>
      <p:ext uri="{BB962C8B-B14F-4D97-AF65-F5344CB8AC3E}">
        <p14:creationId xmlns:p14="http://schemas.microsoft.com/office/powerpoint/2010/main" val="1733641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Eight actions to improve stakeholder engagement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15</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to do: actions 1 to 4</a:t>
            </a:r>
          </a:p>
        </p:txBody>
      </p:sp>
      <p:sp>
        <p:nvSpPr>
          <p:cNvPr id="12" name="Engage early and continuously"/>
          <p:cNvSpPr/>
          <p:nvPr/>
        </p:nvSpPr>
        <p:spPr>
          <a:xfrm>
            <a:off x="552297" y="1764792"/>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13" name="Number 1"/>
          <p:cNvSpPr/>
          <p:nvPr/>
        </p:nvSpPr>
        <p:spPr>
          <a:xfrm>
            <a:off x="735177" y="194767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1</a:t>
            </a:r>
          </a:p>
        </p:txBody>
      </p:sp>
      <p:sp>
        <p:nvSpPr>
          <p:cNvPr id="14" name="Engage early and continuously text"/>
          <p:cNvSpPr txBox="1"/>
          <p:nvPr/>
        </p:nvSpPr>
        <p:spPr>
          <a:xfrm>
            <a:off x="1146657" y="1860804"/>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Engage early and continuously</a:t>
            </a:r>
          </a:p>
        </p:txBody>
      </p:sp>
      <p:sp>
        <p:nvSpPr>
          <p:cNvPr id="37" name="Engage early and continuously body"/>
          <p:cNvSpPr txBox="1"/>
          <p:nvPr/>
        </p:nvSpPr>
        <p:spPr>
          <a:xfrm>
            <a:off x="735177" y="2404872"/>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Set regular touchpoints from the start. Treat engagement as a partnership, not a series of approvals.</a:t>
            </a:r>
          </a:p>
        </p:txBody>
      </p:sp>
      <p:sp>
        <p:nvSpPr>
          <p:cNvPr id="15" name="Speak in business terms"/>
          <p:cNvSpPr/>
          <p:nvPr/>
        </p:nvSpPr>
        <p:spPr>
          <a:xfrm>
            <a:off x="6217004" y="1764792"/>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16" name="Number 2"/>
          <p:cNvSpPr/>
          <p:nvPr/>
        </p:nvSpPr>
        <p:spPr>
          <a:xfrm>
            <a:off x="6399884" y="194767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2</a:t>
            </a:r>
          </a:p>
        </p:txBody>
      </p:sp>
      <p:sp>
        <p:nvSpPr>
          <p:cNvPr id="17" name="Speak in business terms text"/>
          <p:cNvSpPr txBox="1"/>
          <p:nvPr/>
        </p:nvSpPr>
        <p:spPr>
          <a:xfrm>
            <a:off x="6811364" y="1860804"/>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Speak in business terms</a:t>
            </a:r>
          </a:p>
        </p:txBody>
      </p:sp>
      <p:sp>
        <p:nvSpPr>
          <p:cNvPr id="38" name="Speak in business terms body"/>
          <p:cNvSpPr txBox="1"/>
          <p:nvPr/>
        </p:nvSpPr>
        <p:spPr>
          <a:xfrm>
            <a:off x="6399884" y="2404872"/>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Translate technical work into the outcomes that matter to each stakeholder.</a:t>
            </a:r>
          </a:p>
        </p:txBody>
      </p:sp>
      <p:sp>
        <p:nvSpPr>
          <p:cNvPr id="18" name="Define roles and shared terms"/>
          <p:cNvSpPr/>
          <p:nvPr/>
        </p:nvSpPr>
        <p:spPr>
          <a:xfrm>
            <a:off x="552297" y="3923836"/>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19" name="Number 3"/>
          <p:cNvSpPr/>
          <p:nvPr/>
        </p:nvSpPr>
        <p:spPr>
          <a:xfrm>
            <a:off x="735177" y="410671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3</a:t>
            </a:r>
          </a:p>
        </p:txBody>
      </p:sp>
      <p:sp>
        <p:nvSpPr>
          <p:cNvPr id="20" name="Define roles and shared terms text"/>
          <p:cNvSpPr txBox="1"/>
          <p:nvPr/>
        </p:nvSpPr>
        <p:spPr>
          <a:xfrm>
            <a:off x="1146657" y="4019848"/>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Define roles and shared terms</a:t>
            </a:r>
          </a:p>
        </p:txBody>
      </p:sp>
      <p:sp>
        <p:nvSpPr>
          <p:cNvPr id="39" name="Define roles and shared terms body"/>
          <p:cNvSpPr txBox="1"/>
          <p:nvPr/>
        </p:nvSpPr>
        <p:spPr>
          <a:xfrm>
            <a:off x="735177" y="4563916"/>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State who is accountable for what. Agree what project, product, agile and waterfall mean.</a:t>
            </a:r>
          </a:p>
        </p:txBody>
      </p:sp>
      <p:sp>
        <p:nvSpPr>
          <p:cNvPr id="21" name="Build an extended product team"/>
          <p:cNvSpPr/>
          <p:nvPr/>
        </p:nvSpPr>
        <p:spPr>
          <a:xfrm>
            <a:off x="6217004" y="3923836"/>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22" name="Number 4"/>
          <p:cNvSpPr/>
          <p:nvPr/>
        </p:nvSpPr>
        <p:spPr>
          <a:xfrm>
            <a:off x="6399884" y="410671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4</a:t>
            </a:r>
          </a:p>
        </p:txBody>
      </p:sp>
      <p:sp>
        <p:nvSpPr>
          <p:cNvPr id="23" name="Build an extended product team text"/>
          <p:cNvSpPr txBox="1"/>
          <p:nvPr/>
        </p:nvSpPr>
        <p:spPr>
          <a:xfrm>
            <a:off x="6811364" y="4019848"/>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Build an extended product team</a:t>
            </a:r>
          </a:p>
        </p:txBody>
      </p:sp>
      <p:sp>
        <p:nvSpPr>
          <p:cNvPr id="40" name="Build an extended product team body"/>
          <p:cNvSpPr txBox="1"/>
          <p:nvPr/>
        </p:nvSpPr>
        <p:spPr>
          <a:xfrm>
            <a:off x="6399884" y="4563916"/>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Add product owners and product operations. Bring in security, architecture and subject matter experts from the start.</a:t>
            </a:r>
          </a:p>
        </p:txBody>
      </p:sp>
      <p:sp>
        <p:nvSpPr>
          <p:cNvPr id="36"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references 1, 2, 4, 5 and 7 (see the References slide)</a:t>
            </a:r>
          </a:p>
        </p:txBody>
      </p:sp>
    </p:spTree>
    <p:extLst>
      <p:ext uri="{BB962C8B-B14F-4D97-AF65-F5344CB8AC3E}">
        <p14:creationId xmlns:p14="http://schemas.microsoft.com/office/powerpoint/2010/main" val="4040142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Engage early, speak in business terms and define roles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17</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to do: actions 1 to 3</a:t>
            </a:r>
          </a:p>
        </p:txBody>
      </p:sp>
      <p:sp>
        <p:nvSpPr>
          <p:cNvPr id="12" name="Column 1 heading"/>
          <p:cNvSpPr/>
          <p:nvPr/>
        </p:nvSpPr>
        <p:spPr>
          <a:xfrm>
            <a:off x="552297" y="1828800"/>
            <a:ext cx="3532632" cy="50292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50" b="1" i="0" u="none" strike="noStrike" kern="1200" cap="none" spc="0" normalizeH="0" baseline="0" noProof="0">
                <a:ln>
                  <a:noFill/>
                </a:ln>
                <a:solidFill>
                  <a:srgbClr val="FFFFFF"/>
                </a:solidFill>
                <a:effectLst/>
                <a:uLnTx/>
                <a:uFillTx/>
                <a:latin typeface="Gartner Sans"/>
                <a:ea typeface="Gartner Sans"/>
                <a:cs typeface="Gartner Sans"/>
              </a:rPr>
              <a:t>1  Engage early and continuously</a:t>
            </a:r>
          </a:p>
        </p:txBody>
      </p:sp>
      <p:sp>
        <p:nvSpPr>
          <p:cNvPr id="13" name="Column 1 items"/>
          <p:cNvSpPr/>
          <p:nvPr/>
        </p:nvSpPr>
        <p:spPr>
          <a:xfrm>
            <a:off x="552297" y="2331720"/>
            <a:ext cx="3532632" cy="338328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700" b="0" i="0" u="none" strike="noStrike" kern="1200" cap="none" spc="0" normalizeH="0" baseline="0" noProof="0">
                <a:ln>
                  <a:noFill/>
                </a:ln>
                <a:solidFill>
                  <a:srgbClr val="152230"/>
                </a:solidFill>
                <a:effectLst/>
                <a:uLnTx/>
                <a:uFillTx/>
                <a:latin typeface="Gartner Sans"/>
                <a:ea typeface="Gartner Sans"/>
                <a:cs typeface="Gartner Sans"/>
              </a:rPr>
              <a:t>Set regular stakeholder touchpoints at the start of the project.</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700" b="0" i="0" u="none" strike="noStrike" kern="1200" cap="none" spc="0" normalizeH="0" baseline="0" noProof="0">
                <a:ln>
                  <a:noFill/>
                </a:ln>
                <a:solidFill>
                  <a:srgbClr val="152230"/>
                </a:solidFill>
                <a:effectLst/>
                <a:uLnTx/>
                <a:uFillTx/>
                <a:latin typeface="Gartner Sans"/>
                <a:ea typeface="Gartner Sans"/>
                <a:cs typeface="Gartner Sans"/>
              </a:rPr>
              <a:t>Include finance, customer success, security and compliance early, not only at project boundaries.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700" b="0" i="0" u="none" strike="noStrike" kern="1200" cap="none" spc="0" normalizeH="0" baseline="0" noProof="0">
                <a:ln>
                  <a:noFill/>
                </a:ln>
                <a:solidFill>
                  <a:srgbClr val="152230"/>
                </a:solidFill>
                <a:effectLst/>
                <a:uLnTx/>
                <a:uFillTx/>
                <a:latin typeface="Gartner Sans"/>
                <a:ea typeface="Gartner Sans"/>
                <a:cs typeface="Gartner Sans"/>
              </a:rPr>
              <a:t>Involve stakeholders in decisions, so that they act as partners and not as order takers.</a:t>
            </a:r>
          </a:p>
        </p:txBody>
      </p:sp>
      <p:sp>
        <p:nvSpPr>
          <p:cNvPr id="14" name="Column 2 heading"/>
          <p:cNvSpPr/>
          <p:nvPr/>
        </p:nvSpPr>
        <p:spPr>
          <a:xfrm>
            <a:off x="4359249" y="1828800"/>
            <a:ext cx="3532632" cy="50292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50" b="1" i="0" u="none" strike="noStrike" kern="1200" cap="none" spc="0" normalizeH="0" baseline="0" noProof="0">
                <a:ln>
                  <a:noFill/>
                </a:ln>
                <a:solidFill>
                  <a:srgbClr val="FFFFFF"/>
                </a:solidFill>
                <a:effectLst/>
                <a:uLnTx/>
                <a:uFillTx/>
                <a:latin typeface="Gartner Sans"/>
                <a:ea typeface="Gartner Sans"/>
                <a:cs typeface="Gartner Sans"/>
              </a:rPr>
              <a:t>2  Speak in business terms</a:t>
            </a:r>
          </a:p>
        </p:txBody>
      </p:sp>
      <p:sp>
        <p:nvSpPr>
          <p:cNvPr id="15" name="Column 2 items"/>
          <p:cNvSpPr/>
          <p:nvPr/>
        </p:nvSpPr>
        <p:spPr>
          <a:xfrm>
            <a:off x="4359249" y="2331720"/>
            <a:ext cx="3532632" cy="338328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700" b="0" i="0" u="none" strike="noStrike" kern="1200" cap="none" spc="0" normalizeH="0" baseline="0" noProof="0">
                <a:ln>
                  <a:noFill/>
                </a:ln>
                <a:solidFill>
                  <a:srgbClr val="152230"/>
                </a:solidFill>
                <a:effectLst/>
                <a:uLnTx/>
                <a:uFillTx/>
                <a:latin typeface="Gartner Sans"/>
                <a:ea typeface="Gartner Sans"/>
                <a:cs typeface="Gartner Sans"/>
              </a:rPr>
              <a:t>State the business case in business terms.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700" b="0" i="0" u="none" strike="noStrike" kern="1200" cap="none" spc="0" normalizeH="0" baseline="0" noProof="0">
                <a:ln>
                  <a:noFill/>
                </a:ln>
                <a:solidFill>
                  <a:srgbClr val="152230"/>
                </a:solidFill>
                <a:effectLst/>
                <a:uLnTx/>
                <a:uFillTx/>
                <a:latin typeface="Gartner Sans"/>
                <a:ea typeface="Gartner Sans"/>
                <a:cs typeface="Gartner Sans"/>
              </a:rPr>
              <a:t>Report outcomes such as revenue impact, time to market and customer satisfaction, not technical metrics alone.</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700" b="0" i="0" u="none" strike="noStrike" kern="1200" cap="none" spc="0" normalizeH="0" baseline="0" noProof="0">
                <a:ln>
                  <a:noFill/>
                </a:ln>
                <a:solidFill>
                  <a:srgbClr val="152230"/>
                </a:solidFill>
                <a:effectLst/>
                <a:uLnTx/>
                <a:uFillTx/>
                <a:latin typeface="Gartner Sans"/>
                <a:ea typeface="Gartner Sans"/>
                <a:cs typeface="Gartner Sans"/>
              </a:rPr>
              <a:t>Tailor the message to the priorities of each stakeholder.</a:t>
            </a:r>
          </a:p>
        </p:txBody>
      </p:sp>
      <p:sp>
        <p:nvSpPr>
          <p:cNvPr id="16" name="Column 3 heading"/>
          <p:cNvSpPr/>
          <p:nvPr/>
        </p:nvSpPr>
        <p:spPr>
          <a:xfrm>
            <a:off x="8166201" y="1828800"/>
            <a:ext cx="3532632" cy="502920"/>
          </a:xfrm>
          <a:prstGeom prst="rect">
            <a:avLst/>
          </a:prstGeom>
          <a:solidFill>
            <a:srgbClr val="002869"/>
          </a:solidFill>
          <a:ln>
            <a:noFill/>
          </a:ln>
        </p:spPr>
        <p:txBody>
          <a:bodyPr wrap="square" lIns="137160" tIns="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50" b="1" i="0" u="none" strike="noStrike" kern="1200" cap="none" spc="0" normalizeH="0" baseline="0" noProof="0">
                <a:ln>
                  <a:noFill/>
                </a:ln>
                <a:solidFill>
                  <a:srgbClr val="FFFFFF"/>
                </a:solidFill>
                <a:effectLst/>
                <a:uLnTx/>
                <a:uFillTx/>
                <a:latin typeface="Gartner Sans"/>
                <a:ea typeface="Gartner Sans"/>
                <a:cs typeface="Gartner Sans"/>
              </a:rPr>
              <a:t>3  Define roles and shared terms</a:t>
            </a:r>
          </a:p>
        </p:txBody>
      </p:sp>
      <p:sp>
        <p:nvSpPr>
          <p:cNvPr id="17" name="Column 3 items"/>
          <p:cNvSpPr/>
          <p:nvPr/>
        </p:nvSpPr>
        <p:spPr>
          <a:xfrm>
            <a:off x="8166201" y="2331720"/>
            <a:ext cx="3532632" cy="3383280"/>
          </a:xfrm>
          <a:prstGeom prst="rect">
            <a:avLst/>
          </a:prstGeom>
          <a:solidFill>
            <a:srgbClr val="F0F7FD"/>
          </a:solidFill>
          <a:ln>
            <a:noFill/>
          </a:ln>
        </p:spPr>
        <p:txBody>
          <a:bodyPr wrap="square" lIns="137160" tIns="128016"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700" b="0" i="0" u="none" strike="noStrike" kern="1200" cap="none" spc="0" normalizeH="0" baseline="0" noProof="0">
                <a:ln>
                  <a:noFill/>
                </a:ln>
                <a:solidFill>
                  <a:srgbClr val="152230"/>
                </a:solidFill>
                <a:effectLst/>
                <a:uLnTx/>
                <a:uFillTx/>
                <a:latin typeface="Gartner Sans"/>
                <a:ea typeface="Gartner Sans"/>
                <a:cs typeface="Gartner Sans"/>
              </a:rPr>
              <a:t>Define roles and accountability explicitly. Avoid shared or ambiguous responsibility.</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700" b="0" i="0" u="none" strike="noStrike" kern="1200" cap="none" spc="0" normalizeH="0" baseline="0" noProof="0">
                <a:ln>
                  <a:noFill/>
                </a:ln>
                <a:solidFill>
                  <a:srgbClr val="152230"/>
                </a:solidFill>
                <a:effectLst/>
                <a:uLnTx/>
                <a:uFillTx/>
                <a:latin typeface="Gartner Sans"/>
                <a:ea typeface="Gartner Sans"/>
                <a:cs typeface="Gartner Sans"/>
              </a:rPr>
              <a:t>Define and socialise project and product terminology across teams.</a:t>
            </a:r>
          </a:p>
          <a:p>
            <a:pPr marL="171450" marR="0" lvl="0" indent="-171450" algn="l" defTabSz="914400" eaLnBrk="1" fontAlgn="auto" latinLnBrk="0" hangingPunct="1">
              <a:lnSpc>
                <a:spcPct val="100000"/>
              </a:lnSpc>
              <a:spcBef>
                <a:spcPts val="400"/>
              </a:spcBef>
              <a:spcAft>
                <a:spcPts val="0"/>
              </a:spcAft>
              <a:buClrTx/>
              <a:buSzTx/>
              <a:buFont typeface="Arial"/>
              <a:buChar char="•"/>
              <a:tabLst/>
              <a:defRPr/>
            </a:pPr>
            <a:r>
              <a:rPr kumimoji="0" sz="1700" b="0" i="0" u="none" strike="noStrike" kern="1200" cap="none" spc="0" normalizeH="0" baseline="0" noProof="0">
                <a:ln>
                  <a:noFill/>
                </a:ln>
                <a:solidFill>
                  <a:srgbClr val="152230"/>
                </a:solidFill>
                <a:effectLst/>
                <a:uLnTx/>
                <a:uFillTx/>
                <a:latin typeface="Gartner Sans"/>
                <a:ea typeface="Gartner Sans"/>
                <a:cs typeface="Gartner Sans"/>
              </a:rPr>
              <a:t>Do not present one delivery model as superior. Fit the model to the work.</a:t>
            </a:r>
          </a:p>
        </p:txBody>
      </p:sp>
      <p:sp>
        <p:nvSpPr>
          <p:cNvPr id="18"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references 2 and 6 (action 1); reference 1 (action 2); references 4 and 8 (action 3). See the References slide</a:t>
            </a:r>
          </a:p>
        </p:txBody>
      </p:sp>
    </p:spTree>
    <p:extLst>
      <p:ext uri="{BB962C8B-B14F-4D97-AF65-F5344CB8AC3E}">
        <p14:creationId xmlns:p14="http://schemas.microsoft.com/office/powerpoint/2010/main" val="3292002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Agree dependencies early and keep the faster cadence</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18</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to do: action 8</a:t>
            </a:r>
          </a:p>
        </p:txBody>
      </p:sp>
      <p:pic>
        <p:nvPicPr>
          <p:cNvPr id="12" name="Figure" descr="Gartner figure: managing dependencies with coordinated cadences"/>
          <p:cNvPicPr>
            <a:picLocks noChangeAspect="1"/>
          </p:cNvPicPr>
          <p:nvPr/>
        </p:nvPicPr>
        <p:blipFill>
          <a:blip r:embed="rId2"/>
          <a:stretch>
            <a:fillRect/>
          </a:stretch>
        </p:blipFill>
        <p:spPr>
          <a:xfrm>
            <a:off x="552297" y="1828800"/>
            <a:ext cx="6309360" cy="3391281"/>
          </a:xfrm>
          <a:prstGeom prst="rect">
            <a:avLst/>
          </a:prstGeom>
        </p:spPr>
      </p:pic>
      <p:sp>
        <p:nvSpPr>
          <p:cNvPr id="13" name="Heading"/>
          <p:cNvSpPr txBox="1"/>
          <p:nvPr/>
        </p:nvSpPr>
        <p:spPr>
          <a:xfrm>
            <a:off x="7227417" y="1810512"/>
            <a:ext cx="4471415" cy="279737"/>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What the figure shows</a:t>
            </a:r>
          </a:p>
        </p:txBody>
      </p:sp>
      <p:sp>
        <p:nvSpPr>
          <p:cNvPr id="14" name="What the figure shows"/>
          <p:cNvSpPr txBox="1"/>
          <p:nvPr/>
        </p:nvSpPr>
        <p:spPr>
          <a:xfrm>
            <a:off x="7227417" y="2148840"/>
            <a:ext cx="4471415" cy="1554480"/>
          </a:xfrm>
          <a:prstGeom prst="rect">
            <a:avLst/>
          </a:prstGeom>
          <a:noFill/>
        </p:spPr>
        <p:txBody>
          <a:bodyPr wrap="square" lIns="0" tIns="0" rIns="0" bIns="0" anchor="t">
            <a:spAutoFit/>
          </a:bodyPr>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Teams on a faster cadence depend on teams on a slower cadence.</a:t>
            </a:r>
          </a:p>
          <a:p>
            <a:pPr marL="171450" marR="0" lvl="0" indent="-171450" algn="l" defTabSz="914400" eaLnBrk="1" fontAlgn="auto" latinLnBrk="0" hangingPunct="1">
              <a:lnSpc>
                <a:spcPct val="100000"/>
              </a:lnSpc>
              <a:spcBef>
                <a:spcPts val="60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The dependency is communicated early, encountered before it is satisfied, deferred and then delivered.</a:t>
            </a:r>
          </a:p>
        </p:txBody>
      </p:sp>
      <p:sp>
        <p:nvSpPr>
          <p:cNvPr id="15" name="How to apply it"/>
          <p:cNvSpPr/>
          <p:nvPr/>
        </p:nvSpPr>
        <p:spPr>
          <a:xfrm>
            <a:off x="7227417" y="3840480"/>
            <a:ext cx="4471415" cy="1920240"/>
          </a:xfrm>
          <a:prstGeom prst="rect">
            <a:avLst/>
          </a:prstGeom>
          <a:solidFill>
            <a:srgbClr val="F0F7FD"/>
          </a:solidFill>
          <a:ln>
            <a:noFill/>
          </a:ln>
        </p:spPr>
        <p:txBody>
          <a:bodyPr wrap="square" lIns="201168" tIns="73152" rIns="182880" bIns="73152"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002869"/>
                </a:solidFill>
                <a:effectLst/>
                <a:uLnTx/>
                <a:uFillTx/>
                <a:latin typeface="Gartner Sans"/>
                <a:ea typeface="Gartner Sans"/>
                <a:cs typeface="Gartner Sans"/>
              </a:rPr>
              <a:t>How to apply it</a:t>
            </a:r>
          </a:p>
          <a:p>
            <a:pPr marL="0" marR="0" lvl="0" indent="0" algn="l" defTabSz="914400" eaLnBrk="1" fontAlgn="auto" latinLnBrk="0" hangingPunct="1">
              <a:lnSpc>
                <a:spcPct val="100000"/>
              </a:lnSpc>
              <a:spcBef>
                <a:spcPts val="40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Identify dependencies as early as possible.</a:t>
            </a:r>
          </a:p>
          <a:p>
            <a:pPr marL="0" marR="0" lvl="0" indent="0" algn="l" defTabSz="914400" eaLnBrk="1" fontAlgn="auto" latinLnBrk="0" hangingPunct="1">
              <a:lnSpc>
                <a:spcPct val="100000"/>
              </a:lnSpc>
              <a:spcBef>
                <a:spcPts val="40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Agree with the other team how each will be met.</a:t>
            </a:r>
          </a:p>
          <a:p>
            <a:pPr marL="0" marR="0" lvl="0" indent="0" algn="l" defTabSz="914400" eaLnBrk="1" fontAlgn="auto" latinLnBrk="0" hangingPunct="1">
              <a:lnSpc>
                <a:spcPct val="100000"/>
              </a:lnSpc>
              <a:spcBef>
                <a:spcPts val="40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Continue on the assumption that it will be met, then run integration tests on delivery.</a:t>
            </a:r>
          </a:p>
        </p:txBody>
      </p:sp>
      <p:sp>
        <p:nvSpPr>
          <p:cNvPr id="16"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Figure source: reference 7 (see the References slide)</a:t>
            </a:r>
          </a:p>
        </p:txBody>
      </p:sp>
    </p:spTree>
    <p:extLst>
      <p:ext uri="{BB962C8B-B14F-4D97-AF65-F5344CB8AC3E}">
        <p14:creationId xmlns:p14="http://schemas.microsoft.com/office/powerpoint/2010/main" val="3161807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From the research to your stakeholders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19</a:t>
            </a:r>
          </a:p>
        </p:txBody>
      </p:sp>
      <p:sp>
        <p:nvSpPr>
          <p:cNvPr id="10" name="Card heading"/>
          <p:cNvSpPr/>
          <p:nvPr/>
        </p:nvSpPr>
        <p:spPr>
          <a:xfrm>
            <a:off x="552297" y="1325880"/>
            <a:ext cx="5074920" cy="502920"/>
          </a:xfrm>
          <a:prstGeom prst="rect">
            <a:avLst/>
          </a:prstGeom>
          <a:solidFill>
            <a:srgbClr val="F0F7FD"/>
          </a:solidFill>
          <a:ln w="12700">
            <a:solidFill>
              <a:srgbClr val="D0D7DF"/>
            </a:solidFill>
          </a:ln>
        </p:spPr>
        <p:txBody>
          <a:bodyPr wrap="square" lIns="228600" tIns="0" rIns="228600" bIns="0" rtlCol="0" anchor="ctr"/>
          <a:lstStyle/>
          <a:p>
            <a:pPr algn="l"/>
            <a:r>
              <a:rPr sz="1800" b="1">
                <a:solidFill>
                  <a:srgbClr val="002869"/>
                </a:solidFill>
                <a:latin typeface="Gartner Sans"/>
                <a:ea typeface="Gartner Sans"/>
                <a:cs typeface="Gartner Sans"/>
              </a:rPr>
              <a:t>What Gartner sees</a:t>
            </a:r>
          </a:p>
        </p:txBody>
      </p:sp>
      <p:sp>
        <p:nvSpPr>
          <p:cNvPr id="11" name="Card body"/>
          <p:cNvSpPr/>
          <p:nvPr/>
        </p:nvSpPr>
        <p:spPr>
          <a:xfrm>
            <a:off x="552297" y="1828800"/>
            <a:ext cx="5074920" cy="2788920"/>
          </a:xfrm>
          <a:prstGeom prst="rect">
            <a:avLst/>
          </a:prstGeom>
          <a:solidFill>
            <a:srgbClr val="FFFFFF"/>
          </a:solidFill>
          <a:ln w="12700">
            <a:solidFill>
              <a:srgbClr val="D0D7DF"/>
            </a:solidFill>
          </a:ln>
        </p:spPr>
        <p:txBody>
          <a:bodyPr wrap="square" lIns="274320" tIns="274320" rIns="228600" bIns="137160" rtlCol="0" anchor="t"/>
          <a:lstStyle/>
          <a:p>
            <a:pPr marL="171450" indent="-171450" algn="l">
              <a:buFont typeface="Arial"/>
              <a:buChar char="•"/>
            </a:pPr>
            <a:r>
              <a:rPr sz="1800" b="0">
                <a:solidFill>
                  <a:srgbClr val="152230"/>
                </a:solidFill>
                <a:latin typeface="Gartner Sans"/>
                <a:ea typeface="Gartner Sans"/>
                <a:cs typeface="Gartner Sans"/>
              </a:rPr>
              <a:t>Ten stakeholder groups take part in software delivery.</a:t>
            </a:r>
          </a:p>
          <a:p>
            <a:pPr marL="171450" indent="-171450" algn="l">
              <a:spcBef>
                <a:spcPts val="1000"/>
              </a:spcBef>
              <a:buFont typeface="Arial"/>
              <a:buChar char="•"/>
            </a:pPr>
            <a:r>
              <a:rPr sz="1800" b="0">
                <a:solidFill>
                  <a:srgbClr val="152230"/>
                </a:solidFill>
                <a:latin typeface="Gartner Sans"/>
                <a:ea typeface="Gartner Sans"/>
                <a:cs typeface="Gartner Sans"/>
              </a:rPr>
              <a:t>Engagement often fails through unclear roles, late involvement and conflicting priorities.</a:t>
            </a:r>
          </a:p>
          <a:p>
            <a:pPr marL="171450" indent="-171450" algn="l">
              <a:spcBef>
                <a:spcPts val="1000"/>
              </a:spcBef>
              <a:buFont typeface="Arial"/>
              <a:buChar char="•"/>
            </a:pPr>
            <a:r>
              <a:rPr sz="1800" b="0">
                <a:solidFill>
                  <a:srgbClr val="152230"/>
                </a:solidFill>
                <a:latin typeface="Gartner Sans"/>
                <a:ea typeface="Gartner Sans"/>
                <a:cs typeface="Gartner Sans"/>
              </a:rPr>
              <a:t>The first actions are to engage early, speak in business terms and define roles.</a:t>
            </a:r>
          </a:p>
        </p:txBody>
      </p:sp>
      <p:sp>
        <p:nvSpPr>
          <p:cNvPr id="12" name="Card heading"/>
          <p:cNvSpPr/>
          <p:nvPr/>
        </p:nvSpPr>
        <p:spPr>
          <a:xfrm>
            <a:off x="6623913" y="1325880"/>
            <a:ext cx="5074920" cy="502920"/>
          </a:xfrm>
          <a:prstGeom prst="rect">
            <a:avLst/>
          </a:prstGeom>
          <a:solidFill>
            <a:srgbClr val="002869"/>
          </a:solidFill>
          <a:ln w="12700">
            <a:solidFill>
              <a:srgbClr val="002869"/>
            </a:solidFill>
          </a:ln>
        </p:spPr>
        <p:txBody>
          <a:bodyPr wrap="square" lIns="228600" tIns="0" rIns="228600" bIns="0" rtlCol="0" anchor="ctr"/>
          <a:lstStyle/>
          <a:p>
            <a:pPr algn="l"/>
            <a:r>
              <a:rPr sz="1800" b="1">
                <a:solidFill>
                  <a:srgbClr val="FFFFFF"/>
                </a:solidFill>
                <a:latin typeface="Gartner Sans"/>
                <a:ea typeface="Gartner Sans"/>
                <a:cs typeface="Gartner Sans"/>
              </a:rPr>
              <a:t>In your context</a:t>
            </a:r>
          </a:p>
        </p:txBody>
      </p:sp>
      <p:sp>
        <p:nvSpPr>
          <p:cNvPr id="13" name="Card body"/>
          <p:cNvSpPr/>
          <p:nvPr/>
        </p:nvSpPr>
        <p:spPr>
          <a:xfrm>
            <a:off x="6623913" y="1828800"/>
            <a:ext cx="5074920" cy="2788920"/>
          </a:xfrm>
          <a:prstGeom prst="rect">
            <a:avLst/>
          </a:prstGeom>
          <a:solidFill>
            <a:srgbClr val="FFFFFF"/>
          </a:solidFill>
          <a:ln w="12700">
            <a:solidFill>
              <a:srgbClr val="002869"/>
            </a:solidFill>
          </a:ln>
        </p:spPr>
        <p:txBody>
          <a:bodyPr wrap="square" lIns="274320" tIns="274320" rIns="228600" bIns="137160" rtlCol="0" anchor="t"/>
          <a:lstStyle/>
          <a:p>
            <a:pPr marL="171450" indent="-171450" algn="l">
              <a:buFont typeface="Arial"/>
              <a:buChar char="•"/>
            </a:pPr>
            <a:r>
              <a:rPr sz="1800" b="0">
                <a:solidFill>
                  <a:srgbClr val="152230"/>
                </a:solidFill>
                <a:latin typeface="Gartner Sans"/>
                <a:ea typeface="Gartner Sans"/>
                <a:cs typeface="Gartner Sans"/>
              </a:rPr>
              <a:t>Identify your own stakeholders.</a:t>
            </a:r>
          </a:p>
          <a:p>
            <a:pPr marL="171450" indent="-171450" algn="l">
              <a:spcBef>
                <a:spcPts val="1000"/>
              </a:spcBef>
              <a:buFont typeface="Arial"/>
              <a:buChar char="•"/>
            </a:pPr>
            <a:r>
              <a:rPr sz="1800" b="0">
                <a:solidFill>
                  <a:srgbClr val="152230"/>
                </a:solidFill>
                <a:latin typeface="Gartner Sans"/>
                <a:ea typeface="Gartner Sans"/>
                <a:cs typeface="Gartner Sans"/>
              </a:rPr>
              <a:t>Select the seven who matter most to delivery.</a:t>
            </a:r>
          </a:p>
          <a:p>
            <a:pPr marL="171450" indent="-171450" algn="l">
              <a:spcBef>
                <a:spcPts val="1000"/>
              </a:spcBef>
              <a:buFont typeface="Arial"/>
              <a:buChar char="•"/>
            </a:pPr>
            <a:r>
              <a:rPr sz="1800" b="0">
                <a:solidFill>
                  <a:srgbClr val="152230"/>
                </a:solidFill>
                <a:latin typeface="Gartner Sans"/>
                <a:ea typeface="Gartner Sans"/>
                <a:cs typeface="Gartner Sans"/>
              </a:rPr>
              <a:t>Capture what each one wants and how they will judge success.</a:t>
            </a:r>
          </a:p>
        </p:txBody>
      </p:sp>
      <p:sp>
        <p:nvSpPr>
          <p:cNvPr id="14" name="Arrow"/>
          <p:cNvSpPr/>
          <p:nvPr/>
        </p:nvSpPr>
        <p:spPr>
          <a:xfrm>
            <a:off x="5810097" y="2743200"/>
            <a:ext cx="630935" cy="548640"/>
          </a:xfrm>
          <a:prstGeom prst="rightArrow">
            <a:avLst/>
          </a:prstGeom>
          <a:solidFill>
            <a:srgbClr val="002869"/>
          </a:solidFill>
          <a:ln>
            <a:noFill/>
          </a:ln>
        </p:spPr>
        <p:txBody>
          <a:bodyPr rtlCol="0" anchor="ctr"/>
          <a:lstStyle/>
          <a:p>
            <a:pPr algn="ctr"/>
            <a:endParaRPr/>
          </a:p>
        </p:txBody>
      </p:sp>
      <p:sp>
        <p:nvSpPr>
          <p:cNvPr id="15" name="Note"/>
          <p:cNvSpPr/>
          <p:nvPr/>
        </p:nvSpPr>
        <p:spPr>
          <a:xfrm>
            <a:off x="552297" y="4892040"/>
            <a:ext cx="11146536" cy="68580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The exercise: </a:t>
            </a:r>
            <a:r>
              <a:rPr sz="1800" b="0">
                <a:solidFill>
                  <a:srgbClr val="152230"/>
                </a:solidFill>
                <a:latin typeface="Gartner Sans"/>
                <a:ea typeface="Gartner Sans"/>
                <a:cs typeface="Gartner Sans"/>
              </a:rPr>
              <a:t>55 minutes in your teams.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Exercise: our stakeholders, their goals and success criteria</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20</a:t>
            </a:r>
          </a:p>
        </p:txBody>
      </p:sp>
      <p:sp>
        <p:nvSpPr>
          <p:cNvPr id="10" name="Heading"/>
          <p:cNvSpPr txBox="1"/>
          <p:nvPr/>
        </p:nvSpPr>
        <p:spPr>
          <a:xfrm>
            <a:off x="552297" y="1325880"/>
            <a:ext cx="6675120" cy="274320"/>
          </a:xfrm>
          <a:prstGeom prst="rect">
            <a:avLst/>
          </a:prstGeom>
          <a:noFill/>
        </p:spPr>
        <p:txBody>
          <a:bodyPr wrap="square" lIns="0" tIns="0" rIns="0" bIns="0" anchor="t">
            <a:spAutoFit/>
          </a:bodyPr>
          <a:lstStyle/>
          <a:p>
            <a:pPr algn="l"/>
            <a:r>
              <a:rPr sz="1700" b="1">
                <a:solidFill>
                  <a:srgbClr val="002869"/>
                </a:solidFill>
                <a:latin typeface="Gartner Sans"/>
                <a:ea typeface="Gartner Sans"/>
                <a:cs typeface="Gartner Sans"/>
              </a:rPr>
              <a:t>In your team (55 minutes)</a:t>
            </a:r>
          </a:p>
        </p:txBody>
      </p:sp>
      <p:sp>
        <p:nvSpPr>
          <p:cNvPr id="11" name="Setup"/>
          <p:cNvSpPr txBox="1"/>
          <p:nvPr/>
        </p:nvSpPr>
        <p:spPr>
          <a:xfrm>
            <a:off x="552297" y="1645920"/>
            <a:ext cx="6675120" cy="274320"/>
          </a:xfrm>
          <a:prstGeom prst="rect">
            <a:avLst/>
          </a:prstGeom>
          <a:noFill/>
        </p:spPr>
        <p:txBody>
          <a:bodyPr wrap="square" lIns="0" tIns="0" rIns="0" bIns="0" anchor="t">
            <a:spAutoFit/>
          </a:bodyPr>
          <a:lstStyle/>
          <a:p>
            <a:pPr algn="l"/>
            <a:r>
              <a:rPr sz="1500" b="0">
                <a:solidFill>
                  <a:srgbClr val="152230"/>
                </a:solidFill>
                <a:latin typeface="Gartner Sans"/>
                <a:ea typeface="Gartner Sans"/>
                <a:cs typeface="Gartner Sans"/>
              </a:rPr>
              <a:t>Choose one current project or service. Pick one person to write on a flipchart.</a:t>
            </a:r>
          </a:p>
        </p:txBody>
      </p:sp>
      <p:cxnSp>
        <p:nvCxnSpPr>
          <p:cNvPr id="12" name="Divider"/>
          <p:cNvCxnSpPr/>
          <p:nvPr/>
        </p:nvCxnSpPr>
        <p:spPr>
          <a:xfrm>
            <a:off x="552297" y="2011680"/>
            <a:ext cx="6675120" cy="0"/>
          </a:xfrm>
          <a:prstGeom prst="line">
            <a:avLst/>
          </a:prstGeom>
          <a:ln w="9525">
            <a:solidFill>
              <a:srgbClr val="D0D7DF"/>
            </a:solidFill>
          </a:ln>
        </p:spPr>
      </p:cxnSp>
      <p:sp>
        <p:nvSpPr>
          <p:cNvPr id="13" name="Number 1"/>
          <p:cNvSpPr/>
          <p:nvPr/>
        </p:nvSpPr>
        <p:spPr>
          <a:xfrm>
            <a:off x="552297" y="2193643"/>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4" name="Step 1"/>
          <p:cNvSpPr txBox="1"/>
          <p:nvPr/>
        </p:nvSpPr>
        <p:spPr>
          <a:xfrm>
            <a:off x="1027785" y="2047831"/>
            <a:ext cx="5285231" cy="602521"/>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Brainstorm as many stakeholders as possible. Everyone contributes.</a:t>
            </a:r>
          </a:p>
        </p:txBody>
      </p:sp>
      <p:sp>
        <p:nvSpPr>
          <p:cNvPr id="15" name="Step 1 time"/>
          <p:cNvSpPr txBox="1"/>
          <p:nvPr/>
        </p:nvSpPr>
        <p:spPr>
          <a:xfrm>
            <a:off x="6358737" y="2047831"/>
            <a:ext cx="868680" cy="602521"/>
          </a:xfrm>
          <a:prstGeom prst="rect">
            <a:avLst/>
          </a:prstGeom>
          <a:noFill/>
        </p:spPr>
        <p:txBody>
          <a:bodyPr wrap="square" lIns="0" tIns="0" rIns="0" bIns="0" anchor="ctr">
            <a:spAutoFit/>
          </a:bodyPr>
          <a:lstStyle/>
          <a:p>
            <a:pPr algn="r"/>
            <a:r>
              <a:rPr sz="1800" b="0">
                <a:solidFill>
                  <a:srgbClr val="526273"/>
                </a:solidFill>
                <a:latin typeface="Gartner Sans"/>
                <a:ea typeface="Gartner Sans"/>
                <a:cs typeface="Gartner Sans"/>
              </a:rPr>
              <a:t>15 min</a:t>
            </a:r>
          </a:p>
        </p:txBody>
      </p:sp>
      <p:cxnSp>
        <p:nvCxnSpPr>
          <p:cNvPr id="16" name="Divider"/>
          <p:cNvCxnSpPr/>
          <p:nvPr/>
        </p:nvCxnSpPr>
        <p:spPr>
          <a:xfrm>
            <a:off x="552297" y="2686503"/>
            <a:ext cx="6675120" cy="0"/>
          </a:xfrm>
          <a:prstGeom prst="line">
            <a:avLst/>
          </a:prstGeom>
          <a:ln w="9525">
            <a:solidFill>
              <a:srgbClr val="D0D7DF"/>
            </a:solidFill>
          </a:ln>
        </p:spPr>
      </p:cxnSp>
      <p:sp>
        <p:nvSpPr>
          <p:cNvPr id="17" name="Number 2"/>
          <p:cNvSpPr/>
          <p:nvPr/>
        </p:nvSpPr>
        <p:spPr>
          <a:xfrm>
            <a:off x="552297" y="2868467"/>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8" name="Step 2"/>
          <p:cNvSpPr txBox="1"/>
          <p:nvPr/>
        </p:nvSpPr>
        <p:spPr>
          <a:xfrm>
            <a:off x="1027785" y="2722655"/>
            <a:ext cx="5285231" cy="602521"/>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Select the seven key stakeholders who most affect delivery, or are most affected by it.</a:t>
            </a:r>
          </a:p>
        </p:txBody>
      </p:sp>
      <p:sp>
        <p:nvSpPr>
          <p:cNvPr id="19" name="Step 2 time"/>
          <p:cNvSpPr txBox="1"/>
          <p:nvPr/>
        </p:nvSpPr>
        <p:spPr>
          <a:xfrm>
            <a:off x="6358737" y="2722655"/>
            <a:ext cx="868680" cy="602521"/>
          </a:xfrm>
          <a:prstGeom prst="rect">
            <a:avLst/>
          </a:prstGeom>
          <a:noFill/>
        </p:spPr>
        <p:txBody>
          <a:bodyPr wrap="square" lIns="0" tIns="0" rIns="0" bIns="0" anchor="ctr">
            <a:spAutoFit/>
          </a:bodyPr>
          <a:lstStyle/>
          <a:p>
            <a:pPr algn="r"/>
            <a:r>
              <a:rPr sz="1800" b="0">
                <a:solidFill>
                  <a:srgbClr val="526273"/>
                </a:solidFill>
                <a:latin typeface="Gartner Sans"/>
                <a:ea typeface="Gartner Sans"/>
                <a:cs typeface="Gartner Sans"/>
              </a:rPr>
              <a:t>10 min</a:t>
            </a:r>
          </a:p>
        </p:txBody>
      </p:sp>
      <p:cxnSp>
        <p:nvCxnSpPr>
          <p:cNvPr id="20" name="Divider"/>
          <p:cNvCxnSpPr/>
          <p:nvPr/>
        </p:nvCxnSpPr>
        <p:spPr>
          <a:xfrm>
            <a:off x="552297" y="3361327"/>
            <a:ext cx="6675120" cy="0"/>
          </a:xfrm>
          <a:prstGeom prst="line">
            <a:avLst/>
          </a:prstGeom>
          <a:ln w="9525">
            <a:solidFill>
              <a:srgbClr val="D0D7DF"/>
            </a:solidFill>
          </a:ln>
        </p:spPr>
      </p:cxnSp>
      <p:sp>
        <p:nvSpPr>
          <p:cNvPr id="21" name="Number 3"/>
          <p:cNvSpPr/>
          <p:nvPr/>
        </p:nvSpPr>
        <p:spPr>
          <a:xfrm>
            <a:off x="552297" y="3543291"/>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22" name="Step 3"/>
          <p:cNvSpPr txBox="1"/>
          <p:nvPr/>
        </p:nvSpPr>
        <p:spPr>
          <a:xfrm>
            <a:off x="1027785" y="3397478"/>
            <a:ext cx="5285231" cy="602521"/>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Capture the goal of each stakeholder and how they will judge success.</a:t>
            </a:r>
          </a:p>
        </p:txBody>
      </p:sp>
      <p:sp>
        <p:nvSpPr>
          <p:cNvPr id="23" name="Step 3 time"/>
          <p:cNvSpPr txBox="1"/>
          <p:nvPr/>
        </p:nvSpPr>
        <p:spPr>
          <a:xfrm>
            <a:off x="6358737" y="3397478"/>
            <a:ext cx="868680" cy="602521"/>
          </a:xfrm>
          <a:prstGeom prst="rect">
            <a:avLst/>
          </a:prstGeom>
          <a:noFill/>
        </p:spPr>
        <p:txBody>
          <a:bodyPr wrap="square" lIns="0" tIns="0" rIns="0" bIns="0" anchor="ctr">
            <a:spAutoFit/>
          </a:bodyPr>
          <a:lstStyle/>
          <a:p>
            <a:pPr algn="r"/>
            <a:r>
              <a:rPr sz="1800" b="0">
                <a:solidFill>
                  <a:srgbClr val="526273"/>
                </a:solidFill>
                <a:latin typeface="Gartner Sans"/>
                <a:ea typeface="Gartner Sans"/>
                <a:cs typeface="Gartner Sans"/>
              </a:rPr>
              <a:t>30 min</a:t>
            </a:r>
          </a:p>
        </p:txBody>
      </p:sp>
      <p:sp>
        <p:nvSpPr>
          <p:cNvPr id="28" name="Card heading"/>
          <p:cNvSpPr/>
          <p:nvPr/>
        </p:nvSpPr>
        <p:spPr>
          <a:xfrm>
            <a:off x="7680960" y="1325880"/>
            <a:ext cx="4017873"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For step 3, ask</a:t>
            </a:r>
          </a:p>
        </p:txBody>
      </p:sp>
      <p:sp>
        <p:nvSpPr>
          <p:cNvPr id="29" name="Card body"/>
          <p:cNvSpPr/>
          <p:nvPr/>
        </p:nvSpPr>
        <p:spPr>
          <a:xfrm>
            <a:off x="7680960" y="1828800"/>
            <a:ext cx="4017873" cy="224028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800" b="0">
                <a:solidFill>
                  <a:srgbClr val="152230"/>
                </a:solidFill>
                <a:latin typeface="Gartner Sans"/>
                <a:ea typeface="Gartner Sans"/>
                <a:cs typeface="Gartner Sans"/>
              </a:rPr>
              <a:t>What do they want to achieve?</a:t>
            </a:r>
          </a:p>
          <a:p>
            <a:pPr marL="171450" indent="-171450" algn="l">
              <a:spcBef>
                <a:spcPts val="600"/>
              </a:spcBef>
              <a:buFont typeface="Arial"/>
              <a:buChar char="•"/>
            </a:pPr>
            <a:r>
              <a:rPr sz="1800" b="0">
                <a:solidFill>
                  <a:srgbClr val="152230"/>
                </a:solidFill>
                <a:latin typeface="Gartner Sans"/>
                <a:ea typeface="Gartner Sans"/>
                <a:cs typeface="Gartner Sans"/>
              </a:rPr>
              <a:t>How will they judge success?</a:t>
            </a:r>
          </a:p>
          <a:p>
            <a:pPr marL="171450" indent="-171450" algn="l">
              <a:spcBef>
                <a:spcPts val="600"/>
              </a:spcBef>
              <a:buFont typeface="Arial"/>
              <a:buChar char="•"/>
            </a:pPr>
            <a:r>
              <a:rPr sz="1800" b="0">
                <a:solidFill>
                  <a:srgbClr val="152230"/>
                </a:solidFill>
                <a:latin typeface="Gartner Sans"/>
                <a:ea typeface="Gartner Sans"/>
                <a:cs typeface="Gartner Sans"/>
              </a:rPr>
              <a:t>By when?</a:t>
            </a:r>
          </a:p>
          <a:p>
            <a:pPr marL="171450" indent="-171450" algn="l">
              <a:spcBef>
                <a:spcPts val="600"/>
              </a:spcBef>
              <a:buFont typeface="Arial"/>
              <a:buChar char="•"/>
            </a:pPr>
            <a:r>
              <a:rPr sz="1800" b="0">
                <a:solidFill>
                  <a:srgbClr val="152230"/>
                </a:solidFill>
                <a:latin typeface="Gartner Sans"/>
                <a:ea typeface="Gartner Sans"/>
                <a:cs typeface="Gartner Sans"/>
              </a:rPr>
              <a:t>What would they count as failure?</a:t>
            </a:r>
          </a:p>
        </p:txBody>
      </p:sp>
      <p:sp>
        <p:nvSpPr>
          <p:cNvPr id="30" name="Table instruction"/>
          <p:cNvSpPr txBox="1"/>
          <p:nvPr/>
        </p:nvSpPr>
        <p:spPr>
          <a:xfrm>
            <a:off x="552297" y="4206240"/>
            <a:ext cx="11146536" cy="256032"/>
          </a:xfrm>
          <a:prstGeom prst="rect">
            <a:avLst/>
          </a:prstGeom>
          <a:noFill/>
        </p:spPr>
        <p:txBody>
          <a:bodyPr wrap="square" lIns="0" tIns="0" rIns="0" bIns="0" anchor="t">
            <a:spAutoFit/>
          </a:bodyPr>
          <a:lstStyle/>
          <a:p>
            <a:pPr algn="l"/>
            <a:r>
              <a:rPr sz="1600" b="1">
                <a:solidFill>
                  <a:srgbClr val="002869"/>
                </a:solidFill>
                <a:latin typeface="Gartner Sans"/>
                <a:ea typeface="Gartner Sans"/>
                <a:cs typeface="Gartner Sans"/>
              </a:rPr>
              <a:t>Use these three columns on the flipchart. Example:</a:t>
            </a:r>
          </a:p>
        </p:txBody>
      </p:sp>
      <p:graphicFrame>
        <p:nvGraphicFramePr>
          <p:cNvPr id="31" name="Table"/>
          <p:cNvGraphicFramePr>
            <a:graphicFrameLocks noGrp="1"/>
          </p:cNvGraphicFramePr>
          <p:nvPr/>
        </p:nvGraphicFramePr>
        <p:xfrm>
          <a:off x="552297" y="4507992"/>
          <a:ext cx="11146535" cy="801624"/>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379975">
                  <a:extLst>
                    <a:ext uri="{9D8B030D-6E8A-4147-A177-3AD203B41FA5}">
                      <a16:colId xmlns:a16="http://schemas.microsoft.com/office/drawing/2014/main" val="20002"/>
                    </a:ext>
                  </a:extLst>
                </a:gridCol>
              </a:tblGrid>
              <a:tr h="329184">
                <a:tc>
                  <a:txBody>
                    <a:bodyPr/>
                    <a:lstStyle/>
                    <a:p>
                      <a:pPr algn="l"/>
                      <a:r>
                        <a:rPr sz="1700" b="1">
                          <a:solidFill>
                            <a:srgbClr val="FFFFFF"/>
                          </a:solidFill>
                          <a:latin typeface="Gartner Sans"/>
                          <a:ea typeface="Gartner Sans"/>
                          <a:cs typeface="Gartner Sans"/>
                        </a:rPr>
                        <a:t>Stakeholder</a:t>
                      </a:r>
                    </a:p>
                  </a:txBody>
                  <a:tcPr marL="137160" marR="137160" anchor="ctr">
                    <a:solidFill>
                      <a:srgbClr val="002869"/>
                    </a:solidFill>
                  </a:tcPr>
                </a:tc>
                <a:tc>
                  <a:txBody>
                    <a:bodyPr/>
                    <a:lstStyle/>
                    <a:p>
                      <a:pPr algn="l"/>
                      <a:r>
                        <a:rPr sz="1700" b="1">
                          <a:solidFill>
                            <a:srgbClr val="FFFFFF"/>
                          </a:solidFill>
                          <a:latin typeface="Gartner Sans"/>
                          <a:ea typeface="Gartner Sans"/>
                          <a:cs typeface="Gartner Sans"/>
                        </a:rPr>
                        <a:t>Their goal</a:t>
                      </a:r>
                    </a:p>
                  </a:txBody>
                  <a:tcPr marL="137160" marR="137160" anchor="ctr">
                    <a:solidFill>
                      <a:srgbClr val="002869"/>
                    </a:solidFill>
                  </a:tcPr>
                </a:tc>
                <a:tc>
                  <a:txBody>
                    <a:bodyPr/>
                    <a:lstStyle/>
                    <a:p>
                      <a:pPr algn="l"/>
                      <a:r>
                        <a:rPr sz="1700" b="1">
                          <a:solidFill>
                            <a:srgbClr val="FFFFFF"/>
                          </a:solidFill>
                          <a:latin typeface="Gartner Sans"/>
                          <a:ea typeface="Gartner Sans"/>
                          <a:cs typeface="Gartner Sans"/>
                        </a:rPr>
                        <a:t>Their success criteria</a:t>
                      </a:r>
                    </a:p>
                  </a:txBody>
                  <a:tcPr marL="137160" marR="137160" anchor="ctr">
                    <a:solidFill>
                      <a:srgbClr val="002869"/>
                    </a:solidFill>
                  </a:tcPr>
                </a:tc>
                <a:extLst>
                  <a:ext uri="{0D108BD9-81ED-4DB2-BD59-A6C34878D82A}">
                    <a16:rowId xmlns:a16="http://schemas.microsoft.com/office/drawing/2014/main" val="10000"/>
                  </a:ext>
                </a:extLst>
              </a:tr>
              <a:tr h="457200">
                <a:tc>
                  <a:txBody>
                    <a:bodyPr/>
                    <a:lstStyle/>
                    <a:p>
                      <a:pPr algn="l"/>
                      <a:r>
                        <a:rPr sz="1700" b="1">
                          <a:solidFill>
                            <a:srgbClr val="152230"/>
                          </a:solidFill>
                          <a:latin typeface="Gartner Sans"/>
                          <a:ea typeface="Gartner Sans"/>
                          <a:cs typeface="Gartner Sans"/>
                        </a:rPr>
                        <a:t>User representatives</a:t>
                      </a:r>
                    </a:p>
                  </a:txBody>
                  <a:tcPr marL="137160" marR="137160" anchor="ctr">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Software that is easy to use and fits their daily work</a:t>
                      </a:r>
                    </a:p>
                  </a:txBody>
                  <a:tcPr marL="137160" marR="137160" anchor="ctr">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Staff complete the main tasks without help, and support calls fall</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bl>
          </a:graphicData>
        </a:graphic>
      </p:graphicFrame>
      <p:sp>
        <p:nvSpPr>
          <p:cNvPr id="32" name="Note"/>
          <p:cNvSpPr/>
          <p:nvPr/>
        </p:nvSpPr>
        <p:spPr>
          <a:xfrm>
            <a:off x="552297" y="5597546"/>
            <a:ext cx="11146536" cy="411480"/>
          </a:xfrm>
          <a:prstGeom prst="rect">
            <a:avLst/>
          </a:prstGeom>
          <a:solidFill>
            <a:srgbClr val="F0F7FD"/>
          </a:solidFill>
          <a:ln>
            <a:noFill/>
          </a:ln>
        </p:spPr>
        <p:txBody>
          <a:bodyPr wrap="square" lIns="228600" rIns="228600" rtlCol="0" anchor="ctr"/>
          <a:lstStyle/>
          <a:p>
            <a:pPr algn="l"/>
            <a:r>
              <a:rPr sz="1500" b="1">
                <a:solidFill>
                  <a:srgbClr val="002869"/>
                </a:solidFill>
                <a:latin typeface="Gartner Sans"/>
                <a:ea typeface="Gartner Sans"/>
                <a:cs typeface="Gartner Sans"/>
              </a:rPr>
              <a:t>Add a ? </a:t>
            </a:r>
            <a:r>
              <a:rPr sz="1500" b="0">
                <a:solidFill>
                  <a:srgbClr val="152230"/>
                </a:solidFill>
                <a:latin typeface="Gartner Sans"/>
                <a:ea typeface="Gartner Sans"/>
                <a:cs typeface="Gartner Sans"/>
              </a:rPr>
              <a:t>beside any goal or criterion you need to check with the stakeholder. Be ready to share your flipchart with the room.</a:t>
            </a:r>
          </a:p>
        </p:txBody>
      </p:sp>
    </p:spTree>
    <p:extLst>
      <p:ext uri="{BB962C8B-B14F-4D97-AF65-F5344CB8AC3E}">
        <p14:creationId xmlns:p14="http://schemas.microsoft.com/office/powerpoint/2010/main" val="1973003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Example: what a team might produce</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21</a:t>
            </a:r>
          </a:p>
        </p:txBody>
      </p:sp>
      <p:pic>
        <p:nvPicPr>
          <p:cNvPr id="18" name="Hand-drawn example" descr="Hand-drawn example of the exercise output: seven stakeholders written on index cards, each with a yellow sticky note for their goal and a green note for their success criterion. Two criteria are marked with a question mark."/>
          <p:cNvPicPr>
            <a:picLocks noChangeAspect="1"/>
          </p:cNvPicPr>
          <p:nvPr/>
        </p:nvPicPr>
        <p:blipFill>
          <a:blip r:embed="rId2"/>
          <a:stretch>
            <a:fillRect/>
          </a:stretch>
        </p:blipFill>
        <p:spPr>
          <a:xfrm>
            <a:off x="552297" y="1188720"/>
            <a:ext cx="11146536" cy="4527631"/>
          </a:xfrm>
          <a:prstGeom prst="rect">
            <a:avLst/>
          </a:prstGeom>
        </p:spPr>
      </p:pic>
      <p:sp>
        <p:nvSpPr>
          <p:cNvPr id="11" name="Key"/>
          <p:cNvSpPr/>
          <p:nvPr/>
        </p:nvSpPr>
        <p:spPr>
          <a:xfrm>
            <a:off x="552297" y="5852160"/>
            <a:ext cx="155448" cy="155448"/>
          </a:xfrm>
          <a:prstGeom prst="rect">
            <a:avLst/>
          </a:prstGeom>
          <a:solidFill>
            <a:srgbClr val="FFFDF4"/>
          </a:solidFill>
          <a:ln w="9525">
            <a:solidFill>
              <a:srgbClr val="D0D7DF"/>
            </a:solidFill>
          </a:ln>
        </p:spPr>
        <p:txBody>
          <a:bodyPr rtlCol="0" anchor="ctr"/>
          <a:lstStyle/>
          <a:p>
            <a:pPr algn="ctr"/>
            <a:endParaRPr/>
          </a:p>
        </p:txBody>
      </p:sp>
      <p:sp>
        <p:nvSpPr>
          <p:cNvPr id="12" name="Key label"/>
          <p:cNvSpPr txBox="1"/>
          <p:nvPr/>
        </p:nvSpPr>
        <p:spPr>
          <a:xfrm>
            <a:off x="780897" y="5806440"/>
            <a:ext cx="2377440" cy="246888"/>
          </a:xfrm>
          <a:prstGeom prst="rect">
            <a:avLst/>
          </a:prstGeom>
          <a:noFill/>
        </p:spPr>
        <p:txBody>
          <a:bodyPr wrap="square" lIns="0" tIns="0" rIns="0" bIns="0" anchor="ctr">
            <a:spAutoFit/>
          </a:bodyPr>
          <a:lstStyle/>
          <a:p>
            <a:pPr algn="l"/>
            <a:r>
              <a:rPr sz="1350" b="0">
                <a:solidFill>
                  <a:srgbClr val="152230"/>
                </a:solidFill>
                <a:latin typeface="Gartner Sans"/>
                <a:ea typeface="Gartner Sans"/>
                <a:cs typeface="Gartner Sans"/>
              </a:rPr>
              <a:t>Index card: a key stakeholder</a:t>
            </a:r>
          </a:p>
        </p:txBody>
      </p:sp>
      <p:sp>
        <p:nvSpPr>
          <p:cNvPr id="13" name="Key"/>
          <p:cNvSpPr/>
          <p:nvPr/>
        </p:nvSpPr>
        <p:spPr>
          <a:xfrm>
            <a:off x="3204057" y="5852160"/>
            <a:ext cx="155448" cy="155448"/>
          </a:xfrm>
          <a:prstGeom prst="rect">
            <a:avLst/>
          </a:prstGeom>
          <a:solidFill>
            <a:srgbClr val="FFE566"/>
          </a:solidFill>
          <a:ln>
            <a:noFill/>
          </a:ln>
        </p:spPr>
        <p:txBody>
          <a:bodyPr rtlCol="0" anchor="ctr"/>
          <a:lstStyle/>
          <a:p>
            <a:pPr algn="ctr"/>
            <a:endParaRPr/>
          </a:p>
        </p:txBody>
      </p:sp>
      <p:sp>
        <p:nvSpPr>
          <p:cNvPr id="14" name="Key label"/>
          <p:cNvSpPr txBox="1"/>
          <p:nvPr/>
        </p:nvSpPr>
        <p:spPr>
          <a:xfrm>
            <a:off x="3432657" y="5806440"/>
            <a:ext cx="1097280" cy="246888"/>
          </a:xfrm>
          <a:prstGeom prst="rect">
            <a:avLst/>
          </a:prstGeom>
          <a:noFill/>
        </p:spPr>
        <p:txBody>
          <a:bodyPr wrap="square" lIns="0" tIns="0" rIns="0" bIns="0" anchor="ctr">
            <a:spAutoFit/>
          </a:bodyPr>
          <a:lstStyle/>
          <a:p>
            <a:pPr algn="l"/>
            <a:r>
              <a:rPr sz="1450" b="0">
                <a:solidFill>
                  <a:srgbClr val="152230"/>
                </a:solidFill>
                <a:latin typeface="Gartner Sans"/>
                <a:ea typeface="Gartner Sans"/>
                <a:cs typeface="Gartner Sans"/>
              </a:rPr>
              <a:t>Their goal</a:t>
            </a:r>
          </a:p>
        </p:txBody>
      </p:sp>
      <p:sp>
        <p:nvSpPr>
          <p:cNvPr id="15" name="Key"/>
          <p:cNvSpPr/>
          <p:nvPr/>
        </p:nvSpPr>
        <p:spPr>
          <a:xfrm>
            <a:off x="4575657" y="5852160"/>
            <a:ext cx="155448" cy="155448"/>
          </a:xfrm>
          <a:prstGeom prst="rect">
            <a:avLst/>
          </a:prstGeom>
          <a:solidFill>
            <a:srgbClr val="A8E6A1"/>
          </a:solidFill>
          <a:ln>
            <a:noFill/>
          </a:ln>
        </p:spPr>
        <p:txBody>
          <a:bodyPr rtlCol="0" anchor="ctr"/>
          <a:lstStyle/>
          <a:p>
            <a:pPr algn="ctr"/>
            <a:endParaRPr/>
          </a:p>
        </p:txBody>
      </p:sp>
      <p:sp>
        <p:nvSpPr>
          <p:cNvPr id="16" name="Key label"/>
          <p:cNvSpPr txBox="1"/>
          <p:nvPr/>
        </p:nvSpPr>
        <p:spPr>
          <a:xfrm>
            <a:off x="4804257" y="5806440"/>
            <a:ext cx="1965960" cy="246888"/>
          </a:xfrm>
          <a:prstGeom prst="rect">
            <a:avLst/>
          </a:prstGeom>
          <a:noFill/>
        </p:spPr>
        <p:txBody>
          <a:bodyPr wrap="square" lIns="0" tIns="0" rIns="0" bIns="0" anchor="ctr">
            <a:spAutoFit/>
          </a:bodyPr>
          <a:lstStyle/>
          <a:p>
            <a:pPr algn="l"/>
            <a:r>
              <a:rPr sz="1450" b="0">
                <a:solidFill>
                  <a:srgbClr val="152230"/>
                </a:solidFill>
                <a:latin typeface="Gartner Sans"/>
                <a:ea typeface="Gartner Sans"/>
                <a:cs typeface="Gartner Sans"/>
              </a:rPr>
              <a:t>Their success criterion</a:t>
            </a:r>
          </a:p>
        </p:txBody>
      </p:sp>
      <p:sp>
        <p:nvSpPr>
          <p:cNvPr id="17" name="Note"/>
          <p:cNvSpPr txBox="1"/>
          <p:nvPr/>
        </p:nvSpPr>
        <p:spPr>
          <a:xfrm>
            <a:off x="6815937" y="5806440"/>
            <a:ext cx="4572000" cy="246888"/>
          </a:xfrm>
          <a:prstGeom prst="rect">
            <a:avLst/>
          </a:prstGeom>
          <a:noFill/>
        </p:spPr>
        <p:txBody>
          <a:bodyPr wrap="square" lIns="0" tIns="0" rIns="0" bIns="0" anchor="ctr">
            <a:spAutoFit/>
          </a:bodyPr>
          <a:lstStyle/>
          <a:p>
            <a:pPr algn="l"/>
            <a:r>
              <a:rPr sz="1450" b="0">
                <a:solidFill>
                  <a:srgbClr val="526273"/>
                </a:solidFill>
                <a:latin typeface="Gartner Sans"/>
                <a:ea typeface="Gartner Sans"/>
                <a:cs typeface="Gartner Sans"/>
              </a:rPr>
              <a:t>? = check with the stakeholder.  Illustrative example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title"/>
          <p:cNvSpPr txBox="1"/>
          <p:nvPr/>
        </p:nvSpPr>
        <p:spPr>
          <a:xfrm>
            <a:off x="1856231" y="2194560"/>
            <a:ext cx="6309360" cy="1463040"/>
          </a:xfrm>
          <a:prstGeom prst="rect">
            <a:avLst/>
          </a:prstGeom>
          <a:noFill/>
        </p:spPr>
        <p:txBody>
          <a:bodyPr wrap="square" lIns="0" tIns="0" rIns="0" bIns="0" anchor="b">
            <a:spAutoFit/>
          </a:bodyPr>
          <a:lstStyle/>
          <a:p>
            <a:pPr algn="l"/>
            <a:r>
              <a:rPr sz="2800" b="0">
                <a:solidFill>
                  <a:srgbClr val="FFFFFF"/>
                </a:solidFill>
                <a:latin typeface="Gartner Sans"/>
                <a:ea typeface="Gartner Sans"/>
                <a:cs typeface="Gartner Sans"/>
              </a:rPr>
              <a:t>Major challenges facing software development teams</a:t>
            </a:r>
          </a:p>
        </p:txBody>
      </p:sp>
      <p:sp>
        <p:nvSpPr>
          <p:cNvPr id="3" name="Section subtitle"/>
          <p:cNvSpPr txBox="1"/>
          <p:nvPr/>
        </p:nvSpPr>
        <p:spPr>
          <a:xfrm>
            <a:off x="1856231" y="3794760"/>
            <a:ext cx="6309360" cy="685800"/>
          </a:xfrm>
          <a:prstGeom prst="rect">
            <a:avLst/>
          </a:prstGeom>
          <a:noFill/>
        </p:spPr>
        <p:txBody>
          <a:bodyPr wrap="square" lIns="0" tIns="0" rIns="0" bIns="0" anchor="t">
            <a:spAutoFit/>
          </a:bodyPr>
          <a:lstStyle/>
          <a:p>
            <a:pPr algn="l"/>
            <a:r>
              <a:rPr sz="1650" b="0">
                <a:solidFill>
                  <a:srgbClr val="FFFFFF"/>
                </a:solidFill>
                <a:latin typeface="Gartner Sans"/>
                <a:ea typeface="Gartner Sans"/>
                <a:cs typeface="Gartner Sans"/>
              </a:rPr>
              <a:t>Project management, requirements, QA and the wider challenges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Eighteen challenges across three areas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23</a:t>
            </a:r>
          </a:p>
        </p:txBody>
      </p:sp>
      <p:sp>
        <p:nvSpPr>
          <p:cNvPr id="10" name="Area 1 header"/>
          <p:cNvSpPr/>
          <p:nvPr/>
        </p:nvSpPr>
        <p:spPr>
          <a:xfrm>
            <a:off x="552297" y="1325880"/>
            <a:ext cx="3532632" cy="457200"/>
          </a:xfrm>
          <a:prstGeom prst="rect">
            <a:avLst/>
          </a:prstGeom>
          <a:solidFill>
            <a:srgbClr val="002869"/>
          </a:solidFill>
          <a:ln>
            <a:noFill/>
          </a:ln>
        </p:spPr>
        <p:txBody>
          <a:bodyPr wrap="square" lIns="164592" tIns="0" rIns="109728" bIns="0" rtlCol="0" anchor="ctr"/>
          <a:lstStyle/>
          <a:p>
            <a:pPr algn="l"/>
            <a:r>
              <a:rPr sz="1800" b="1">
                <a:solidFill>
                  <a:srgbClr val="FFFFFF"/>
                </a:solidFill>
                <a:latin typeface="Gartner Sans"/>
                <a:ea typeface="Gartner Sans"/>
                <a:cs typeface="Gartner Sans"/>
              </a:rPr>
              <a:t>Project management</a:t>
            </a:r>
          </a:p>
        </p:txBody>
      </p:sp>
      <p:sp>
        <p:nvSpPr>
          <p:cNvPr id="11" name="Area 1 body"/>
          <p:cNvSpPr/>
          <p:nvPr/>
        </p:nvSpPr>
        <p:spPr>
          <a:xfrm>
            <a:off x="552297" y="1783080"/>
            <a:ext cx="3532632" cy="3191256"/>
          </a:xfrm>
          <a:prstGeom prst="rect">
            <a:avLst/>
          </a:prstGeom>
          <a:solidFill>
            <a:srgbClr val="F0F7FD"/>
          </a:solidFill>
          <a:ln>
            <a:noFill/>
          </a:ln>
        </p:spPr>
        <p:txBody>
          <a:bodyPr rtlCol="0" anchor="ctr"/>
          <a:lstStyle/>
          <a:p>
            <a:pPr algn="ctr"/>
            <a:endParaRPr/>
          </a:p>
        </p:txBody>
      </p:sp>
      <p:sp>
        <p:nvSpPr>
          <p:cNvPr id="12" name="Number 1"/>
          <p:cNvSpPr/>
          <p:nvPr/>
        </p:nvSpPr>
        <p:spPr>
          <a:xfrm>
            <a:off x="689457" y="1943099"/>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a:t>
            </a:r>
          </a:p>
        </p:txBody>
      </p:sp>
      <p:sp>
        <p:nvSpPr>
          <p:cNvPr id="13" name="Challenge 1"/>
          <p:cNvSpPr txBox="1"/>
          <p:nvPr/>
        </p:nvSpPr>
        <p:spPr>
          <a:xfrm>
            <a:off x="1082649" y="1874519"/>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Weak stakeholder collaboration</a:t>
            </a:r>
          </a:p>
        </p:txBody>
      </p:sp>
      <p:sp>
        <p:nvSpPr>
          <p:cNvPr id="14" name="Number 2"/>
          <p:cNvSpPr/>
          <p:nvPr/>
        </p:nvSpPr>
        <p:spPr>
          <a:xfrm>
            <a:off x="689457" y="2372867"/>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2</a:t>
            </a:r>
          </a:p>
        </p:txBody>
      </p:sp>
      <p:sp>
        <p:nvSpPr>
          <p:cNvPr id="15" name="Challenge 2"/>
          <p:cNvSpPr txBox="1"/>
          <p:nvPr/>
        </p:nvSpPr>
        <p:spPr>
          <a:xfrm>
            <a:off x="1082649" y="2304287"/>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Oversized, complex projects</a:t>
            </a:r>
          </a:p>
        </p:txBody>
      </p:sp>
      <p:sp>
        <p:nvSpPr>
          <p:cNvPr id="16" name="Number 3"/>
          <p:cNvSpPr/>
          <p:nvPr/>
        </p:nvSpPr>
        <p:spPr>
          <a:xfrm>
            <a:off x="689457" y="2802635"/>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3</a:t>
            </a:r>
          </a:p>
        </p:txBody>
      </p:sp>
      <p:sp>
        <p:nvSpPr>
          <p:cNvPr id="17" name="Challenge 3"/>
          <p:cNvSpPr txBox="1"/>
          <p:nvPr/>
        </p:nvSpPr>
        <p:spPr>
          <a:xfrm>
            <a:off x="1082649" y="2734056"/>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Incomplete agile adoption</a:t>
            </a:r>
          </a:p>
        </p:txBody>
      </p:sp>
      <p:sp>
        <p:nvSpPr>
          <p:cNvPr id="18" name="Number 4"/>
          <p:cNvSpPr/>
          <p:nvPr/>
        </p:nvSpPr>
        <p:spPr>
          <a:xfrm>
            <a:off x="689457" y="3232403"/>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4</a:t>
            </a:r>
          </a:p>
        </p:txBody>
      </p:sp>
      <p:sp>
        <p:nvSpPr>
          <p:cNvPr id="19" name="Challenge 4"/>
          <p:cNvSpPr txBox="1"/>
          <p:nvPr/>
        </p:nvSpPr>
        <p:spPr>
          <a:xfrm>
            <a:off x="1082649" y="3163824"/>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Blurred roles and tactical overload</a:t>
            </a:r>
          </a:p>
        </p:txBody>
      </p:sp>
      <p:sp>
        <p:nvSpPr>
          <p:cNvPr id="20" name="Number 5"/>
          <p:cNvSpPr/>
          <p:nvPr/>
        </p:nvSpPr>
        <p:spPr>
          <a:xfrm>
            <a:off x="689457" y="3662172"/>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5</a:t>
            </a:r>
          </a:p>
        </p:txBody>
      </p:sp>
      <p:sp>
        <p:nvSpPr>
          <p:cNvPr id="21" name="Challenge 5"/>
          <p:cNvSpPr txBox="1"/>
          <p:nvPr/>
        </p:nvSpPr>
        <p:spPr>
          <a:xfrm>
            <a:off x="1082649" y="3593591"/>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Shifting business strategy</a:t>
            </a:r>
          </a:p>
        </p:txBody>
      </p:sp>
      <p:sp>
        <p:nvSpPr>
          <p:cNvPr id="22" name="Area 2 header"/>
          <p:cNvSpPr/>
          <p:nvPr/>
        </p:nvSpPr>
        <p:spPr>
          <a:xfrm>
            <a:off x="4359249" y="1325880"/>
            <a:ext cx="3532632" cy="457200"/>
          </a:xfrm>
          <a:prstGeom prst="rect">
            <a:avLst/>
          </a:prstGeom>
          <a:solidFill>
            <a:srgbClr val="002869"/>
          </a:solidFill>
          <a:ln>
            <a:noFill/>
          </a:ln>
        </p:spPr>
        <p:txBody>
          <a:bodyPr wrap="square" lIns="164592" tIns="0" rIns="109728" bIns="0" rtlCol="0" anchor="ctr"/>
          <a:lstStyle/>
          <a:p>
            <a:pPr algn="l"/>
            <a:r>
              <a:rPr sz="1800" b="1">
                <a:solidFill>
                  <a:srgbClr val="FFFFFF"/>
                </a:solidFill>
                <a:latin typeface="Gartner Sans"/>
                <a:ea typeface="Gartner Sans"/>
                <a:cs typeface="Gartner Sans"/>
              </a:rPr>
              <a:t>Requirements management</a:t>
            </a:r>
          </a:p>
        </p:txBody>
      </p:sp>
      <p:sp>
        <p:nvSpPr>
          <p:cNvPr id="23" name="Area 2 body"/>
          <p:cNvSpPr/>
          <p:nvPr/>
        </p:nvSpPr>
        <p:spPr>
          <a:xfrm>
            <a:off x="4359249" y="1783080"/>
            <a:ext cx="3532632" cy="3191256"/>
          </a:xfrm>
          <a:prstGeom prst="rect">
            <a:avLst/>
          </a:prstGeom>
          <a:solidFill>
            <a:srgbClr val="F0F7FD"/>
          </a:solidFill>
          <a:ln>
            <a:noFill/>
          </a:ln>
        </p:spPr>
        <p:txBody>
          <a:bodyPr rtlCol="0" anchor="ctr"/>
          <a:lstStyle/>
          <a:p>
            <a:pPr algn="ctr"/>
            <a:endParaRPr/>
          </a:p>
        </p:txBody>
      </p:sp>
      <p:sp>
        <p:nvSpPr>
          <p:cNvPr id="24" name="Number 6"/>
          <p:cNvSpPr/>
          <p:nvPr/>
        </p:nvSpPr>
        <p:spPr>
          <a:xfrm>
            <a:off x="4496409" y="1943099"/>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6</a:t>
            </a:r>
          </a:p>
        </p:txBody>
      </p:sp>
      <p:sp>
        <p:nvSpPr>
          <p:cNvPr id="25" name="Challenge 6"/>
          <p:cNvSpPr txBox="1"/>
          <p:nvPr/>
        </p:nvSpPr>
        <p:spPr>
          <a:xfrm>
            <a:off x="4889601" y="1874519"/>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Speed ahead of customer value</a:t>
            </a:r>
          </a:p>
        </p:txBody>
      </p:sp>
      <p:sp>
        <p:nvSpPr>
          <p:cNvPr id="26" name="Number 7"/>
          <p:cNvSpPr/>
          <p:nvPr/>
        </p:nvSpPr>
        <p:spPr>
          <a:xfrm>
            <a:off x="4496409" y="2372867"/>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7</a:t>
            </a:r>
          </a:p>
        </p:txBody>
      </p:sp>
      <p:sp>
        <p:nvSpPr>
          <p:cNvPr id="27" name="Challenge 7"/>
          <p:cNvSpPr txBox="1"/>
          <p:nvPr/>
        </p:nvSpPr>
        <p:spPr>
          <a:xfrm>
            <a:off x="4889601" y="2304287"/>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Insufficient customer discovery</a:t>
            </a:r>
          </a:p>
        </p:txBody>
      </p:sp>
      <p:sp>
        <p:nvSpPr>
          <p:cNvPr id="28" name="Number 8"/>
          <p:cNvSpPr/>
          <p:nvPr/>
        </p:nvSpPr>
        <p:spPr>
          <a:xfrm>
            <a:off x="4496409" y="2802635"/>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8</a:t>
            </a:r>
          </a:p>
        </p:txBody>
      </p:sp>
      <p:sp>
        <p:nvSpPr>
          <p:cNvPr id="29" name="Challenge 8"/>
          <p:cNvSpPr txBox="1"/>
          <p:nvPr/>
        </p:nvSpPr>
        <p:spPr>
          <a:xfrm>
            <a:off x="4889601" y="2734056"/>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No product manager in tiny teams</a:t>
            </a:r>
          </a:p>
        </p:txBody>
      </p:sp>
      <p:sp>
        <p:nvSpPr>
          <p:cNvPr id="30" name="Number 9"/>
          <p:cNvSpPr/>
          <p:nvPr/>
        </p:nvSpPr>
        <p:spPr>
          <a:xfrm>
            <a:off x="4496409" y="3232403"/>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9</a:t>
            </a:r>
          </a:p>
        </p:txBody>
      </p:sp>
      <p:sp>
        <p:nvSpPr>
          <p:cNvPr id="31" name="Challenge 9"/>
          <p:cNvSpPr txBox="1"/>
          <p:nvPr/>
        </p:nvSpPr>
        <p:spPr>
          <a:xfrm>
            <a:off x="4889601" y="3163824"/>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Cross-team coordination</a:t>
            </a:r>
          </a:p>
        </p:txBody>
      </p:sp>
      <p:sp>
        <p:nvSpPr>
          <p:cNvPr id="32" name="Number 10"/>
          <p:cNvSpPr/>
          <p:nvPr/>
        </p:nvSpPr>
        <p:spPr>
          <a:xfrm>
            <a:off x="4496409" y="3662172"/>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10</a:t>
            </a:r>
          </a:p>
        </p:txBody>
      </p:sp>
      <p:sp>
        <p:nvSpPr>
          <p:cNvPr id="33" name="Challenge 10"/>
          <p:cNvSpPr txBox="1"/>
          <p:nvPr/>
        </p:nvSpPr>
        <p:spPr>
          <a:xfrm>
            <a:off x="4889601" y="3593591"/>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Fragmented regulation</a:t>
            </a:r>
          </a:p>
        </p:txBody>
      </p:sp>
      <p:sp>
        <p:nvSpPr>
          <p:cNvPr id="34" name="Number 11"/>
          <p:cNvSpPr/>
          <p:nvPr/>
        </p:nvSpPr>
        <p:spPr>
          <a:xfrm>
            <a:off x="4496409" y="4091939"/>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11</a:t>
            </a:r>
          </a:p>
        </p:txBody>
      </p:sp>
      <p:sp>
        <p:nvSpPr>
          <p:cNvPr id="35" name="Challenge 11"/>
          <p:cNvSpPr txBox="1"/>
          <p:nvPr/>
        </p:nvSpPr>
        <p:spPr>
          <a:xfrm>
            <a:off x="4889601" y="4023359"/>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Agility versus compliance</a:t>
            </a:r>
          </a:p>
        </p:txBody>
      </p:sp>
      <p:sp>
        <p:nvSpPr>
          <p:cNvPr id="36" name="Area 3 header"/>
          <p:cNvSpPr/>
          <p:nvPr/>
        </p:nvSpPr>
        <p:spPr>
          <a:xfrm>
            <a:off x="8166201" y="1325880"/>
            <a:ext cx="3532632" cy="457200"/>
          </a:xfrm>
          <a:prstGeom prst="rect">
            <a:avLst/>
          </a:prstGeom>
          <a:solidFill>
            <a:srgbClr val="002869"/>
          </a:solidFill>
          <a:ln>
            <a:noFill/>
          </a:ln>
        </p:spPr>
        <p:txBody>
          <a:bodyPr wrap="square" lIns="164592" tIns="0" rIns="109728" bIns="0" rtlCol="0" anchor="ctr"/>
          <a:lstStyle/>
          <a:p>
            <a:pPr algn="l"/>
            <a:r>
              <a:rPr sz="1800" b="1">
                <a:solidFill>
                  <a:srgbClr val="FFFFFF"/>
                </a:solidFill>
                <a:latin typeface="Gartner Sans"/>
                <a:ea typeface="Gartner Sans"/>
                <a:cs typeface="Gartner Sans"/>
              </a:rPr>
              <a:t>Quality assurance and testing</a:t>
            </a:r>
          </a:p>
        </p:txBody>
      </p:sp>
      <p:sp>
        <p:nvSpPr>
          <p:cNvPr id="37" name="Area 3 body"/>
          <p:cNvSpPr/>
          <p:nvPr/>
        </p:nvSpPr>
        <p:spPr>
          <a:xfrm>
            <a:off x="8166201" y="1783080"/>
            <a:ext cx="3532632" cy="3191256"/>
          </a:xfrm>
          <a:prstGeom prst="rect">
            <a:avLst/>
          </a:prstGeom>
          <a:solidFill>
            <a:srgbClr val="F0F7FD"/>
          </a:solidFill>
          <a:ln>
            <a:noFill/>
          </a:ln>
        </p:spPr>
        <p:txBody>
          <a:bodyPr rtlCol="0" anchor="ctr"/>
          <a:lstStyle/>
          <a:p>
            <a:pPr algn="ctr"/>
            <a:endParaRPr/>
          </a:p>
        </p:txBody>
      </p:sp>
      <p:sp>
        <p:nvSpPr>
          <p:cNvPr id="38" name="Number 12"/>
          <p:cNvSpPr/>
          <p:nvPr/>
        </p:nvSpPr>
        <p:spPr>
          <a:xfrm>
            <a:off x="8303361" y="1943099"/>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12</a:t>
            </a:r>
          </a:p>
        </p:txBody>
      </p:sp>
      <p:sp>
        <p:nvSpPr>
          <p:cNvPr id="39" name="Challenge 12"/>
          <p:cNvSpPr txBox="1"/>
          <p:nvPr/>
        </p:nvSpPr>
        <p:spPr>
          <a:xfrm>
            <a:off x="8696553" y="1874519"/>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Central QA bottlenecks</a:t>
            </a:r>
          </a:p>
        </p:txBody>
      </p:sp>
      <p:sp>
        <p:nvSpPr>
          <p:cNvPr id="40" name="Number 13"/>
          <p:cNvSpPr/>
          <p:nvPr/>
        </p:nvSpPr>
        <p:spPr>
          <a:xfrm>
            <a:off x="8303361" y="2372867"/>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13</a:t>
            </a:r>
          </a:p>
        </p:txBody>
      </p:sp>
      <p:sp>
        <p:nvSpPr>
          <p:cNvPr id="41" name="Challenge 13"/>
          <p:cNvSpPr txBox="1"/>
          <p:nvPr/>
        </p:nvSpPr>
        <p:spPr>
          <a:xfrm>
            <a:off x="8696553" y="2304287"/>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Testing added at the end</a:t>
            </a:r>
          </a:p>
        </p:txBody>
      </p:sp>
      <p:sp>
        <p:nvSpPr>
          <p:cNvPr id="42" name="Number 14"/>
          <p:cNvSpPr/>
          <p:nvPr/>
        </p:nvSpPr>
        <p:spPr>
          <a:xfrm>
            <a:off x="8303361" y="2802635"/>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14</a:t>
            </a:r>
          </a:p>
        </p:txBody>
      </p:sp>
      <p:sp>
        <p:nvSpPr>
          <p:cNvPr id="43" name="Challenge 14"/>
          <p:cNvSpPr txBox="1"/>
          <p:nvPr/>
        </p:nvSpPr>
        <p:spPr>
          <a:xfrm>
            <a:off x="8696553" y="2734056"/>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Unused production insights</a:t>
            </a:r>
          </a:p>
        </p:txBody>
      </p:sp>
      <p:sp>
        <p:nvSpPr>
          <p:cNvPr id="44" name="Number 15"/>
          <p:cNvSpPr/>
          <p:nvPr/>
        </p:nvSpPr>
        <p:spPr>
          <a:xfrm>
            <a:off x="8303361" y="3232403"/>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15</a:t>
            </a:r>
          </a:p>
        </p:txBody>
      </p:sp>
      <p:sp>
        <p:nvSpPr>
          <p:cNvPr id="45" name="Challenge 15"/>
          <p:cNvSpPr txBox="1"/>
          <p:nvPr/>
        </p:nvSpPr>
        <p:spPr>
          <a:xfrm>
            <a:off x="8696553" y="3163824"/>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Tight budgets, fragmented resources</a:t>
            </a:r>
          </a:p>
        </p:txBody>
      </p:sp>
      <p:sp>
        <p:nvSpPr>
          <p:cNvPr id="46" name="Number 16"/>
          <p:cNvSpPr/>
          <p:nvPr/>
        </p:nvSpPr>
        <p:spPr>
          <a:xfrm>
            <a:off x="8303361" y="3662172"/>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16</a:t>
            </a:r>
          </a:p>
        </p:txBody>
      </p:sp>
      <p:sp>
        <p:nvSpPr>
          <p:cNvPr id="47" name="Challenge 16"/>
          <p:cNvSpPr txBox="1"/>
          <p:nvPr/>
        </p:nvSpPr>
        <p:spPr>
          <a:xfrm>
            <a:off x="8696553" y="3593591"/>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GenAI hallucination and bias</a:t>
            </a:r>
          </a:p>
        </p:txBody>
      </p:sp>
      <p:sp>
        <p:nvSpPr>
          <p:cNvPr id="48" name="Number 17"/>
          <p:cNvSpPr/>
          <p:nvPr/>
        </p:nvSpPr>
        <p:spPr>
          <a:xfrm>
            <a:off x="8303361" y="4091939"/>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17</a:t>
            </a:r>
          </a:p>
        </p:txBody>
      </p:sp>
      <p:sp>
        <p:nvSpPr>
          <p:cNvPr id="49" name="Challenge 17"/>
          <p:cNvSpPr txBox="1"/>
          <p:nvPr/>
        </p:nvSpPr>
        <p:spPr>
          <a:xfrm>
            <a:off x="8696553" y="4023359"/>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Privacy and compliance exposure</a:t>
            </a:r>
          </a:p>
        </p:txBody>
      </p:sp>
      <p:sp>
        <p:nvSpPr>
          <p:cNvPr id="50" name="Number 18"/>
          <p:cNvSpPr/>
          <p:nvPr/>
        </p:nvSpPr>
        <p:spPr>
          <a:xfrm>
            <a:off x="8303361" y="4521707"/>
            <a:ext cx="292608" cy="292608"/>
          </a:xfrm>
          <a:prstGeom prst="ellipse">
            <a:avLst/>
          </a:prstGeom>
          <a:solidFill>
            <a:srgbClr val="002869"/>
          </a:solidFill>
          <a:ln>
            <a:noFill/>
          </a:ln>
        </p:spPr>
        <p:txBody>
          <a:bodyPr wrap="none" lIns="0" tIns="0" rIns="0" bIns="0" rtlCol="0" anchor="ctr"/>
          <a:lstStyle/>
          <a:p>
            <a:pPr algn="ctr"/>
            <a:r>
              <a:rPr sz="1100" b="1">
                <a:solidFill>
                  <a:srgbClr val="FFFFFF"/>
                </a:solidFill>
                <a:latin typeface="Gartner Sans"/>
                <a:ea typeface="Gartner Sans"/>
                <a:cs typeface="Gartner Sans"/>
              </a:rPr>
              <a:t>18</a:t>
            </a:r>
          </a:p>
        </p:txBody>
      </p:sp>
      <p:sp>
        <p:nvSpPr>
          <p:cNvPr id="51" name="Challenge 18"/>
          <p:cNvSpPr txBox="1"/>
          <p:nvPr/>
        </p:nvSpPr>
        <p:spPr>
          <a:xfrm>
            <a:off x="8696553" y="4453127"/>
            <a:ext cx="2892552" cy="42976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Skill erosion</a:t>
            </a:r>
          </a:p>
        </p:txBody>
      </p:sp>
      <p:sp>
        <p:nvSpPr>
          <p:cNvPr id="52" name="Note"/>
          <p:cNvSpPr/>
          <p:nvPr/>
        </p:nvSpPr>
        <p:spPr>
          <a:xfrm>
            <a:off x="552297" y="5074920"/>
            <a:ext cx="11146536" cy="685800"/>
          </a:xfrm>
          <a:prstGeom prst="rect">
            <a:avLst/>
          </a:prstGeom>
          <a:solidFill>
            <a:srgbClr val="F0F7FD"/>
          </a:solidFill>
          <a:ln>
            <a:noFill/>
          </a:ln>
        </p:spPr>
        <p:txBody>
          <a:bodyPr wrap="square" lIns="228600" rIns="228600" rtlCol="0" anchor="ctr"/>
          <a:lstStyle/>
          <a:p>
            <a:pPr algn="l"/>
            <a:r>
              <a:rPr sz="1750" b="1">
                <a:solidFill>
                  <a:srgbClr val="002869"/>
                </a:solidFill>
                <a:latin typeface="Gartner Sans"/>
                <a:ea typeface="Gartner Sans"/>
                <a:cs typeface="Gartner Sans"/>
              </a:rPr>
              <a:t>The three areas are tightly coupled. </a:t>
            </a:r>
            <a:r>
              <a:rPr sz="1750" b="0">
                <a:solidFill>
                  <a:srgbClr val="152230"/>
                </a:solidFill>
                <a:latin typeface="Gartner Sans"/>
                <a:ea typeface="Gartner Sans"/>
                <a:cs typeface="Gartner Sans"/>
              </a:rPr>
              <a:t>A weakness in one area creates pressure in the others.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Delivery practice and quality are top leadership priorities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24</a:t>
            </a:r>
          </a:p>
        </p:txBody>
      </p:sp>
      <p:pic>
        <p:nvPicPr>
          <p:cNvPr id="10" name="Figure" descr="Gartner figure: software engineering organisations’ top priorities"/>
          <p:cNvPicPr>
            <a:picLocks noChangeAspect="1"/>
          </p:cNvPicPr>
          <p:nvPr/>
        </p:nvPicPr>
        <p:blipFill>
          <a:blip r:embed="rId2"/>
          <a:stretch>
            <a:fillRect/>
          </a:stretch>
        </p:blipFill>
        <p:spPr>
          <a:xfrm>
            <a:off x="552297" y="1325880"/>
            <a:ext cx="6035040" cy="3630454"/>
          </a:xfrm>
          <a:prstGeom prst="rect">
            <a:avLst/>
          </a:prstGeom>
        </p:spPr>
      </p:pic>
      <p:sp>
        <p:nvSpPr>
          <p:cNvPr id="11" name="Heading"/>
          <p:cNvSpPr txBox="1"/>
          <p:nvPr/>
        </p:nvSpPr>
        <p:spPr>
          <a:xfrm>
            <a:off x="6949440" y="1325880"/>
            <a:ext cx="4749393"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What the figure shows</a:t>
            </a:r>
          </a:p>
        </p:txBody>
      </p:sp>
      <p:sp>
        <p:nvSpPr>
          <p:cNvPr id="12" name="What the figure shows"/>
          <p:cNvSpPr txBox="1"/>
          <p:nvPr/>
        </p:nvSpPr>
        <p:spPr>
          <a:xfrm>
            <a:off x="6949440" y="1691640"/>
            <a:ext cx="4749393" cy="2651760"/>
          </a:xfrm>
          <a:prstGeom prst="rect">
            <a:avLst/>
          </a:prstGeom>
          <a:noFill/>
        </p:spPr>
        <p:txBody>
          <a:bodyPr wrap="square" lIns="0" tIns="0" rIns="0" bIns="0" anchor="t">
            <a:spAutoFit/>
          </a:bodyPr>
          <a:lstStyle/>
          <a:p>
            <a:pPr marL="171450" indent="-171450" algn="l">
              <a:buFont typeface="Arial"/>
              <a:buChar char="•"/>
            </a:pPr>
            <a:r>
              <a:rPr sz="1650" b="0">
                <a:solidFill>
                  <a:srgbClr val="152230"/>
                </a:solidFill>
                <a:latin typeface="Gartner Sans"/>
                <a:ea typeface="Gartner Sans"/>
                <a:cs typeface="Gartner Sans"/>
              </a:rPr>
              <a:t>Building AI capabilities and improving software delivery processes and practices lead. Each is a top-five priority for 41% of leaders.</a:t>
            </a:r>
          </a:p>
          <a:p>
            <a:pPr marL="171450" indent="-171450" algn="l">
              <a:spcBef>
                <a:spcPts val="600"/>
              </a:spcBef>
              <a:buFont typeface="Arial"/>
              <a:buChar char="•"/>
            </a:pPr>
            <a:r>
              <a:rPr sz="1650" b="0">
                <a:solidFill>
                  <a:srgbClr val="152230"/>
                </a:solidFill>
                <a:latin typeface="Gartner Sans"/>
                <a:ea typeface="Gartner Sans"/>
                <a:cs typeface="Gartner Sans"/>
              </a:rPr>
              <a:t>Using AI tools to improve development and delivery is a top-five priority for 34%.</a:t>
            </a:r>
          </a:p>
          <a:p>
            <a:pPr marL="171450" indent="-171450" algn="l">
              <a:spcBef>
                <a:spcPts val="600"/>
              </a:spcBef>
              <a:buFont typeface="Arial"/>
              <a:buChar char="•"/>
            </a:pPr>
            <a:r>
              <a:rPr sz="1650" b="0">
                <a:solidFill>
                  <a:srgbClr val="152230"/>
                </a:solidFill>
                <a:latin typeface="Gartner Sans"/>
                <a:ea typeface="Gartner Sans"/>
                <a:cs typeface="Gartner Sans"/>
              </a:rPr>
              <a:t>Improving software quality is a top-five priority for 32%.</a:t>
            </a:r>
          </a:p>
          <a:p>
            <a:pPr marL="171450" indent="-171450" algn="l">
              <a:spcBef>
                <a:spcPts val="600"/>
              </a:spcBef>
              <a:buFont typeface="Arial"/>
              <a:buChar char="•"/>
            </a:pPr>
            <a:r>
              <a:rPr sz="1650" b="0">
                <a:solidFill>
                  <a:srgbClr val="152230"/>
                </a:solidFill>
                <a:latin typeface="Gartner Sans"/>
                <a:ea typeface="Gartner Sans"/>
                <a:cs typeface="Gartner Sans"/>
              </a:rPr>
              <a:t>n = 399 engineering leaders. Gartner Software Engineering Survey for 2025.</a:t>
            </a:r>
          </a:p>
        </p:txBody>
      </p:sp>
      <p:sp>
        <p:nvSpPr>
          <p:cNvPr id="13" name="Why it matters"/>
          <p:cNvSpPr/>
          <p:nvPr/>
        </p:nvSpPr>
        <p:spPr>
          <a:xfrm>
            <a:off x="6949440" y="4434840"/>
            <a:ext cx="4749393" cy="1325880"/>
          </a:xfrm>
          <a:prstGeom prst="rect">
            <a:avLst/>
          </a:prstGeom>
          <a:solidFill>
            <a:srgbClr val="F0F7FD"/>
          </a:solidFill>
          <a:ln>
            <a:noFill/>
          </a:ln>
        </p:spPr>
        <p:txBody>
          <a:bodyPr wrap="square" lIns="201168" tIns="73152" rIns="182880" bIns="73152" rtlCol="0" anchor="ctr"/>
          <a:lstStyle/>
          <a:p>
            <a:pPr algn="l"/>
            <a:r>
              <a:rPr sz="1700" b="1">
                <a:solidFill>
                  <a:srgbClr val="002869"/>
                </a:solidFill>
                <a:latin typeface="Gartner Sans"/>
                <a:ea typeface="Gartner Sans"/>
                <a:cs typeface="Gartner Sans"/>
              </a:rPr>
              <a:t>Why it matters</a:t>
            </a:r>
          </a:p>
          <a:p>
            <a:pPr algn="l">
              <a:spcBef>
                <a:spcPts val="400"/>
              </a:spcBef>
            </a:pPr>
            <a:r>
              <a:rPr sz="1700" b="0">
                <a:solidFill>
                  <a:srgbClr val="152230"/>
                </a:solidFill>
                <a:latin typeface="Gartner Sans"/>
                <a:ea typeface="Gartner Sans"/>
                <a:cs typeface="Gartner Sans"/>
              </a:rPr>
              <a:t>Delivery practice and quality sit high on the leadership agenda. The challenges in this section are obstacles to both.</a:t>
            </a:r>
          </a:p>
        </p:txBody>
      </p:sp>
      <p:sp>
        <p:nvSpPr>
          <p:cNvPr id="14" name="Source"/>
          <p:cNvSpPr txBox="1"/>
          <p:nvPr/>
        </p:nvSpPr>
        <p:spPr>
          <a:xfrm>
            <a:off x="552450" y="5981700"/>
            <a:ext cx="9700000" cy="295275"/>
          </a:xfrm>
          <a:prstGeom prst="rect">
            <a:avLst/>
          </a:prstGeom>
          <a:noFill/>
        </p:spPr>
        <p:txBody>
          <a:bodyPr wrap="square" lIns="0" tIns="0" rIns="0" bIns="0">
            <a:spAutoFit/>
          </a:bodyPr>
          <a:lstStyle/>
          <a:p>
            <a:r>
              <a:rPr sz="1150" b="0">
                <a:solidFill>
                  <a:srgbClr val="526273"/>
                </a:solidFill>
                <a:latin typeface="Gartner Sans"/>
                <a:ea typeface="Gartner Sans"/>
                <a:cs typeface="Gartner Sans"/>
              </a:rPr>
              <a:t>Figure source: </a:t>
            </a:r>
            <a:r>
              <a:rPr sz="1150" b="0">
                <a:solidFill>
                  <a:srgbClr val="526273"/>
                </a:solidFill>
                <a:latin typeface="Gartner Sans"/>
                <a:ea typeface="Gartner Sans"/>
                <a:cs typeface="Gartner Sans"/>
                <a:hlinkClick r:id="rId3"/>
              </a:rPr>
              <a:t>Manage Critical Risks of Using Generative AI to Augment Testing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Projects fail on collaboration, size and delivery method</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25</a:t>
            </a:r>
          </a:p>
        </p:txBody>
      </p:sp>
      <p:sp>
        <p:nvSpPr>
          <p:cNvPr id="10" name="Area heading"/>
          <p:cNvSpPr txBox="1"/>
          <p:nvPr/>
        </p:nvSpPr>
        <p:spPr>
          <a:xfrm>
            <a:off x="552297" y="1319175"/>
            <a:ext cx="11146536" cy="287729"/>
          </a:xfrm>
          <a:prstGeom prst="rect">
            <a:avLst/>
          </a:prstGeom>
          <a:noFill/>
        </p:spPr>
        <p:txBody>
          <a:bodyPr wrap="square" lIns="0" tIns="0" rIns="0" bIns="0" anchor="ctr">
            <a:spAutoFit/>
          </a:bodyPr>
          <a:lstStyle/>
          <a:p>
            <a:pPr algn="l"/>
            <a:r>
              <a:rPr sz="1800" b="1">
                <a:solidFill>
                  <a:srgbClr val="002869"/>
                </a:solidFill>
                <a:latin typeface="Gartner Sans"/>
                <a:ea typeface="Gartner Sans"/>
                <a:cs typeface="Gartner Sans"/>
              </a:rPr>
              <a:t>Project management</a:t>
            </a:r>
          </a:p>
        </p:txBody>
      </p:sp>
      <p:sp>
        <p:nvSpPr>
          <p:cNvPr id="11" name="Card 1 header"/>
          <p:cNvSpPr/>
          <p:nvPr/>
        </p:nvSpPr>
        <p:spPr>
          <a:xfrm>
            <a:off x="552297" y="1737360"/>
            <a:ext cx="3532632" cy="475488"/>
          </a:xfrm>
          <a:prstGeom prst="rect">
            <a:avLst/>
          </a:prstGeom>
          <a:solidFill>
            <a:srgbClr val="002869"/>
          </a:solidFill>
          <a:ln>
            <a:noFill/>
          </a:ln>
        </p:spPr>
        <p:txBody>
          <a:bodyPr rtlCol="0" anchor="ctr"/>
          <a:lstStyle/>
          <a:p>
            <a:pPr algn="ctr"/>
            <a:endParaRPr/>
          </a:p>
        </p:txBody>
      </p:sp>
      <p:sp>
        <p:nvSpPr>
          <p:cNvPr id="12" name="Number 1"/>
          <p:cNvSpPr/>
          <p:nvPr/>
        </p:nvSpPr>
        <p:spPr>
          <a:xfrm>
            <a:off x="680313"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a:t>
            </a:r>
          </a:p>
        </p:txBody>
      </p:sp>
      <p:sp>
        <p:nvSpPr>
          <p:cNvPr id="13" name="Heading 1"/>
          <p:cNvSpPr txBox="1"/>
          <p:nvPr/>
        </p:nvSpPr>
        <p:spPr>
          <a:xfrm>
            <a:off x="1064361" y="1737360"/>
            <a:ext cx="2929128" cy="475488"/>
          </a:xfrm>
          <a:prstGeom prst="rect">
            <a:avLst/>
          </a:prstGeom>
          <a:noFill/>
        </p:spPr>
        <p:txBody>
          <a:bodyPr wrap="square" lIns="0" tIns="0" rIns="0" bIns="0" anchor="ctr">
            <a:spAutoFit/>
          </a:bodyPr>
          <a:lstStyle/>
          <a:p>
            <a:pPr algn="l"/>
            <a:r>
              <a:rPr sz="1350" b="1">
                <a:solidFill>
                  <a:srgbClr val="FFFFFF"/>
                </a:solidFill>
                <a:latin typeface="Gartner Sans"/>
                <a:ea typeface="Gartner Sans"/>
                <a:cs typeface="Gartner Sans"/>
              </a:rPr>
              <a:t>Stakeholder collaboration is weak</a:t>
            </a:r>
          </a:p>
        </p:txBody>
      </p:sp>
      <p:sp>
        <p:nvSpPr>
          <p:cNvPr id="14" name="Card 1 body"/>
          <p:cNvSpPr/>
          <p:nvPr/>
        </p:nvSpPr>
        <p:spPr>
          <a:xfrm>
            <a:off x="552297" y="2212848"/>
            <a:ext cx="3532632" cy="3547872"/>
          </a:xfrm>
          <a:prstGeom prst="rect">
            <a:avLst/>
          </a:prstGeom>
          <a:solidFill>
            <a:srgbClr val="F0F7FD"/>
          </a:solidFill>
          <a:ln>
            <a:noFill/>
          </a:ln>
        </p:spPr>
        <p:txBody>
          <a:bodyPr rtlCol="0" anchor="ctr"/>
          <a:lstStyle/>
          <a:p>
            <a:pPr algn="ctr"/>
            <a:endParaRPr/>
          </a:p>
        </p:txBody>
      </p:sp>
      <p:sp>
        <p:nvSpPr>
          <p:cNvPr id="15" name="Stat 1"/>
          <p:cNvSpPr txBox="1"/>
          <p:nvPr/>
        </p:nvSpPr>
        <p:spPr>
          <a:xfrm>
            <a:off x="735177" y="4617720"/>
            <a:ext cx="3166872" cy="502920"/>
          </a:xfrm>
          <a:prstGeom prst="rect">
            <a:avLst/>
          </a:prstGeom>
          <a:noFill/>
        </p:spPr>
        <p:txBody>
          <a:bodyPr wrap="square" lIns="0" tIns="0" rIns="0" bIns="0" anchor="t">
            <a:spAutoFit/>
          </a:bodyPr>
          <a:lstStyle/>
          <a:p>
            <a:pPr algn="l"/>
            <a:r>
              <a:rPr sz="3000" b="1">
                <a:solidFill>
                  <a:srgbClr val="002869"/>
                </a:solidFill>
                <a:latin typeface="Gartner Sans"/>
                <a:ea typeface="Gartner Sans"/>
                <a:cs typeface="Gartner Sans"/>
              </a:rPr>
              <a:t>21%</a:t>
            </a:r>
          </a:p>
        </p:txBody>
      </p:sp>
      <p:sp>
        <p:nvSpPr>
          <p:cNvPr id="16" name="Stat 1 label"/>
          <p:cNvSpPr txBox="1"/>
          <p:nvPr/>
        </p:nvSpPr>
        <p:spPr>
          <a:xfrm>
            <a:off x="735177" y="5157216"/>
            <a:ext cx="3166872" cy="502920"/>
          </a:xfrm>
          <a:prstGeom prst="rect">
            <a:avLst/>
          </a:prstGeom>
          <a:noFill/>
        </p:spPr>
        <p:txBody>
          <a:bodyPr wrap="square" lIns="0" tIns="0" rIns="0" bIns="0" anchor="t">
            <a:spAutoFit/>
          </a:bodyPr>
          <a:lstStyle/>
          <a:p>
            <a:pPr algn="l"/>
            <a:r>
              <a:rPr sz="1250" b="0">
                <a:solidFill>
                  <a:srgbClr val="152230"/>
                </a:solidFill>
                <a:latin typeface="Gartner Sans"/>
                <a:ea typeface="Gartner Sans"/>
                <a:cs typeface="Gartner Sans"/>
              </a:rPr>
              <a:t>of government software projects succeed</a:t>
            </a:r>
          </a:p>
        </p:txBody>
      </p:sp>
      <p:sp>
        <p:nvSpPr>
          <p:cNvPr id="17" name="Body 1"/>
          <p:cNvSpPr txBox="1"/>
          <p:nvPr/>
        </p:nvSpPr>
        <p:spPr>
          <a:xfrm>
            <a:off x="735177" y="2350008"/>
            <a:ext cx="3166872" cy="3319272"/>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The main cause of failure is poor engagement between IT and mission stakeholders.</a:t>
            </a:r>
          </a:p>
          <a:p>
            <a:pPr algn="l">
              <a:spcBef>
                <a:spcPts val="500"/>
              </a:spcBef>
            </a:pPr>
            <a:r>
              <a:rPr sz="1650" b="0">
                <a:solidFill>
                  <a:srgbClr val="152230"/>
                </a:solidFill>
                <a:latin typeface="Gartner Sans"/>
                <a:ea typeface="Gartner Sans"/>
                <a:cs typeface="Gartner Sans"/>
              </a:rPr>
              <a:t>Mission unit feedback and operational knowledge are not built into planning and delivery.</a:t>
            </a:r>
          </a:p>
        </p:txBody>
      </p:sp>
      <p:sp>
        <p:nvSpPr>
          <p:cNvPr id="18" name="Card 2 header"/>
          <p:cNvSpPr/>
          <p:nvPr/>
        </p:nvSpPr>
        <p:spPr>
          <a:xfrm>
            <a:off x="4359249" y="1737360"/>
            <a:ext cx="3532632" cy="475488"/>
          </a:xfrm>
          <a:prstGeom prst="rect">
            <a:avLst/>
          </a:prstGeom>
          <a:solidFill>
            <a:srgbClr val="002869"/>
          </a:solidFill>
          <a:ln>
            <a:noFill/>
          </a:ln>
        </p:spPr>
        <p:txBody>
          <a:bodyPr rtlCol="0" anchor="ctr"/>
          <a:lstStyle/>
          <a:p>
            <a:pPr algn="ctr"/>
            <a:endParaRPr/>
          </a:p>
        </p:txBody>
      </p:sp>
      <p:sp>
        <p:nvSpPr>
          <p:cNvPr id="19" name="Number 2"/>
          <p:cNvSpPr/>
          <p:nvPr/>
        </p:nvSpPr>
        <p:spPr>
          <a:xfrm>
            <a:off x="4487265"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2</a:t>
            </a:r>
          </a:p>
        </p:txBody>
      </p:sp>
      <p:sp>
        <p:nvSpPr>
          <p:cNvPr id="20" name="Heading 2"/>
          <p:cNvSpPr txBox="1"/>
          <p:nvPr/>
        </p:nvSpPr>
        <p:spPr>
          <a:xfrm>
            <a:off x="4871313" y="1737360"/>
            <a:ext cx="2929128" cy="475488"/>
          </a:xfrm>
          <a:prstGeom prst="rect">
            <a:avLst/>
          </a:prstGeom>
          <a:noFill/>
        </p:spPr>
        <p:txBody>
          <a:bodyPr wrap="square" lIns="0" tIns="0" rIns="0" bIns="0" anchor="ctr">
            <a:spAutoFit/>
          </a:bodyPr>
          <a:lstStyle/>
          <a:p>
            <a:pPr algn="l"/>
            <a:r>
              <a:rPr sz="1350" b="1">
                <a:solidFill>
                  <a:srgbClr val="FFFFFF"/>
                </a:solidFill>
                <a:latin typeface="Gartner Sans"/>
                <a:ea typeface="Gartner Sans"/>
                <a:cs typeface="Gartner Sans"/>
              </a:rPr>
              <a:t>Projects are too large and complex</a:t>
            </a:r>
          </a:p>
        </p:txBody>
      </p:sp>
      <p:sp>
        <p:nvSpPr>
          <p:cNvPr id="21" name="Card 2 body"/>
          <p:cNvSpPr/>
          <p:nvPr/>
        </p:nvSpPr>
        <p:spPr>
          <a:xfrm>
            <a:off x="4359249" y="2212848"/>
            <a:ext cx="3532632" cy="3547872"/>
          </a:xfrm>
          <a:prstGeom prst="rect">
            <a:avLst/>
          </a:prstGeom>
          <a:solidFill>
            <a:srgbClr val="F0F7FD"/>
          </a:solidFill>
          <a:ln>
            <a:noFill/>
          </a:ln>
        </p:spPr>
        <p:txBody>
          <a:bodyPr rtlCol="0" anchor="ctr"/>
          <a:lstStyle/>
          <a:p>
            <a:pPr algn="ctr"/>
            <a:endParaRPr/>
          </a:p>
        </p:txBody>
      </p:sp>
      <p:sp>
        <p:nvSpPr>
          <p:cNvPr id="22" name="Stat 2"/>
          <p:cNvSpPr txBox="1"/>
          <p:nvPr/>
        </p:nvSpPr>
        <p:spPr>
          <a:xfrm>
            <a:off x="4542129" y="4617720"/>
            <a:ext cx="3166872" cy="502920"/>
          </a:xfrm>
          <a:prstGeom prst="rect">
            <a:avLst/>
          </a:prstGeom>
          <a:noFill/>
        </p:spPr>
        <p:txBody>
          <a:bodyPr wrap="square" lIns="0" tIns="0" rIns="0" bIns="0" anchor="t">
            <a:spAutoFit/>
          </a:bodyPr>
          <a:lstStyle/>
          <a:p>
            <a:pPr algn="l"/>
            <a:r>
              <a:rPr sz="3000" b="1">
                <a:solidFill>
                  <a:srgbClr val="002869"/>
                </a:solidFill>
                <a:latin typeface="Gartner Sans"/>
                <a:ea typeface="Gartner Sans"/>
                <a:cs typeface="Gartner Sans"/>
              </a:rPr>
              <a:t>61%</a:t>
            </a:r>
          </a:p>
        </p:txBody>
      </p:sp>
      <p:sp>
        <p:nvSpPr>
          <p:cNvPr id="23" name="Stat 2 label"/>
          <p:cNvSpPr txBox="1"/>
          <p:nvPr/>
        </p:nvSpPr>
        <p:spPr>
          <a:xfrm>
            <a:off x="4542129" y="5157216"/>
            <a:ext cx="3166872" cy="502920"/>
          </a:xfrm>
          <a:prstGeom prst="rect">
            <a:avLst/>
          </a:prstGeom>
          <a:noFill/>
        </p:spPr>
        <p:txBody>
          <a:bodyPr wrap="square" lIns="0" tIns="0" rIns="0" bIns="0" anchor="t">
            <a:spAutoFit/>
          </a:bodyPr>
          <a:lstStyle/>
          <a:p>
            <a:pPr algn="l"/>
            <a:r>
              <a:rPr sz="1250" b="0">
                <a:solidFill>
                  <a:srgbClr val="152230"/>
                </a:solidFill>
                <a:latin typeface="Gartner Sans"/>
                <a:ea typeface="Gartner Sans"/>
                <a:cs typeface="Gartner Sans"/>
              </a:rPr>
              <a:t>success rate for smaller projects</a:t>
            </a:r>
          </a:p>
        </p:txBody>
      </p:sp>
      <p:sp>
        <p:nvSpPr>
          <p:cNvPr id="24" name="Body 2"/>
          <p:cNvSpPr txBox="1"/>
          <p:nvPr/>
        </p:nvSpPr>
        <p:spPr>
          <a:xfrm>
            <a:off x="4542129" y="2350008"/>
            <a:ext cx="3166872" cy="3319272"/>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Large monolithic projects carry disproportionate risk.</a:t>
            </a:r>
          </a:p>
          <a:p>
            <a:pPr algn="l">
              <a:spcBef>
                <a:spcPts val="500"/>
              </a:spcBef>
            </a:pPr>
            <a:r>
              <a:rPr sz="1650" b="0">
                <a:solidFill>
                  <a:srgbClr val="152230"/>
                </a:solidFill>
                <a:latin typeface="Gartner Sans"/>
                <a:ea typeface="Gartner Sans"/>
                <a:cs typeface="Gartner Sans"/>
              </a:rPr>
              <a:t>Incremental deliverables reduce cost exposure and speed up feedback.</a:t>
            </a:r>
          </a:p>
        </p:txBody>
      </p:sp>
      <p:sp>
        <p:nvSpPr>
          <p:cNvPr id="25" name="Card 3 header"/>
          <p:cNvSpPr/>
          <p:nvPr/>
        </p:nvSpPr>
        <p:spPr>
          <a:xfrm>
            <a:off x="8166201" y="1737360"/>
            <a:ext cx="3532632" cy="475488"/>
          </a:xfrm>
          <a:prstGeom prst="rect">
            <a:avLst/>
          </a:prstGeom>
          <a:solidFill>
            <a:srgbClr val="002869"/>
          </a:solidFill>
          <a:ln>
            <a:noFill/>
          </a:ln>
        </p:spPr>
        <p:txBody>
          <a:bodyPr rtlCol="0" anchor="ctr"/>
          <a:lstStyle/>
          <a:p>
            <a:pPr algn="ctr"/>
            <a:endParaRPr/>
          </a:p>
        </p:txBody>
      </p:sp>
      <p:sp>
        <p:nvSpPr>
          <p:cNvPr id="26" name="Number 3"/>
          <p:cNvSpPr/>
          <p:nvPr/>
        </p:nvSpPr>
        <p:spPr>
          <a:xfrm>
            <a:off x="8294217"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3</a:t>
            </a:r>
          </a:p>
        </p:txBody>
      </p:sp>
      <p:sp>
        <p:nvSpPr>
          <p:cNvPr id="27" name="Heading 3"/>
          <p:cNvSpPr txBox="1"/>
          <p:nvPr/>
        </p:nvSpPr>
        <p:spPr>
          <a:xfrm>
            <a:off x="8678265" y="1737360"/>
            <a:ext cx="2929128" cy="475488"/>
          </a:xfrm>
          <a:prstGeom prst="rect">
            <a:avLst/>
          </a:prstGeom>
          <a:noFill/>
        </p:spPr>
        <p:txBody>
          <a:bodyPr wrap="square" lIns="0" tIns="0" rIns="0" bIns="0" anchor="ctr">
            <a:spAutoFit/>
          </a:bodyPr>
          <a:lstStyle/>
          <a:p>
            <a:pPr algn="l"/>
            <a:r>
              <a:rPr sz="1350" b="1">
                <a:solidFill>
                  <a:srgbClr val="FFFFFF"/>
                </a:solidFill>
                <a:latin typeface="Gartner Sans"/>
                <a:ea typeface="Gartner Sans"/>
                <a:cs typeface="Gartner Sans"/>
              </a:rPr>
              <a:t>Agile adoption is incomplete</a:t>
            </a:r>
          </a:p>
        </p:txBody>
      </p:sp>
      <p:sp>
        <p:nvSpPr>
          <p:cNvPr id="28" name="Card 3 body"/>
          <p:cNvSpPr/>
          <p:nvPr/>
        </p:nvSpPr>
        <p:spPr>
          <a:xfrm>
            <a:off x="8166201" y="2212848"/>
            <a:ext cx="3532632" cy="3547872"/>
          </a:xfrm>
          <a:prstGeom prst="rect">
            <a:avLst/>
          </a:prstGeom>
          <a:solidFill>
            <a:srgbClr val="F0F7FD"/>
          </a:solidFill>
          <a:ln>
            <a:noFill/>
          </a:ln>
        </p:spPr>
        <p:txBody>
          <a:bodyPr rtlCol="0" anchor="ctr"/>
          <a:lstStyle/>
          <a:p>
            <a:pPr algn="ctr"/>
            <a:endParaRPr/>
          </a:p>
        </p:txBody>
      </p:sp>
      <p:sp>
        <p:nvSpPr>
          <p:cNvPr id="29" name="Body 3"/>
          <p:cNvSpPr txBox="1"/>
          <p:nvPr/>
        </p:nvSpPr>
        <p:spPr>
          <a:xfrm>
            <a:off x="8349081" y="2350008"/>
            <a:ext cx="3166872" cy="3319272"/>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Many teams still use waterfall or hybrid approaches.</a:t>
            </a:r>
          </a:p>
          <a:p>
            <a:pPr algn="l">
              <a:spcBef>
                <a:spcPts val="500"/>
              </a:spcBef>
            </a:pPr>
            <a:r>
              <a:rPr sz="1650" b="0">
                <a:solidFill>
                  <a:srgbClr val="152230"/>
                </a:solidFill>
                <a:latin typeface="Gartner Sans"/>
                <a:ea typeface="Gartner Sans"/>
                <a:cs typeface="Gartner Sans"/>
              </a:rPr>
              <a:t>This delays early feedback, slows the delivery of usable increments and weakens accountability.</a:t>
            </a:r>
          </a:p>
        </p:txBody>
      </p:sp>
      <p:sp>
        <p:nvSpPr>
          <p:cNvPr id="30" name="Source"/>
          <p:cNvSpPr txBox="1"/>
          <p:nvPr/>
        </p:nvSpPr>
        <p:spPr>
          <a:xfrm>
            <a:off x="552450" y="5981700"/>
            <a:ext cx="9700000" cy="295275"/>
          </a:xfrm>
          <a:prstGeom prst="rect">
            <a:avLst/>
          </a:prstGeom>
          <a:noFill/>
        </p:spPr>
        <p:txBody>
          <a:bodyPr wrap="square" lIns="0" tIns="0" rIns="0" bIns="0">
            <a:spAutoFit/>
          </a:bodyPr>
          <a:lstStyle/>
          <a:p>
            <a:r>
              <a:rPr sz="1150" b="0">
                <a:solidFill>
                  <a:srgbClr val="526273"/>
                </a:solidFill>
                <a:latin typeface="Gartner Sans"/>
                <a:ea typeface="Gartner Sans"/>
                <a:cs typeface="Gartner Sans"/>
              </a:rPr>
              <a:t>Source: </a:t>
            </a:r>
            <a:r>
              <a:rPr sz="1150" b="0">
                <a:solidFill>
                  <a:srgbClr val="526273"/>
                </a:solidFill>
                <a:latin typeface="Gartner Sans"/>
                <a:ea typeface="Gartner Sans"/>
                <a:cs typeface="Gartner Sans"/>
                <a:hlinkClick r:id="rId2"/>
              </a:rPr>
              <a:t>Why Government Software Projects Fail and What to Do About 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Blurred roles and shifting strategy weaken delivery</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26</a:t>
            </a:r>
          </a:p>
        </p:txBody>
      </p:sp>
      <p:sp>
        <p:nvSpPr>
          <p:cNvPr id="10" name="Area heading"/>
          <p:cNvSpPr txBox="1"/>
          <p:nvPr/>
        </p:nvSpPr>
        <p:spPr>
          <a:xfrm>
            <a:off x="552297" y="1319175"/>
            <a:ext cx="11146536" cy="287729"/>
          </a:xfrm>
          <a:prstGeom prst="rect">
            <a:avLst/>
          </a:prstGeom>
          <a:noFill/>
        </p:spPr>
        <p:txBody>
          <a:bodyPr wrap="square" lIns="0" tIns="0" rIns="0" bIns="0" anchor="ctr">
            <a:spAutoFit/>
          </a:bodyPr>
          <a:lstStyle/>
          <a:p>
            <a:pPr algn="l"/>
            <a:r>
              <a:rPr sz="1800" b="1">
                <a:solidFill>
                  <a:srgbClr val="002869"/>
                </a:solidFill>
                <a:latin typeface="Gartner Sans"/>
                <a:ea typeface="Gartner Sans"/>
                <a:cs typeface="Gartner Sans"/>
              </a:rPr>
              <a:t>Project management</a:t>
            </a:r>
          </a:p>
        </p:txBody>
      </p:sp>
      <p:sp>
        <p:nvSpPr>
          <p:cNvPr id="11" name="Card 4 header"/>
          <p:cNvSpPr/>
          <p:nvPr/>
        </p:nvSpPr>
        <p:spPr>
          <a:xfrm>
            <a:off x="552297" y="1737360"/>
            <a:ext cx="11146536" cy="475488"/>
          </a:xfrm>
          <a:prstGeom prst="rect">
            <a:avLst/>
          </a:prstGeom>
          <a:solidFill>
            <a:srgbClr val="002869"/>
          </a:solidFill>
          <a:ln>
            <a:noFill/>
          </a:ln>
        </p:spPr>
        <p:txBody>
          <a:bodyPr rtlCol="0" anchor="ctr"/>
          <a:lstStyle/>
          <a:p>
            <a:pPr algn="ctr"/>
            <a:endParaRPr/>
          </a:p>
        </p:txBody>
      </p:sp>
      <p:sp>
        <p:nvSpPr>
          <p:cNvPr id="12" name="Number 4"/>
          <p:cNvSpPr/>
          <p:nvPr/>
        </p:nvSpPr>
        <p:spPr>
          <a:xfrm>
            <a:off x="680313"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4</a:t>
            </a:r>
          </a:p>
        </p:txBody>
      </p:sp>
      <p:sp>
        <p:nvSpPr>
          <p:cNvPr id="13" name="Heading 4"/>
          <p:cNvSpPr txBox="1"/>
          <p:nvPr/>
        </p:nvSpPr>
        <p:spPr>
          <a:xfrm>
            <a:off x="1064361" y="1737360"/>
            <a:ext cx="10543032"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Product managers carry project management work</a:t>
            </a:r>
          </a:p>
        </p:txBody>
      </p:sp>
      <p:sp>
        <p:nvSpPr>
          <p:cNvPr id="14" name="Card 4 body"/>
          <p:cNvSpPr/>
          <p:nvPr/>
        </p:nvSpPr>
        <p:spPr>
          <a:xfrm>
            <a:off x="552297" y="2212848"/>
            <a:ext cx="11146536" cy="1444752"/>
          </a:xfrm>
          <a:prstGeom prst="rect">
            <a:avLst/>
          </a:prstGeom>
          <a:solidFill>
            <a:srgbClr val="F0F7FD"/>
          </a:solidFill>
          <a:ln>
            <a:noFill/>
          </a:ln>
        </p:spPr>
        <p:txBody>
          <a:bodyPr rtlCol="0" anchor="ctr"/>
          <a:lstStyle/>
          <a:p>
            <a:pPr algn="ctr"/>
            <a:endParaRPr/>
          </a:p>
        </p:txBody>
      </p:sp>
      <p:sp>
        <p:nvSpPr>
          <p:cNvPr id="15" name="Stat 4"/>
          <p:cNvSpPr txBox="1"/>
          <p:nvPr/>
        </p:nvSpPr>
        <p:spPr>
          <a:xfrm>
            <a:off x="8406993" y="2350008"/>
            <a:ext cx="3108960" cy="502920"/>
          </a:xfrm>
          <a:prstGeom prst="rect">
            <a:avLst/>
          </a:prstGeom>
          <a:noFill/>
        </p:spPr>
        <p:txBody>
          <a:bodyPr wrap="square" lIns="0" tIns="0" rIns="0" bIns="0" anchor="t">
            <a:spAutoFit/>
          </a:bodyPr>
          <a:lstStyle/>
          <a:p>
            <a:pPr algn="l"/>
            <a:r>
              <a:rPr sz="2800" b="1">
                <a:solidFill>
                  <a:srgbClr val="002869"/>
                </a:solidFill>
                <a:latin typeface="Gartner Sans"/>
                <a:ea typeface="Gartner Sans"/>
                <a:cs typeface="Gartner Sans"/>
              </a:rPr>
              <a:t>44%</a:t>
            </a:r>
          </a:p>
        </p:txBody>
      </p:sp>
      <p:sp>
        <p:nvSpPr>
          <p:cNvPr id="16" name="Stat 4 label"/>
          <p:cNvSpPr txBox="1"/>
          <p:nvPr/>
        </p:nvSpPr>
        <p:spPr>
          <a:xfrm>
            <a:off x="8406993" y="2880360"/>
            <a:ext cx="3108960" cy="695346"/>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of product manager effort goes on project management tasks, not strategic product leadership</a:t>
            </a:r>
          </a:p>
        </p:txBody>
      </p:sp>
      <p:sp>
        <p:nvSpPr>
          <p:cNvPr id="17" name="Body 4"/>
          <p:cNvSpPr txBox="1"/>
          <p:nvPr/>
        </p:nvSpPr>
        <p:spPr>
          <a:xfrm>
            <a:off x="735177" y="2350008"/>
            <a:ext cx="7306055" cy="1216152"/>
          </a:xfrm>
          <a:prstGeom prst="rect">
            <a:avLst/>
          </a:prstGeom>
          <a:noFill/>
        </p:spPr>
        <p:txBody>
          <a:bodyPr wrap="square" lIns="0" tIns="0" rIns="0" bIns="0" anchor="t">
            <a:spAutoFit/>
          </a:bodyPr>
          <a:lstStyle/>
          <a:p>
            <a:pPr algn="l"/>
            <a:r>
              <a:rPr sz="1700" b="0">
                <a:solidFill>
                  <a:srgbClr val="152230"/>
                </a:solidFill>
                <a:latin typeface="Gartner Sans"/>
                <a:ea typeface="Gartner Sans"/>
                <a:cs typeface="Gartner Sans"/>
              </a:rPr>
              <a:t>Responsibilities are not clearly defined. Product managers take on work better suited to specialist roles such as delivery managers.</a:t>
            </a:r>
          </a:p>
          <a:p>
            <a:pPr algn="l">
              <a:spcBef>
                <a:spcPts val="500"/>
              </a:spcBef>
            </a:pPr>
            <a:r>
              <a:rPr sz="1700" b="0">
                <a:solidFill>
                  <a:srgbClr val="152230"/>
                </a:solidFill>
                <a:latin typeface="Gartner Sans"/>
                <a:ea typeface="Gartner Sans"/>
                <a:cs typeface="Gartner Sans"/>
              </a:rPr>
              <a:t>The overhead slows project response and reduces accountability.</a:t>
            </a:r>
          </a:p>
        </p:txBody>
      </p:sp>
      <p:sp>
        <p:nvSpPr>
          <p:cNvPr id="18" name="Card 5 header"/>
          <p:cNvSpPr/>
          <p:nvPr/>
        </p:nvSpPr>
        <p:spPr>
          <a:xfrm>
            <a:off x="552297" y="3840480"/>
            <a:ext cx="11146536" cy="475488"/>
          </a:xfrm>
          <a:prstGeom prst="rect">
            <a:avLst/>
          </a:prstGeom>
          <a:solidFill>
            <a:srgbClr val="002869"/>
          </a:solidFill>
          <a:ln>
            <a:noFill/>
          </a:ln>
        </p:spPr>
        <p:txBody>
          <a:bodyPr rtlCol="0" anchor="ctr"/>
          <a:lstStyle/>
          <a:p>
            <a:pPr algn="ctr"/>
            <a:endParaRPr/>
          </a:p>
        </p:txBody>
      </p:sp>
      <p:sp>
        <p:nvSpPr>
          <p:cNvPr id="19" name="Number 5"/>
          <p:cNvSpPr/>
          <p:nvPr/>
        </p:nvSpPr>
        <p:spPr>
          <a:xfrm>
            <a:off x="680313" y="3941063"/>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5</a:t>
            </a:r>
          </a:p>
        </p:txBody>
      </p:sp>
      <p:sp>
        <p:nvSpPr>
          <p:cNvPr id="20" name="Heading 5"/>
          <p:cNvSpPr txBox="1"/>
          <p:nvPr/>
        </p:nvSpPr>
        <p:spPr>
          <a:xfrm>
            <a:off x="1064361" y="3840480"/>
            <a:ext cx="10543032"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Business strategy shifts too often</a:t>
            </a:r>
          </a:p>
        </p:txBody>
      </p:sp>
      <p:sp>
        <p:nvSpPr>
          <p:cNvPr id="21" name="Card 5 body"/>
          <p:cNvSpPr/>
          <p:nvPr/>
        </p:nvSpPr>
        <p:spPr>
          <a:xfrm>
            <a:off x="552297" y="4315968"/>
            <a:ext cx="11146536" cy="1444752"/>
          </a:xfrm>
          <a:prstGeom prst="rect">
            <a:avLst/>
          </a:prstGeom>
          <a:solidFill>
            <a:srgbClr val="F0F7FD"/>
          </a:solidFill>
          <a:ln>
            <a:noFill/>
          </a:ln>
        </p:spPr>
        <p:txBody>
          <a:bodyPr rtlCol="0" anchor="ctr"/>
          <a:lstStyle/>
          <a:p>
            <a:pPr algn="ctr"/>
            <a:endParaRPr/>
          </a:p>
        </p:txBody>
      </p:sp>
      <p:sp>
        <p:nvSpPr>
          <p:cNvPr id="22" name="Stat 5"/>
          <p:cNvSpPr txBox="1"/>
          <p:nvPr/>
        </p:nvSpPr>
        <p:spPr>
          <a:xfrm>
            <a:off x="8406993" y="4453128"/>
            <a:ext cx="3108960" cy="502920"/>
          </a:xfrm>
          <a:prstGeom prst="rect">
            <a:avLst/>
          </a:prstGeom>
          <a:noFill/>
        </p:spPr>
        <p:txBody>
          <a:bodyPr wrap="square" lIns="0" tIns="0" rIns="0" bIns="0" anchor="t">
            <a:spAutoFit/>
          </a:bodyPr>
          <a:lstStyle/>
          <a:p>
            <a:pPr algn="l"/>
            <a:r>
              <a:rPr sz="2800" b="1">
                <a:solidFill>
                  <a:srgbClr val="002869"/>
                </a:solidFill>
                <a:latin typeface="Gartner Sans"/>
                <a:ea typeface="Gartner Sans"/>
                <a:cs typeface="Gartner Sans"/>
              </a:rPr>
              <a:t>41%</a:t>
            </a:r>
          </a:p>
        </p:txBody>
      </p:sp>
      <p:sp>
        <p:nvSpPr>
          <p:cNvPr id="23" name="Stat 5 label"/>
          <p:cNvSpPr txBox="1"/>
          <p:nvPr/>
        </p:nvSpPr>
        <p:spPr>
          <a:xfrm>
            <a:off x="8406993" y="4983480"/>
            <a:ext cx="3108960" cy="695346"/>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of product leaders cite frequent shifts in business strategy as the top barrier to alignment</a:t>
            </a:r>
          </a:p>
        </p:txBody>
      </p:sp>
      <p:sp>
        <p:nvSpPr>
          <p:cNvPr id="24" name="Body 5"/>
          <p:cNvSpPr txBox="1"/>
          <p:nvPr/>
        </p:nvSpPr>
        <p:spPr>
          <a:xfrm>
            <a:off x="735177" y="4453128"/>
            <a:ext cx="7306055" cy="1216152"/>
          </a:xfrm>
          <a:prstGeom prst="rect">
            <a:avLst/>
          </a:prstGeom>
          <a:noFill/>
        </p:spPr>
        <p:txBody>
          <a:bodyPr wrap="square" lIns="0" tIns="0" rIns="0" bIns="0" anchor="t">
            <a:spAutoFit/>
          </a:bodyPr>
          <a:lstStyle/>
          <a:p>
            <a:pPr algn="l"/>
            <a:r>
              <a:rPr sz="1700" b="0">
                <a:solidFill>
                  <a:srgbClr val="152230"/>
                </a:solidFill>
                <a:latin typeface="Gartner Sans"/>
                <a:ea typeface="Gartner Sans"/>
                <a:cs typeface="Gartner Sans"/>
              </a:rPr>
              <a:t>Frequent shifts disrupt prioritisation and create rework.</a:t>
            </a:r>
          </a:p>
          <a:p>
            <a:pPr algn="l">
              <a:spcBef>
                <a:spcPts val="500"/>
              </a:spcBef>
            </a:pPr>
            <a:r>
              <a:rPr sz="1700" b="0">
                <a:solidFill>
                  <a:srgbClr val="152230"/>
                </a:solidFill>
                <a:latin typeface="Gartner Sans"/>
                <a:ea typeface="Gartner Sans"/>
                <a:cs typeface="Gartner Sans"/>
              </a:rPr>
              <a:t>Without stable direction, teams lose confidence in planning assumptions.</a:t>
            </a:r>
          </a:p>
        </p:txBody>
      </p:sp>
      <p:sp>
        <p:nvSpPr>
          <p:cNvPr id="25" name="Source"/>
          <p:cNvSpPr txBox="1"/>
          <p:nvPr/>
        </p:nvSpPr>
        <p:spPr>
          <a:xfrm>
            <a:off x="552450" y="5981700"/>
            <a:ext cx="9700000" cy="295275"/>
          </a:xfrm>
          <a:prstGeom prst="rect">
            <a:avLst/>
          </a:prstGeom>
          <a:noFill/>
        </p:spPr>
        <p:txBody>
          <a:bodyPr wrap="square" lIns="0" tIns="0" rIns="0" bIns="0">
            <a:spAutoFit/>
          </a:bodyPr>
          <a:lstStyle/>
          <a:p>
            <a:r>
              <a:rPr sz="1150" b="0">
                <a:solidFill>
                  <a:srgbClr val="526273"/>
                </a:solidFill>
                <a:latin typeface="Gartner Sans"/>
                <a:ea typeface="Gartner Sans"/>
                <a:cs typeface="Gartner Sans"/>
              </a:rPr>
              <a:t>Source: </a:t>
            </a:r>
            <a:r>
              <a:rPr sz="1150" b="0">
                <a:solidFill>
                  <a:srgbClr val="526273"/>
                </a:solidFill>
                <a:latin typeface="Gartner Sans"/>
                <a:ea typeface="Gartner Sans"/>
                <a:cs typeface="Gartner Sans"/>
                <a:hlinkClick r:id="rId2"/>
              </a:rPr>
              <a:t>(Re-)Defining Product Management to Optimize for Customer Value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Faster delivery is not yet producing customer value</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27</a:t>
            </a:r>
          </a:p>
        </p:txBody>
      </p:sp>
      <p:sp>
        <p:nvSpPr>
          <p:cNvPr id="10" name="Area heading"/>
          <p:cNvSpPr txBox="1"/>
          <p:nvPr/>
        </p:nvSpPr>
        <p:spPr>
          <a:xfrm>
            <a:off x="552297" y="1319175"/>
            <a:ext cx="11146536" cy="287729"/>
          </a:xfrm>
          <a:prstGeom prst="rect">
            <a:avLst/>
          </a:prstGeom>
          <a:noFill/>
        </p:spPr>
        <p:txBody>
          <a:bodyPr wrap="square" lIns="0" tIns="0" rIns="0" bIns="0" anchor="ctr">
            <a:spAutoFit/>
          </a:bodyPr>
          <a:lstStyle/>
          <a:p>
            <a:pPr algn="l"/>
            <a:r>
              <a:rPr sz="1800" b="1">
                <a:solidFill>
                  <a:srgbClr val="002869"/>
                </a:solidFill>
                <a:latin typeface="Gartner Sans"/>
                <a:ea typeface="Gartner Sans"/>
                <a:cs typeface="Gartner Sans"/>
              </a:rPr>
              <a:t>Requirements management</a:t>
            </a:r>
          </a:p>
        </p:txBody>
      </p:sp>
      <p:sp>
        <p:nvSpPr>
          <p:cNvPr id="11" name="Card 6 header"/>
          <p:cNvSpPr/>
          <p:nvPr/>
        </p:nvSpPr>
        <p:spPr>
          <a:xfrm>
            <a:off x="552297" y="1737360"/>
            <a:ext cx="5436107" cy="475488"/>
          </a:xfrm>
          <a:prstGeom prst="rect">
            <a:avLst/>
          </a:prstGeom>
          <a:solidFill>
            <a:srgbClr val="002869"/>
          </a:solidFill>
          <a:ln>
            <a:noFill/>
          </a:ln>
        </p:spPr>
        <p:txBody>
          <a:bodyPr rtlCol="0" anchor="ctr"/>
          <a:lstStyle/>
          <a:p>
            <a:pPr algn="ctr"/>
            <a:endParaRPr/>
          </a:p>
        </p:txBody>
      </p:sp>
      <p:sp>
        <p:nvSpPr>
          <p:cNvPr id="12" name="Number 6"/>
          <p:cNvSpPr/>
          <p:nvPr/>
        </p:nvSpPr>
        <p:spPr>
          <a:xfrm>
            <a:off x="680313"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6</a:t>
            </a:r>
          </a:p>
        </p:txBody>
      </p:sp>
      <p:sp>
        <p:nvSpPr>
          <p:cNvPr id="13" name="Heading 6"/>
          <p:cNvSpPr txBox="1"/>
          <p:nvPr/>
        </p:nvSpPr>
        <p:spPr>
          <a:xfrm>
            <a:off x="1064361" y="1737360"/>
            <a:ext cx="4832603"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Speed is ahead of customer value</a:t>
            </a:r>
          </a:p>
        </p:txBody>
      </p:sp>
      <p:sp>
        <p:nvSpPr>
          <p:cNvPr id="14" name="Card 6 body"/>
          <p:cNvSpPr/>
          <p:nvPr/>
        </p:nvSpPr>
        <p:spPr>
          <a:xfrm>
            <a:off x="552297" y="2212848"/>
            <a:ext cx="5436107" cy="1463040"/>
          </a:xfrm>
          <a:prstGeom prst="rect">
            <a:avLst/>
          </a:prstGeom>
          <a:solidFill>
            <a:srgbClr val="F0F7FD"/>
          </a:solidFill>
          <a:ln>
            <a:noFill/>
          </a:ln>
        </p:spPr>
        <p:txBody>
          <a:bodyPr rtlCol="0" anchor="ctr"/>
          <a:lstStyle/>
          <a:p>
            <a:pPr algn="ctr"/>
            <a:endParaRPr/>
          </a:p>
        </p:txBody>
      </p:sp>
      <p:sp>
        <p:nvSpPr>
          <p:cNvPr id="15" name="Stat 6"/>
          <p:cNvSpPr txBox="1"/>
          <p:nvPr/>
        </p:nvSpPr>
        <p:spPr>
          <a:xfrm>
            <a:off x="4022445" y="2350008"/>
            <a:ext cx="1783080" cy="502920"/>
          </a:xfrm>
          <a:prstGeom prst="rect">
            <a:avLst/>
          </a:prstGeom>
          <a:noFill/>
        </p:spPr>
        <p:txBody>
          <a:bodyPr wrap="square" lIns="0" tIns="0" rIns="0" bIns="0" anchor="t">
            <a:spAutoFit/>
          </a:bodyPr>
          <a:lstStyle/>
          <a:p>
            <a:pPr algn="l"/>
            <a:r>
              <a:rPr sz="2800" b="1">
                <a:solidFill>
                  <a:srgbClr val="002869"/>
                </a:solidFill>
                <a:latin typeface="Gartner Sans"/>
                <a:ea typeface="Gartner Sans"/>
                <a:cs typeface="Gartner Sans"/>
              </a:rPr>
              <a:t>50%</a:t>
            </a:r>
          </a:p>
        </p:txBody>
      </p:sp>
      <p:sp>
        <p:nvSpPr>
          <p:cNvPr id="16" name="Stat 6 label"/>
          <p:cNvSpPr txBox="1"/>
          <p:nvPr/>
        </p:nvSpPr>
        <p:spPr>
          <a:xfrm>
            <a:off x="4022445" y="2880360"/>
            <a:ext cx="1783080" cy="685800"/>
          </a:xfrm>
          <a:prstGeom prst="rect">
            <a:avLst/>
          </a:prstGeom>
          <a:noFill/>
        </p:spPr>
        <p:txBody>
          <a:bodyPr wrap="square" lIns="0" tIns="0" rIns="0" bIns="0" anchor="t">
            <a:spAutoFit/>
          </a:bodyPr>
          <a:lstStyle/>
          <a:p>
            <a:pPr algn="l"/>
            <a:r>
              <a:rPr sz="1300" b="0">
                <a:solidFill>
                  <a:srgbClr val="152230"/>
                </a:solidFill>
                <a:latin typeface="Gartner Sans"/>
                <a:ea typeface="Gartner Sans"/>
                <a:cs typeface="Gartner Sans"/>
              </a:rPr>
              <a:t>of product leaders report AI feature usage at or below 30%</a:t>
            </a:r>
          </a:p>
        </p:txBody>
      </p:sp>
      <p:sp>
        <p:nvSpPr>
          <p:cNvPr id="17" name="Body 6"/>
          <p:cNvSpPr txBox="1"/>
          <p:nvPr/>
        </p:nvSpPr>
        <p:spPr>
          <a:xfrm>
            <a:off x="735177" y="2350008"/>
            <a:ext cx="3150107" cy="1238836"/>
          </a:xfrm>
          <a:prstGeom prst="rect">
            <a:avLst/>
          </a:prstGeom>
          <a:noFill/>
        </p:spPr>
        <p:txBody>
          <a:bodyPr wrap="square" lIns="0" tIns="0" rIns="0" bIns="0" anchor="t">
            <a:spAutoFit/>
          </a:bodyPr>
          <a:lstStyle/>
          <a:p>
            <a:pPr algn="l"/>
            <a:r>
              <a:rPr sz="1550" b="0">
                <a:solidFill>
                  <a:srgbClr val="152230"/>
                </a:solidFill>
                <a:latin typeface="Gartner Sans"/>
                <a:ea typeface="Gartner Sans"/>
                <a:cs typeface="Gartner Sans"/>
              </a:rPr>
              <a:t>AI-accelerated development lets very small teams ship features quickly. Low usage suggests features are built for speed, not customer need.</a:t>
            </a:r>
          </a:p>
        </p:txBody>
      </p:sp>
      <p:sp>
        <p:nvSpPr>
          <p:cNvPr id="18" name="Card 7 header"/>
          <p:cNvSpPr/>
          <p:nvPr/>
        </p:nvSpPr>
        <p:spPr>
          <a:xfrm>
            <a:off x="6262725" y="1737360"/>
            <a:ext cx="5436107" cy="475488"/>
          </a:xfrm>
          <a:prstGeom prst="rect">
            <a:avLst/>
          </a:prstGeom>
          <a:solidFill>
            <a:srgbClr val="002869"/>
          </a:solidFill>
          <a:ln>
            <a:noFill/>
          </a:ln>
        </p:spPr>
        <p:txBody>
          <a:bodyPr rtlCol="0" anchor="ctr"/>
          <a:lstStyle/>
          <a:p>
            <a:pPr algn="ctr"/>
            <a:endParaRPr/>
          </a:p>
        </p:txBody>
      </p:sp>
      <p:sp>
        <p:nvSpPr>
          <p:cNvPr id="19" name="Number 7"/>
          <p:cNvSpPr/>
          <p:nvPr/>
        </p:nvSpPr>
        <p:spPr>
          <a:xfrm>
            <a:off x="6390741"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7</a:t>
            </a:r>
          </a:p>
        </p:txBody>
      </p:sp>
      <p:sp>
        <p:nvSpPr>
          <p:cNvPr id="20" name="Heading 7"/>
          <p:cNvSpPr txBox="1"/>
          <p:nvPr/>
        </p:nvSpPr>
        <p:spPr>
          <a:xfrm>
            <a:off x="6774789" y="1737360"/>
            <a:ext cx="4832603"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Customer discovery is insufficient</a:t>
            </a:r>
          </a:p>
        </p:txBody>
      </p:sp>
      <p:sp>
        <p:nvSpPr>
          <p:cNvPr id="21" name="Card 7 body"/>
          <p:cNvSpPr/>
          <p:nvPr/>
        </p:nvSpPr>
        <p:spPr>
          <a:xfrm>
            <a:off x="6262725" y="2212848"/>
            <a:ext cx="5436107" cy="1463040"/>
          </a:xfrm>
          <a:prstGeom prst="rect">
            <a:avLst/>
          </a:prstGeom>
          <a:solidFill>
            <a:srgbClr val="F0F7FD"/>
          </a:solidFill>
          <a:ln>
            <a:noFill/>
          </a:ln>
        </p:spPr>
        <p:txBody>
          <a:bodyPr rtlCol="0" anchor="ctr"/>
          <a:lstStyle/>
          <a:p>
            <a:pPr algn="ctr"/>
            <a:endParaRPr/>
          </a:p>
        </p:txBody>
      </p:sp>
      <p:sp>
        <p:nvSpPr>
          <p:cNvPr id="22" name="Stat 7"/>
          <p:cNvSpPr txBox="1"/>
          <p:nvPr/>
        </p:nvSpPr>
        <p:spPr>
          <a:xfrm>
            <a:off x="9732873" y="2350008"/>
            <a:ext cx="1783080" cy="502920"/>
          </a:xfrm>
          <a:prstGeom prst="rect">
            <a:avLst/>
          </a:prstGeom>
          <a:noFill/>
        </p:spPr>
        <p:txBody>
          <a:bodyPr wrap="square" lIns="0" tIns="0" rIns="0" bIns="0" anchor="t">
            <a:spAutoFit/>
          </a:bodyPr>
          <a:lstStyle/>
          <a:p>
            <a:pPr algn="l"/>
            <a:r>
              <a:rPr sz="2800" b="1">
                <a:solidFill>
                  <a:srgbClr val="002869"/>
                </a:solidFill>
                <a:latin typeface="Gartner Sans"/>
                <a:ea typeface="Gartner Sans"/>
                <a:cs typeface="Gartner Sans"/>
              </a:rPr>
              <a:t>42%</a:t>
            </a:r>
          </a:p>
        </p:txBody>
      </p:sp>
      <p:sp>
        <p:nvSpPr>
          <p:cNvPr id="23" name="Stat 7 label"/>
          <p:cNvSpPr txBox="1"/>
          <p:nvPr/>
        </p:nvSpPr>
        <p:spPr>
          <a:xfrm>
            <a:off x="9732873" y="2880360"/>
            <a:ext cx="1783080" cy="685800"/>
          </a:xfrm>
          <a:prstGeom prst="rect">
            <a:avLst/>
          </a:prstGeom>
          <a:noFill/>
        </p:spPr>
        <p:txBody>
          <a:bodyPr wrap="square" lIns="0" tIns="0" rIns="0" bIns="0" anchor="t">
            <a:spAutoFit/>
          </a:bodyPr>
          <a:lstStyle/>
          <a:p>
            <a:pPr algn="l"/>
            <a:r>
              <a:rPr sz="1300" b="0">
                <a:solidFill>
                  <a:srgbClr val="152230"/>
                </a:solidFill>
                <a:latin typeface="Gartner Sans"/>
                <a:ea typeface="Gartner Sans"/>
                <a:cs typeface="Gartner Sans"/>
              </a:rPr>
              <a:t>of product leaders say teams spend too little time on validation</a:t>
            </a:r>
          </a:p>
        </p:txBody>
      </p:sp>
      <p:sp>
        <p:nvSpPr>
          <p:cNvPr id="24" name="Body 7"/>
          <p:cNvSpPr txBox="1"/>
          <p:nvPr/>
        </p:nvSpPr>
        <p:spPr>
          <a:xfrm>
            <a:off x="6445605" y="2350008"/>
            <a:ext cx="3150107" cy="1234440"/>
          </a:xfrm>
          <a:prstGeom prst="rect">
            <a:avLst/>
          </a:prstGeom>
          <a:noFill/>
        </p:spPr>
        <p:txBody>
          <a:bodyPr wrap="square" lIns="0" tIns="0" rIns="0" bIns="0" anchor="t">
            <a:spAutoFit/>
          </a:bodyPr>
          <a:lstStyle/>
          <a:p>
            <a:pPr algn="l"/>
            <a:r>
              <a:rPr sz="1550" b="0">
                <a:solidFill>
                  <a:srgbClr val="152230"/>
                </a:solidFill>
                <a:latin typeface="Gartner Sans"/>
                <a:ea typeface="Gartner Sans"/>
                <a:cs typeface="Gartner Sans"/>
              </a:rPr>
              <a:t>Without customer insight, teams risk building features that do not match real needs. Product-market fit suffers.</a:t>
            </a:r>
          </a:p>
        </p:txBody>
      </p:sp>
      <p:sp>
        <p:nvSpPr>
          <p:cNvPr id="25" name="Card 8 header"/>
          <p:cNvSpPr/>
          <p:nvPr/>
        </p:nvSpPr>
        <p:spPr>
          <a:xfrm>
            <a:off x="552297" y="3822191"/>
            <a:ext cx="5436107" cy="475488"/>
          </a:xfrm>
          <a:prstGeom prst="rect">
            <a:avLst/>
          </a:prstGeom>
          <a:solidFill>
            <a:srgbClr val="002869"/>
          </a:solidFill>
          <a:ln>
            <a:noFill/>
          </a:ln>
        </p:spPr>
        <p:txBody>
          <a:bodyPr rtlCol="0" anchor="ctr"/>
          <a:lstStyle/>
          <a:p>
            <a:pPr algn="ctr"/>
            <a:endParaRPr/>
          </a:p>
        </p:txBody>
      </p:sp>
      <p:sp>
        <p:nvSpPr>
          <p:cNvPr id="26" name="Number 8"/>
          <p:cNvSpPr/>
          <p:nvPr/>
        </p:nvSpPr>
        <p:spPr>
          <a:xfrm>
            <a:off x="680313" y="3922775"/>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8</a:t>
            </a:r>
          </a:p>
        </p:txBody>
      </p:sp>
      <p:sp>
        <p:nvSpPr>
          <p:cNvPr id="27" name="Heading 8"/>
          <p:cNvSpPr txBox="1"/>
          <p:nvPr/>
        </p:nvSpPr>
        <p:spPr>
          <a:xfrm>
            <a:off x="1064361" y="3822191"/>
            <a:ext cx="4832603"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Tiny teams lack a product manager</a:t>
            </a:r>
          </a:p>
        </p:txBody>
      </p:sp>
      <p:sp>
        <p:nvSpPr>
          <p:cNvPr id="28" name="Card 8 body"/>
          <p:cNvSpPr/>
          <p:nvPr/>
        </p:nvSpPr>
        <p:spPr>
          <a:xfrm>
            <a:off x="552297" y="4297679"/>
            <a:ext cx="5436107" cy="1463040"/>
          </a:xfrm>
          <a:prstGeom prst="rect">
            <a:avLst/>
          </a:prstGeom>
          <a:solidFill>
            <a:srgbClr val="F0F7FD"/>
          </a:solidFill>
          <a:ln>
            <a:noFill/>
          </a:ln>
        </p:spPr>
        <p:txBody>
          <a:bodyPr rtlCol="0" anchor="ctr"/>
          <a:lstStyle/>
          <a:p>
            <a:pPr algn="ctr"/>
            <a:endParaRPr/>
          </a:p>
        </p:txBody>
      </p:sp>
      <p:sp>
        <p:nvSpPr>
          <p:cNvPr id="29" name="Body 8"/>
          <p:cNvSpPr txBox="1"/>
          <p:nvPr/>
        </p:nvSpPr>
        <p:spPr>
          <a:xfrm>
            <a:off x="735177" y="4434840"/>
            <a:ext cx="5070347" cy="1234440"/>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Distributed teams of fewer than five people often have no dedicated product manager to make prioritisation decisions. This creates coordination gaps and weakens strategic alignment.</a:t>
            </a:r>
          </a:p>
        </p:txBody>
      </p:sp>
      <p:sp>
        <p:nvSpPr>
          <p:cNvPr id="30" name="Card 9 header"/>
          <p:cNvSpPr/>
          <p:nvPr/>
        </p:nvSpPr>
        <p:spPr>
          <a:xfrm>
            <a:off x="6262725" y="3822191"/>
            <a:ext cx="5436107" cy="475488"/>
          </a:xfrm>
          <a:prstGeom prst="rect">
            <a:avLst/>
          </a:prstGeom>
          <a:solidFill>
            <a:srgbClr val="002869"/>
          </a:solidFill>
          <a:ln>
            <a:noFill/>
          </a:ln>
        </p:spPr>
        <p:txBody>
          <a:bodyPr rtlCol="0" anchor="ctr"/>
          <a:lstStyle/>
          <a:p>
            <a:pPr algn="ctr"/>
            <a:endParaRPr/>
          </a:p>
        </p:txBody>
      </p:sp>
      <p:sp>
        <p:nvSpPr>
          <p:cNvPr id="31" name="Number 9"/>
          <p:cNvSpPr/>
          <p:nvPr/>
        </p:nvSpPr>
        <p:spPr>
          <a:xfrm>
            <a:off x="6390741" y="3922775"/>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9</a:t>
            </a:r>
          </a:p>
        </p:txBody>
      </p:sp>
      <p:sp>
        <p:nvSpPr>
          <p:cNvPr id="32" name="Heading 9"/>
          <p:cNvSpPr txBox="1"/>
          <p:nvPr/>
        </p:nvSpPr>
        <p:spPr>
          <a:xfrm>
            <a:off x="6774789" y="3822191"/>
            <a:ext cx="4832603"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Cross-team coordination is difficult</a:t>
            </a:r>
          </a:p>
        </p:txBody>
      </p:sp>
      <p:sp>
        <p:nvSpPr>
          <p:cNvPr id="33" name="Card 9 body"/>
          <p:cNvSpPr/>
          <p:nvPr/>
        </p:nvSpPr>
        <p:spPr>
          <a:xfrm>
            <a:off x="6262725" y="4297679"/>
            <a:ext cx="5436107" cy="1463040"/>
          </a:xfrm>
          <a:prstGeom prst="rect">
            <a:avLst/>
          </a:prstGeom>
          <a:solidFill>
            <a:srgbClr val="F0F7FD"/>
          </a:solidFill>
          <a:ln>
            <a:noFill/>
          </a:ln>
        </p:spPr>
        <p:txBody>
          <a:bodyPr rtlCol="0" anchor="ctr"/>
          <a:lstStyle/>
          <a:p>
            <a:pPr algn="ctr"/>
            <a:endParaRPr/>
          </a:p>
        </p:txBody>
      </p:sp>
      <p:sp>
        <p:nvSpPr>
          <p:cNvPr id="34" name="Body 9"/>
          <p:cNvSpPr txBox="1"/>
          <p:nvPr/>
        </p:nvSpPr>
        <p:spPr>
          <a:xfrm>
            <a:off x="6445605" y="4434840"/>
            <a:ext cx="5070347" cy="1234440"/>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With many small teams delivering quickly, it is hard to coordinate backlog items, manage competing priorities, keep prioritisation transparent and track feature impact. Cross-team orchestration is needed.</a:t>
            </a:r>
          </a:p>
        </p:txBody>
      </p:sp>
      <p:sp>
        <p:nvSpPr>
          <p:cNvPr id="35" name="Source"/>
          <p:cNvSpPr txBox="1"/>
          <p:nvPr/>
        </p:nvSpPr>
        <p:spPr>
          <a:xfrm>
            <a:off x="552450" y="5981700"/>
            <a:ext cx="9700000" cy="295275"/>
          </a:xfrm>
          <a:prstGeom prst="rect">
            <a:avLst/>
          </a:prstGeom>
          <a:noFill/>
        </p:spPr>
        <p:txBody>
          <a:bodyPr wrap="square" lIns="0" tIns="0" rIns="0" bIns="0">
            <a:spAutoFit/>
          </a:bodyPr>
          <a:lstStyle/>
          <a:p>
            <a:r>
              <a:rPr sz="1050" b="0">
                <a:solidFill>
                  <a:srgbClr val="526273"/>
                </a:solidFill>
                <a:latin typeface="Gartner Sans"/>
                <a:ea typeface="Gartner Sans"/>
                <a:cs typeface="Gartner Sans"/>
              </a:rPr>
              <a:t>Sources: </a:t>
            </a:r>
            <a:r>
              <a:rPr sz="1050" b="0">
                <a:solidFill>
                  <a:srgbClr val="526273"/>
                </a:solidFill>
                <a:latin typeface="Gartner Sans"/>
                <a:ea typeface="Gartner Sans"/>
                <a:cs typeface="Gartner Sans"/>
                <a:hlinkClick r:id="rId2"/>
              </a:rPr>
              <a:t>AI Race: The Roadmap Can’t Keep Up. The Real AI Crisis for Software Vendors</a:t>
            </a:r>
            <a:r>
              <a:rPr sz="1050" b="0">
                <a:solidFill>
                  <a:srgbClr val="526273"/>
                </a:solidFill>
                <a:latin typeface="Gartner Sans"/>
                <a:ea typeface="Gartner Sans"/>
                <a:cs typeface="Gartner Sans"/>
              </a:rPr>
              <a:t>; </a:t>
            </a:r>
            <a:r>
              <a:rPr sz="1050" b="0">
                <a:solidFill>
                  <a:srgbClr val="526273"/>
                </a:solidFill>
                <a:latin typeface="Gartner Sans"/>
                <a:ea typeface="Gartner Sans"/>
                <a:cs typeface="Gartner Sans"/>
                <a:hlinkClick r:id="rId3"/>
              </a:rPr>
              <a:t>(Re-)Defining Product Management to Optimize for Customer Value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Compliance is now a core requirement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28</a:t>
            </a:r>
          </a:p>
        </p:txBody>
      </p:sp>
      <p:sp>
        <p:nvSpPr>
          <p:cNvPr id="10" name="Area heading"/>
          <p:cNvSpPr txBox="1"/>
          <p:nvPr/>
        </p:nvSpPr>
        <p:spPr>
          <a:xfrm>
            <a:off x="552297" y="1319175"/>
            <a:ext cx="11146536" cy="287729"/>
          </a:xfrm>
          <a:prstGeom prst="rect">
            <a:avLst/>
          </a:prstGeom>
          <a:noFill/>
        </p:spPr>
        <p:txBody>
          <a:bodyPr wrap="square" lIns="0" tIns="0" rIns="0" bIns="0" anchor="ctr">
            <a:spAutoFit/>
          </a:bodyPr>
          <a:lstStyle/>
          <a:p>
            <a:pPr algn="l"/>
            <a:r>
              <a:rPr sz="1800" b="1">
                <a:solidFill>
                  <a:srgbClr val="002869"/>
                </a:solidFill>
                <a:latin typeface="Gartner Sans"/>
                <a:ea typeface="Gartner Sans"/>
                <a:cs typeface="Gartner Sans"/>
              </a:rPr>
              <a:t>Requirements management</a:t>
            </a:r>
          </a:p>
        </p:txBody>
      </p:sp>
      <p:sp>
        <p:nvSpPr>
          <p:cNvPr id="11" name="Card 10 header"/>
          <p:cNvSpPr/>
          <p:nvPr/>
        </p:nvSpPr>
        <p:spPr>
          <a:xfrm>
            <a:off x="552297" y="1737360"/>
            <a:ext cx="5943600" cy="475488"/>
          </a:xfrm>
          <a:prstGeom prst="rect">
            <a:avLst/>
          </a:prstGeom>
          <a:solidFill>
            <a:srgbClr val="002869"/>
          </a:solidFill>
          <a:ln>
            <a:noFill/>
          </a:ln>
        </p:spPr>
        <p:txBody>
          <a:bodyPr rtlCol="0" anchor="ctr"/>
          <a:lstStyle/>
          <a:p>
            <a:pPr algn="ctr"/>
            <a:endParaRPr/>
          </a:p>
        </p:txBody>
      </p:sp>
      <p:sp>
        <p:nvSpPr>
          <p:cNvPr id="12" name="Number 10"/>
          <p:cNvSpPr/>
          <p:nvPr/>
        </p:nvSpPr>
        <p:spPr>
          <a:xfrm>
            <a:off x="680313"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10</a:t>
            </a:r>
          </a:p>
        </p:txBody>
      </p:sp>
      <p:sp>
        <p:nvSpPr>
          <p:cNvPr id="13" name="Heading 10"/>
          <p:cNvSpPr txBox="1"/>
          <p:nvPr/>
        </p:nvSpPr>
        <p:spPr>
          <a:xfrm>
            <a:off x="1064361" y="1737360"/>
            <a:ext cx="5340096"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Regulation is fragmented</a:t>
            </a:r>
          </a:p>
        </p:txBody>
      </p:sp>
      <p:sp>
        <p:nvSpPr>
          <p:cNvPr id="14" name="Card 10 body"/>
          <p:cNvSpPr/>
          <p:nvPr/>
        </p:nvSpPr>
        <p:spPr>
          <a:xfrm>
            <a:off x="552297" y="2212848"/>
            <a:ext cx="5943600" cy="1627631"/>
          </a:xfrm>
          <a:prstGeom prst="rect">
            <a:avLst/>
          </a:prstGeom>
          <a:solidFill>
            <a:srgbClr val="F0F7FD"/>
          </a:solidFill>
          <a:ln>
            <a:noFill/>
          </a:ln>
        </p:spPr>
        <p:txBody>
          <a:bodyPr rtlCol="0" anchor="ctr"/>
          <a:lstStyle/>
          <a:p>
            <a:pPr algn="ctr"/>
            <a:endParaRPr/>
          </a:p>
        </p:txBody>
      </p:sp>
      <p:sp>
        <p:nvSpPr>
          <p:cNvPr id="15" name="Body 10"/>
          <p:cNvSpPr txBox="1"/>
          <p:nvPr/>
        </p:nvSpPr>
        <p:spPr>
          <a:xfrm>
            <a:off x="735177" y="2350008"/>
            <a:ext cx="5577840" cy="1399031"/>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Mandates such as the EU Cyber Resilience Act make security and documentation fundamental requirements. Rules differ by jurisdiction and can conflict, so teams manage different requirements by market. This lengthens timelines and diverts engineering effort from innovation.</a:t>
            </a:r>
          </a:p>
        </p:txBody>
      </p:sp>
      <p:sp>
        <p:nvSpPr>
          <p:cNvPr id="16" name="Card 11 header"/>
          <p:cNvSpPr/>
          <p:nvPr/>
        </p:nvSpPr>
        <p:spPr>
          <a:xfrm>
            <a:off x="552297" y="3977639"/>
            <a:ext cx="5943600" cy="475488"/>
          </a:xfrm>
          <a:prstGeom prst="rect">
            <a:avLst/>
          </a:prstGeom>
          <a:solidFill>
            <a:srgbClr val="002869"/>
          </a:solidFill>
          <a:ln>
            <a:noFill/>
          </a:ln>
        </p:spPr>
        <p:txBody>
          <a:bodyPr rtlCol="0" anchor="ctr"/>
          <a:lstStyle/>
          <a:p>
            <a:pPr algn="ctr"/>
            <a:endParaRPr/>
          </a:p>
        </p:txBody>
      </p:sp>
      <p:sp>
        <p:nvSpPr>
          <p:cNvPr id="17" name="Number 11"/>
          <p:cNvSpPr/>
          <p:nvPr/>
        </p:nvSpPr>
        <p:spPr>
          <a:xfrm>
            <a:off x="680313" y="4078223"/>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11</a:t>
            </a:r>
          </a:p>
        </p:txBody>
      </p:sp>
      <p:sp>
        <p:nvSpPr>
          <p:cNvPr id="18" name="Heading 11"/>
          <p:cNvSpPr txBox="1"/>
          <p:nvPr/>
        </p:nvSpPr>
        <p:spPr>
          <a:xfrm>
            <a:off x="1064361" y="3977639"/>
            <a:ext cx="5340096"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Agility and compliance are in tension</a:t>
            </a:r>
          </a:p>
        </p:txBody>
      </p:sp>
      <p:sp>
        <p:nvSpPr>
          <p:cNvPr id="19" name="Card 11 body"/>
          <p:cNvSpPr/>
          <p:nvPr/>
        </p:nvSpPr>
        <p:spPr>
          <a:xfrm>
            <a:off x="552297" y="4453127"/>
            <a:ext cx="5943600" cy="1307592"/>
          </a:xfrm>
          <a:prstGeom prst="rect">
            <a:avLst/>
          </a:prstGeom>
          <a:solidFill>
            <a:srgbClr val="F0F7FD"/>
          </a:solidFill>
          <a:ln>
            <a:noFill/>
          </a:ln>
        </p:spPr>
        <p:txBody>
          <a:bodyPr rtlCol="0" anchor="ctr"/>
          <a:lstStyle/>
          <a:p>
            <a:pPr algn="ctr"/>
            <a:endParaRPr/>
          </a:p>
        </p:txBody>
      </p:sp>
      <p:sp>
        <p:nvSpPr>
          <p:cNvPr id="20" name="Body 11"/>
          <p:cNvSpPr txBox="1"/>
          <p:nvPr/>
        </p:nvSpPr>
        <p:spPr>
          <a:xfrm>
            <a:off x="735177" y="4590288"/>
            <a:ext cx="5577840" cy="1078992"/>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Compliance calls for documentation, formal risk assessment and verification. Agile practice favours minimal documentation and rapid iteration. Teams have to track innovation and compliance in parallel.</a:t>
            </a:r>
          </a:p>
        </p:txBody>
      </p:sp>
      <p:pic>
        <p:nvPicPr>
          <p:cNvPr id="21" name="Figure" descr="Gartner figure: software engineering is transforming from a feature-driven to a compliance-driven model"/>
          <p:cNvPicPr>
            <a:picLocks noChangeAspect="1"/>
          </p:cNvPicPr>
          <p:nvPr/>
        </p:nvPicPr>
        <p:blipFill>
          <a:blip r:embed="rId2"/>
          <a:stretch>
            <a:fillRect/>
          </a:stretch>
        </p:blipFill>
        <p:spPr>
          <a:xfrm>
            <a:off x="6815937" y="1737360"/>
            <a:ext cx="4882895" cy="3406000"/>
          </a:xfrm>
          <a:prstGeom prst="rect">
            <a:avLst/>
          </a:prstGeom>
        </p:spPr>
      </p:pic>
      <p:sp>
        <p:nvSpPr>
          <p:cNvPr id="22" name="Source"/>
          <p:cNvSpPr txBox="1"/>
          <p:nvPr/>
        </p:nvSpPr>
        <p:spPr>
          <a:xfrm>
            <a:off x="552450" y="5981700"/>
            <a:ext cx="9700000" cy="295275"/>
          </a:xfrm>
          <a:prstGeom prst="rect">
            <a:avLst/>
          </a:prstGeom>
          <a:noFill/>
        </p:spPr>
        <p:txBody>
          <a:bodyPr wrap="square" lIns="0" tIns="0" rIns="0" bIns="0">
            <a:spAutoFit/>
          </a:bodyPr>
          <a:lstStyle/>
          <a:p>
            <a:r>
              <a:rPr sz="1150" b="0">
                <a:solidFill>
                  <a:srgbClr val="526273"/>
                </a:solidFill>
                <a:latin typeface="Gartner Sans"/>
                <a:ea typeface="Gartner Sans"/>
                <a:cs typeface="Gartner Sans"/>
              </a:rPr>
              <a:t>Source and figure source: </a:t>
            </a:r>
            <a:r>
              <a:rPr sz="1150" b="0">
                <a:solidFill>
                  <a:srgbClr val="526273"/>
                </a:solidFill>
                <a:latin typeface="Gartner Sans"/>
                <a:ea typeface="Gartner Sans"/>
                <a:cs typeface="Gartner Sans"/>
                <a:hlinkClick r:id="rId3"/>
              </a:rPr>
              <a:t>Emerging Tech: C-Level Buyers Shift Focus as Compliance Takes Priority in Software Engineering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Centralised, late-stage testing creates bottlenecks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29</a:t>
            </a:r>
          </a:p>
        </p:txBody>
      </p:sp>
      <p:sp>
        <p:nvSpPr>
          <p:cNvPr id="10" name="Area heading"/>
          <p:cNvSpPr txBox="1"/>
          <p:nvPr/>
        </p:nvSpPr>
        <p:spPr>
          <a:xfrm>
            <a:off x="552297" y="1319175"/>
            <a:ext cx="11146536" cy="287729"/>
          </a:xfrm>
          <a:prstGeom prst="rect">
            <a:avLst/>
          </a:prstGeom>
          <a:noFill/>
        </p:spPr>
        <p:txBody>
          <a:bodyPr wrap="square" lIns="0" tIns="0" rIns="0" bIns="0" anchor="ctr">
            <a:spAutoFit/>
          </a:bodyPr>
          <a:lstStyle/>
          <a:p>
            <a:pPr algn="l"/>
            <a:r>
              <a:rPr sz="1800" b="1">
                <a:solidFill>
                  <a:srgbClr val="002869"/>
                </a:solidFill>
                <a:latin typeface="Gartner Sans"/>
                <a:ea typeface="Gartner Sans"/>
                <a:cs typeface="Gartner Sans"/>
              </a:rPr>
              <a:t>Quality assurance and testing</a:t>
            </a:r>
          </a:p>
        </p:txBody>
      </p:sp>
      <p:sp>
        <p:nvSpPr>
          <p:cNvPr id="11" name="Card 12 header"/>
          <p:cNvSpPr/>
          <p:nvPr/>
        </p:nvSpPr>
        <p:spPr>
          <a:xfrm>
            <a:off x="552297" y="1737360"/>
            <a:ext cx="5436107" cy="475488"/>
          </a:xfrm>
          <a:prstGeom prst="rect">
            <a:avLst/>
          </a:prstGeom>
          <a:solidFill>
            <a:srgbClr val="002869"/>
          </a:solidFill>
          <a:ln>
            <a:noFill/>
          </a:ln>
        </p:spPr>
        <p:txBody>
          <a:bodyPr rtlCol="0" anchor="ctr"/>
          <a:lstStyle/>
          <a:p>
            <a:pPr algn="ctr"/>
            <a:endParaRPr/>
          </a:p>
        </p:txBody>
      </p:sp>
      <p:sp>
        <p:nvSpPr>
          <p:cNvPr id="12" name="Number 12"/>
          <p:cNvSpPr/>
          <p:nvPr/>
        </p:nvSpPr>
        <p:spPr>
          <a:xfrm>
            <a:off x="680313"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12</a:t>
            </a:r>
          </a:p>
        </p:txBody>
      </p:sp>
      <p:sp>
        <p:nvSpPr>
          <p:cNvPr id="13" name="Heading 12"/>
          <p:cNvSpPr txBox="1"/>
          <p:nvPr/>
        </p:nvSpPr>
        <p:spPr>
          <a:xfrm>
            <a:off x="1064361" y="1737360"/>
            <a:ext cx="4832603"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Central QA teams become bottlenecks</a:t>
            </a:r>
          </a:p>
        </p:txBody>
      </p:sp>
      <p:sp>
        <p:nvSpPr>
          <p:cNvPr id="14" name="Card 12 body"/>
          <p:cNvSpPr/>
          <p:nvPr/>
        </p:nvSpPr>
        <p:spPr>
          <a:xfrm>
            <a:off x="552297" y="2212848"/>
            <a:ext cx="5436107" cy="1463040"/>
          </a:xfrm>
          <a:prstGeom prst="rect">
            <a:avLst/>
          </a:prstGeom>
          <a:solidFill>
            <a:srgbClr val="F0F7FD"/>
          </a:solidFill>
          <a:ln>
            <a:noFill/>
          </a:ln>
        </p:spPr>
        <p:txBody>
          <a:bodyPr rtlCol="0" anchor="ctr"/>
          <a:lstStyle/>
          <a:p>
            <a:pPr algn="ctr"/>
            <a:endParaRPr/>
          </a:p>
        </p:txBody>
      </p:sp>
      <p:sp>
        <p:nvSpPr>
          <p:cNvPr id="15" name="Body 12"/>
          <p:cNvSpPr txBox="1"/>
          <p:nvPr/>
        </p:nvSpPr>
        <p:spPr>
          <a:xfrm>
            <a:off x="735177" y="2350008"/>
            <a:ext cx="5070347" cy="1238836"/>
          </a:xfrm>
          <a:prstGeom prst="rect">
            <a:avLst/>
          </a:prstGeom>
          <a:noFill/>
        </p:spPr>
        <p:txBody>
          <a:bodyPr wrap="square" lIns="0" tIns="0" rIns="0" bIns="0" anchor="t">
            <a:spAutoFit/>
          </a:bodyPr>
          <a:lstStyle/>
          <a:p>
            <a:pPr algn="l"/>
            <a:r>
              <a:rPr sz="1550" b="0">
                <a:solidFill>
                  <a:srgbClr val="152230"/>
                </a:solidFill>
                <a:latin typeface="Gartner Sans"/>
                <a:ea typeface="Gartner Sans"/>
                <a:cs typeface="Gartner Sans"/>
              </a:rPr>
              <a:t>Central teams face more demand than quality engineers can meet, which causes backlogs. Prioritisation meetings, manual forms and context-switching across products slow response. Central QA growth is often underfunded.</a:t>
            </a:r>
          </a:p>
        </p:txBody>
      </p:sp>
      <p:sp>
        <p:nvSpPr>
          <p:cNvPr id="16" name="Card 13 header"/>
          <p:cNvSpPr/>
          <p:nvPr/>
        </p:nvSpPr>
        <p:spPr>
          <a:xfrm>
            <a:off x="6262725" y="1737360"/>
            <a:ext cx="5436107" cy="475488"/>
          </a:xfrm>
          <a:prstGeom prst="rect">
            <a:avLst/>
          </a:prstGeom>
          <a:solidFill>
            <a:srgbClr val="002869"/>
          </a:solidFill>
          <a:ln>
            <a:noFill/>
          </a:ln>
        </p:spPr>
        <p:txBody>
          <a:bodyPr rtlCol="0" anchor="ctr"/>
          <a:lstStyle/>
          <a:p>
            <a:pPr algn="ctr"/>
            <a:endParaRPr/>
          </a:p>
        </p:txBody>
      </p:sp>
      <p:sp>
        <p:nvSpPr>
          <p:cNvPr id="17" name="Number 13"/>
          <p:cNvSpPr/>
          <p:nvPr/>
        </p:nvSpPr>
        <p:spPr>
          <a:xfrm>
            <a:off x="6390741"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13</a:t>
            </a:r>
          </a:p>
        </p:txBody>
      </p:sp>
      <p:sp>
        <p:nvSpPr>
          <p:cNvPr id="18" name="Heading 13"/>
          <p:cNvSpPr txBox="1"/>
          <p:nvPr/>
        </p:nvSpPr>
        <p:spPr>
          <a:xfrm>
            <a:off x="6774789" y="1737360"/>
            <a:ext cx="4832603"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Testing is added at the end</a:t>
            </a:r>
          </a:p>
        </p:txBody>
      </p:sp>
      <p:sp>
        <p:nvSpPr>
          <p:cNvPr id="19" name="Card 13 body"/>
          <p:cNvSpPr/>
          <p:nvPr/>
        </p:nvSpPr>
        <p:spPr>
          <a:xfrm>
            <a:off x="6262725" y="2212848"/>
            <a:ext cx="5436107" cy="1463040"/>
          </a:xfrm>
          <a:prstGeom prst="rect">
            <a:avLst/>
          </a:prstGeom>
          <a:solidFill>
            <a:srgbClr val="F0F7FD"/>
          </a:solidFill>
          <a:ln>
            <a:noFill/>
          </a:ln>
        </p:spPr>
        <p:txBody>
          <a:bodyPr rtlCol="0" anchor="ctr"/>
          <a:lstStyle/>
          <a:p>
            <a:pPr algn="ctr"/>
            <a:endParaRPr/>
          </a:p>
        </p:txBody>
      </p:sp>
      <p:sp>
        <p:nvSpPr>
          <p:cNvPr id="20" name="Body 13"/>
          <p:cNvSpPr txBox="1"/>
          <p:nvPr/>
        </p:nvSpPr>
        <p:spPr>
          <a:xfrm>
            <a:off x="6445605" y="2350008"/>
            <a:ext cx="5070347" cy="1234440"/>
          </a:xfrm>
          <a:prstGeom prst="rect">
            <a:avLst/>
          </a:prstGeom>
          <a:noFill/>
        </p:spPr>
        <p:txBody>
          <a:bodyPr wrap="square" lIns="0" tIns="0" rIns="0" bIns="0" anchor="t">
            <a:spAutoFit/>
          </a:bodyPr>
          <a:lstStyle/>
          <a:p>
            <a:pPr algn="l"/>
            <a:r>
              <a:rPr sz="1550" b="0">
                <a:solidFill>
                  <a:srgbClr val="152230"/>
                </a:solidFill>
                <a:latin typeface="Gartner Sans"/>
                <a:ea typeface="Gartner Sans"/>
                <a:cs typeface="Gartner Sans"/>
              </a:rPr>
              <a:t>When QA sits in a separate team, quality stays an end-of-cycle activity. Quality is not built in and the chance to detect defects early is missed.</a:t>
            </a:r>
          </a:p>
        </p:txBody>
      </p:sp>
      <p:sp>
        <p:nvSpPr>
          <p:cNvPr id="21" name="Card 14 header"/>
          <p:cNvSpPr/>
          <p:nvPr/>
        </p:nvSpPr>
        <p:spPr>
          <a:xfrm>
            <a:off x="552297" y="3822191"/>
            <a:ext cx="5436107" cy="475488"/>
          </a:xfrm>
          <a:prstGeom prst="rect">
            <a:avLst/>
          </a:prstGeom>
          <a:solidFill>
            <a:srgbClr val="002869"/>
          </a:solidFill>
          <a:ln>
            <a:noFill/>
          </a:ln>
        </p:spPr>
        <p:txBody>
          <a:bodyPr rtlCol="0" anchor="ctr"/>
          <a:lstStyle/>
          <a:p>
            <a:pPr algn="ctr"/>
            <a:endParaRPr/>
          </a:p>
        </p:txBody>
      </p:sp>
      <p:sp>
        <p:nvSpPr>
          <p:cNvPr id="22" name="Number 14"/>
          <p:cNvSpPr/>
          <p:nvPr/>
        </p:nvSpPr>
        <p:spPr>
          <a:xfrm>
            <a:off x="680313" y="3922775"/>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14</a:t>
            </a:r>
          </a:p>
        </p:txBody>
      </p:sp>
      <p:sp>
        <p:nvSpPr>
          <p:cNvPr id="23" name="Heading 14"/>
          <p:cNvSpPr txBox="1"/>
          <p:nvPr/>
        </p:nvSpPr>
        <p:spPr>
          <a:xfrm>
            <a:off x="1064361" y="3822191"/>
            <a:ext cx="4832603"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Production insights go unused</a:t>
            </a:r>
          </a:p>
        </p:txBody>
      </p:sp>
      <p:sp>
        <p:nvSpPr>
          <p:cNvPr id="24" name="Card 14 body"/>
          <p:cNvSpPr/>
          <p:nvPr/>
        </p:nvSpPr>
        <p:spPr>
          <a:xfrm>
            <a:off x="552297" y="4297679"/>
            <a:ext cx="5436107" cy="1463040"/>
          </a:xfrm>
          <a:prstGeom prst="rect">
            <a:avLst/>
          </a:prstGeom>
          <a:solidFill>
            <a:srgbClr val="F0F7FD"/>
          </a:solidFill>
          <a:ln>
            <a:noFill/>
          </a:ln>
        </p:spPr>
        <p:txBody>
          <a:bodyPr rtlCol="0" anchor="ctr"/>
          <a:lstStyle/>
          <a:p>
            <a:pPr algn="ctr"/>
            <a:endParaRPr/>
          </a:p>
        </p:txBody>
      </p:sp>
      <p:sp>
        <p:nvSpPr>
          <p:cNvPr id="25" name="Body 14"/>
          <p:cNvSpPr txBox="1"/>
          <p:nvPr/>
        </p:nvSpPr>
        <p:spPr>
          <a:xfrm>
            <a:off x="735177" y="4434840"/>
            <a:ext cx="5070347" cy="1234440"/>
          </a:xfrm>
          <a:prstGeom prst="rect">
            <a:avLst/>
          </a:prstGeom>
          <a:noFill/>
        </p:spPr>
        <p:txBody>
          <a:bodyPr wrap="square" lIns="0" tIns="0" rIns="0" bIns="0" anchor="t">
            <a:spAutoFit/>
          </a:bodyPr>
          <a:lstStyle/>
          <a:p>
            <a:pPr algn="l"/>
            <a:r>
              <a:rPr sz="1550" b="0">
                <a:solidFill>
                  <a:srgbClr val="152230"/>
                </a:solidFill>
                <a:latin typeface="Gartner Sans"/>
                <a:ea typeface="Gartner Sans"/>
                <a:cs typeface="Gartner Sans"/>
              </a:rPr>
              <a:t>Teams prioritise new features over full lifecycle ownership. Production data on system behaviour and user impact is neglected. Software is less robust and mistakes recur.</a:t>
            </a:r>
          </a:p>
        </p:txBody>
      </p:sp>
      <p:sp>
        <p:nvSpPr>
          <p:cNvPr id="26" name="Card 15 header"/>
          <p:cNvSpPr/>
          <p:nvPr/>
        </p:nvSpPr>
        <p:spPr>
          <a:xfrm>
            <a:off x="6262725" y="3822191"/>
            <a:ext cx="5436107" cy="475488"/>
          </a:xfrm>
          <a:prstGeom prst="rect">
            <a:avLst/>
          </a:prstGeom>
          <a:solidFill>
            <a:srgbClr val="002869"/>
          </a:solidFill>
          <a:ln>
            <a:noFill/>
          </a:ln>
        </p:spPr>
        <p:txBody>
          <a:bodyPr rtlCol="0" anchor="ctr"/>
          <a:lstStyle/>
          <a:p>
            <a:pPr algn="ctr"/>
            <a:endParaRPr/>
          </a:p>
        </p:txBody>
      </p:sp>
      <p:sp>
        <p:nvSpPr>
          <p:cNvPr id="27" name="Number 15"/>
          <p:cNvSpPr/>
          <p:nvPr/>
        </p:nvSpPr>
        <p:spPr>
          <a:xfrm>
            <a:off x="6390741" y="3922775"/>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15</a:t>
            </a:r>
          </a:p>
        </p:txBody>
      </p:sp>
      <p:sp>
        <p:nvSpPr>
          <p:cNvPr id="28" name="Heading 15"/>
          <p:cNvSpPr txBox="1"/>
          <p:nvPr/>
        </p:nvSpPr>
        <p:spPr>
          <a:xfrm>
            <a:off x="6774789" y="3822191"/>
            <a:ext cx="4832603" cy="475488"/>
          </a:xfrm>
          <a:prstGeom prst="rect">
            <a:avLst/>
          </a:prstGeom>
          <a:noFill/>
        </p:spPr>
        <p:txBody>
          <a:bodyPr wrap="square" lIns="0" tIns="0" rIns="0" bIns="0" anchor="ctr">
            <a:spAutoFit/>
          </a:bodyPr>
          <a:lstStyle/>
          <a:p>
            <a:pPr algn="l"/>
            <a:r>
              <a:rPr sz="1800" b="1">
                <a:solidFill>
                  <a:srgbClr val="FFFFFF"/>
                </a:solidFill>
                <a:latin typeface="Gartner Sans"/>
                <a:ea typeface="Gartner Sans"/>
                <a:cs typeface="Gartner Sans"/>
              </a:rPr>
              <a:t>Budgets are tight, resources fragmented</a:t>
            </a:r>
          </a:p>
        </p:txBody>
      </p:sp>
      <p:sp>
        <p:nvSpPr>
          <p:cNvPr id="29" name="Card 15 body"/>
          <p:cNvSpPr/>
          <p:nvPr/>
        </p:nvSpPr>
        <p:spPr>
          <a:xfrm>
            <a:off x="6262725" y="4297679"/>
            <a:ext cx="5436107" cy="1463040"/>
          </a:xfrm>
          <a:prstGeom prst="rect">
            <a:avLst/>
          </a:prstGeom>
          <a:solidFill>
            <a:srgbClr val="F0F7FD"/>
          </a:solidFill>
          <a:ln>
            <a:noFill/>
          </a:ln>
        </p:spPr>
        <p:txBody>
          <a:bodyPr rtlCol="0" anchor="ctr"/>
          <a:lstStyle/>
          <a:p>
            <a:pPr algn="ctr"/>
            <a:endParaRPr/>
          </a:p>
        </p:txBody>
      </p:sp>
      <p:sp>
        <p:nvSpPr>
          <p:cNvPr id="30" name="Body 15"/>
          <p:cNvSpPr txBox="1"/>
          <p:nvPr/>
        </p:nvSpPr>
        <p:spPr>
          <a:xfrm>
            <a:off x="6445605" y="4434840"/>
            <a:ext cx="5070347" cy="1234440"/>
          </a:xfrm>
          <a:prstGeom prst="rect">
            <a:avLst/>
          </a:prstGeom>
          <a:noFill/>
        </p:spPr>
        <p:txBody>
          <a:bodyPr wrap="square" lIns="0" tIns="0" rIns="0" bIns="0" anchor="t">
            <a:spAutoFit/>
          </a:bodyPr>
          <a:lstStyle/>
          <a:p>
            <a:pPr algn="l"/>
            <a:r>
              <a:rPr sz="1550" b="0">
                <a:solidFill>
                  <a:srgbClr val="152230"/>
                </a:solidFill>
                <a:latin typeface="Gartner Sans"/>
                <a:ea typeface="Gartner Sans"/>
                <a:cs typeface="Gartner Sans"/>
              </a:rPr>
              <a:t>There is little appetite to add testing headcount or tooling because it takes resources from feature delivery. Testing efforts remain siloed, which duplicates work.</a:t>
            </a:r>
          </a:p>
        </p:txBody>
      </p:sp>
      <p:sp>
        <p:nvSpPr>
          <p:cNvPr id="31" name="Source"/>
          <p:cNvSpPr txBox="1"/>
          <p:nvPr/>
        </p:nvSpPr>
        <p:spPr>
          <a:xfrm>
            <a:off x="552450" y="5981700"/>
            <a:ext cx="9700000" cy="295275"/>
          </a:xfrm>
          <a:prstGeom prst="rect">
            <a:avLst/>
          </a:prstGeom>
          <a:noFill/>
        </p:spPr>
        <p:txBody>
          <a:bodyPr wrap="square" lIns="0" tIns="0" rIns="0" bIns="0">
            <a:spAutoFit/>
          </a:bodyPr>
          <a:lstStyle/>
          <a:p>
            <a:r>
              <a:rPr sz="1050" b="0">
                <a:solidFill>
                  <a:srgbClr val="526273"/>
                </a:solidFill>
                <a:latin typeface="Gartner Sans"/>
                <a:ea typeface="Gartner Sans"/>
                <a:cs typeface="Gartner Sans"/>
              </a:rPr>
              <a:t>Sources: </a:t>
            </a:r>
            <a:r>
              <a:rPr sz="1050" b="0">
                <a:solidFill>
                  <a:srgbClr val="526273"/>
                </a:solidFill>
                <a:latin typeface="Gartner Sans"/>
                <a:ea typeface="Gartner Sans"/>
                <a:cs typeface="Gartner Sans"/>
                <a:hlinkClick r:id="rId2"/>
              </a:rPr>
              <a:t>Decentralize Quality Assurance Testing Teams to Drive Productivity</a:t>
            </a:r>
            <a:r>
              <a:rPr sz="1050" b="0">
                <a:solidFill>
                  <a:srgbClr val="526273"/>
                </a:solidFill>
                <a:latin typeface="Gartner Sans"/>
                <a:ea typeface="Gartner Sans"/>
                <a:cs typeface="Gartner Sans"/>
              </a:rPr>
              <a:t>; </a:t>
            </a:r>
            <a:r>
              <a:rPr sz="1050" b="0">
                <a:solidFill>
                  <a:srgbClr val="526273"/>
                </a:solidFill>
                <a:latin typeface="Gartner Sans"/>
                <a:ea typeface="Gartner Sans"/>
                <a:cs typeface="Gartner Sans"/>
                <a:hlinkClick r:id="rId3"/>
              </a:rPr>
              <a:t>Improve Software Quality and Reduce Security Risks With Shift-Right Testing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Generative AI in testing introduces new risks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30</a:t>
            </a:r>
          </a:p>
        </p:txBody>
      </p:sp>
      <p:sp>
        <p:nvSpPr>
          <p:cNvPr id="10" name="Area heading"/>
          <p:cNvSpPr txBox="1"/>
          <p:nvPr/>
        </p:nvSpPr>
        <p:spPr>
          <a:xfrm>
            <a:off x="552297" y="1319175"/>
            <a:ext cx="11146536" cy="287729"/>
          </a:xfrm>
          <a:prstGeom prst="rect">
            <a:avLst/>
          </a:prstGeom>
          <a:noFill/>
        </p:spPr>
        <p:txBody>
          <a:bodyPr wrap="square" lIns="0" tIns="0" rIns="0" bIns="0" anchor="ctr">
            <a:spAutoFit/>
          </a:bodyPr>
          <a:lstStyle/>
          <a:p>
            <a:pPr algn="l"/>
            <a:r>
              <a:rPr sz="1800" b="1">
                <a:solidFill>
                  <a:srgbClr val="002869"/>
                </a:solidFill>
                <a:latin typeface="Gartner Sans"/>
                <a:ea typeface="Gartner Sans"/>
                <a:cs typeface="Gartner Sans"/>
              </a:rPr>
              <a:t>Quality assurance and testing</a:t>
            </a:r>
          </a:p>
        </p:txBody>
      </p:sp>
      <p:sp>
        <p:nvSpPr>
          <p:cNvPr id="11" name="Card 16 header"/>
          <p:cNvSpPr/>
          <p:nvPr/>
        </p:nvSpPr>
        <p:spPr>
          <a:xfrm>
            <a:off x="552297" y="1737360"/>
            <a:ext cx="3532632" cy="475488"/>
          </a:xfrm>
          <a:prstGeom prst="rect">
            <a:avLst/>
          </a:prstGeom>
          <a:solidFill>
            <a:srgbClr val="002869"/>
          </a:solidFill>
          <a:ln>
            <a:noFill/>
          </a:ln>
        </p:spPr>
        <p:txBody>
          <a:bodyPr rtlCol="0" anchor="ctr"/>
          <a:lstStyle/>
          <a:p>
            <a:pPr algn="ctr"/>
            <a:endParaRPr/>
          </a:p>
        </p:txBody>
      </p:sp>
      <p:sp>
        <p:nvSpPr>
          <p:cNvPr id="12" name="Number 16"/>
          <p:cNvSpPr/>
          <p:nvPr/>
        </p:nvSpPr>
        <p:spPr>
          <a:xfrm>
            <a:off x="680313"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16</a:t>
            </a:r>
          </a:p>
        </p:txBody>
      </p:sp>
      <p:sp>
        <p:nvSpPr>
          <p:cNvPr id="13" name="Heading 16"/>
          <p:cNvSpPr txBox="1"/>
          <p:nvPr/>
        </p:nvSpPr>
        <p:spPr>
          <a:xfrm>
            <a:off x="1064361" y="1737360"/>
            <a:ext cx="2929128" cy="475488"/>
          </a:xfrm>
          <a:prstGeom prst="rect">
            <a:avLst/>
          </a:prstGeom>
          <a:noFill/>
        </p:spPr>
        <p:txBody>
          <a:bodyPr wrap="square" lIns="0" tIns="0" rIns="0" bIns="0" anchor="ctr">
            <a:spAutoFit/>
          </a:bodyPr>
          <a:lstStyle/>
          <a:p>
            <a:pPr algn="l"/>
            <a:r>
              <a:rPr sz="1400" b="1">
                <a:solidFill>
                  <a:srgbClr val="FFFFFF"/>
                </a:solidFill>
                <a:latin typeface="Gartner Sans"/>
                <a:ea typeface="Gartner Sans"/>
                <a:cs typeface="Gartner Sans"/>
              </a:rPr>
              <a:t>Hallucination and bias</a:t>
            </a:r>
          </a:p>
        </p:txBody>
      </p:sp>
      <p:sp>
        <p:nvSpPr>
          <p:cNvPr id="14" name="Card 16 body"/>
          <p:cNvSpPr/>
          <p:nvPr/>
        </p:nvSpPr>
        <p:spPr>
          <a:xfrm>
            <a:off x="552297" y="2212848"/>
            <a:ext cx="3532632" cy="3090672"/>
          </a:xfrm>
          <a:prstGeom prst="rect">
            <a:avLst/>
          </a:prstGeom>
          <a:solidFill>
            <a:srgbClr val="F0F7FD"/>
          </a:solidFill>
          <a:ln>
            <a:noFill/>
          </a:ln>
        </p:spPr>
        <p:txBody>
          <a:bodyPr rtlCol="0" anchor="ctr"/>
          <a:lstStyle/>
          <a:p>
            <a:pPr algn="ctr"/>
            <a:endParaRPr/>
          </a:p>
        </p:txBody>
      </p:sp>
      <p:sp>
        <p:nvSpPr>
          <p:cNvPr id="15" name="Body 16"/>
          <p:cNvSpPr txBox="1"/>
          <p:nvPr/>
        </p:nvSpPr>
        <p:spPr>
          <a:xfrm>
            <a:off x="735177" y="2350008"/>
            <a:ext cx="3166872" cy="2862072"/>
          </a:xfrm>
          <a:prstGeom prst="rect">
            <a:avLst/>
          </a:prstGeom>
          <a:noFill/>
        </p:spPr>
        <p:txBody>
          <a:bodyPr wrap="square" lIns="0" tIns="0" rIns="0" bIns="0" anchor="t">
            <a:spAutoFit/>
          </a:bodyPr>
          <a:lstStyle/>
          <a:p>
            <a:pPr algn="l"/>
            <a:r>
              <a:rPr sz="1700" b="0">
                <a:solidFill>
                  <a:srgbClr val="152230"/>
                </a:solidFill>
                <a:latin typeface="Gartner Sans"/>
                <a:ea typeface="Gartner Sans"/>
                <a:cs typeface="Gartner Sans"/>
              </a:rPr>
              <a:t>GenAI can produce test cases for features that do not exist, or omit critical edge cases.</a:t>
            </a:r>
          </a:p>
          <a:p>
            <a:pPr algn="l">
              <a:spcBef>
                <a:spcPts val="500"/>
              </a:spcBef>
            </a:pPr>
            <a:r>
              <a:rPr sz="1700" b="0">
                <a:solidFill>
                  <a:srgbClr val="152230"/>
                </a:solidFill>
                <a:latin typeface="Gartner Sans"/>
                <a:ea typeface="Gartner Sans"/>
                <a:cs typeface="Gartner Sans"/>
              </a:rPr>
              <a:t>It cannot question assumptions or identify blind spots. Human oversight is needed to separate valid tests from fabrications.</a:t>
            </a:r>
          </a:p>
        </p:txBody>
      </p:sp>
      <p:sp>
        <p:nvSpPr>
          <p:cNvPr id="16" name="Card 17 header"/>
          <p:cNvSpPr/>
          <p:nvPr/>
        </p:nvSpPr>
        <p:spPr>
          <a:xfrm>
            <a:off x="4359249" y="1737360"/>
            <a:ext cx="3532632" cy="475488"/>
          </a:xfrm>
          <a:prstGeom prst="rect">
            <a:avLst/>
          </a:prstGeom>
          <a:solidFill>
            <a:srgbClr val="002869"/>
          </a:solidFill>
          <a:ln>
            <a:noFill/>
          </a:ln>
        </p:spPr>
        <p:txBody>
          <a:bodyPr rtlCol="0" anchor="ctr"/>
          <a:lstStyle/>
          <a:p>
            <a:pPr algn="ctr"/>
            <a:endParaRPr/>
          </a:p>
        </p:txBody>
      </p:sp>
      <p:sp>
        <p:nvSpPr>
          <p:cNvPr id="17" name="Number 17"/>
          <p:cNvSpPr/>
          <p:nvPr/>
        </p:nvSpPr>
        <p:spPr>
          <a:xfrm>
            <a:off x="4487265"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17</a:t>
            </a:r>
          </a:p>
        </p:txBody>
      </p:sp>
      <p:sp>
        <p:nvSpPr>
          <p:cNvPr id="18" name="Heading 17"/>
          <p:cNvSpPr txBox="1"/>
          <p:nvPr/>
        </p:nvSpPr>
        <p:spPr>
          <a:xfrm>
            <a:off x="4871313" y="1737360"/>
            <a:ext cx="2929128" cy="475488"/>
          </a:xfrm>
          <a:prstGeom prst="rect">
            <a:avLst/>
          </a:prstGeom>
          <a:noFill/>
        </p:spPr>
        <p:txBody>
          <a:bodyPr wrap="square" lIns="0" tIns="0" rIns="0" bIns="0" anchor="ctr">
            <a:spAutoFit/>
          </a:bodyPr>
          <a:lstStyle/>
          <a:p>
            <a:pPr algn="l"/>
            <a:r>
              <a:rPr sz="1400" b="1">
                <a:solidFill>
                  <a:srgbClr val="FFFFFF"/>
                </a:solidFill>
                <a:latin typeface="Gartner Sans"/>
                <a:ea typeface="Gartner Sans"/>
                <a:cs typeface="Gartner Sans"/>
              </a:rPr>
              <a:t>Privacy and compliance exposure</a:t>
            </a:r>
          </a:p>
        </p:txBody>
      </p:sp>
      <p:sp>
        <p:nvSpPr>
          <p:cNvPr id="19" name="Card 17 body"/>
          <p:cNvSpPr/>
          <p:nvPr/>
        </p:nvSpPr>
        <p:spPr>
          <a:xfrm>
            <a:off x="4359249" y="2212848"/>
            <a:ext cx="3532632" cy="3090672"/>
          </a:xfrm>
          <a:prstGeom prst="rect">
            <a:avLst/>
          </a:prstGeom>
          <a:solidFill>
            <a:srgbClr val="F0F7FD"/>
          </a:solidFill>
          <a:ln>
            <a:noFill/>
          </a:ln>
        </p:spPr>
        <p:txBody>
          <a:bodyPr rtlCol="0" anchor="ctr"/>
          <a:lstStyle/>
          <a:p>
            <a:pPr algn="ctr"/>
            <a:endParaRPr/>
          </a:p>
        </p:txBody>
      </p:sp>
      <p:sp>
        <p:nvSpPr>
          <p:cNvPr id="20" name="Body 17"/>
          <p:cNvSpPr txBox="1"/>
          <p:nvPr/>
        </p:nvSpPr>
        <p:spPr>
          <a:xfrm>
            <a:off x="4542129" y="2350008"/>
            <a:ext cx="3166872" cy="2862072"/>
          </a:xfrm>
          <a:prstGeom prst="rect">
            <a:avLst/>
          </a:prstGeom>
          <a:noFill/>
        </p:spPr>
        <p:txBody>
          <a:bodyPr wrap="square" lIns="0" tIns="0" rIns="0" bIns="0" anchor="t">
            <a:spAutoFit/>
          </a:bodyPr>
          <a:lstStyle/>
          <a:p>
            <a:pPr algn="l"/>
            <a:r>
              <a:rPr sz="1700" b="0">
                <a:solidFill>
                  <a:srgbClr val="152230"/>
                </a:solidFill>
                <a:latin typeface="Gartner Sans"/>
                <a:ea typeface="Gartner Sans"/>
                <a:cs typeface="Gartner Sans"/>
              </a:rPr>
              <a:t>GenAI testing tools can expose personal or sensitive data, in breach of GDPR, CPRA and the EU AI Act.</a:t>
            </a:r>
          </a:p>
          <a:p>
            <a:pPr algn="l">
              <a:spcBef>
                <a:spcPts val="500"/>
              </a:spcBef>
            </a:pPr>
            <a:r>
              <a:rPr sz="1700" b="0">
                <a:solidFill>
                  <a:srgbClr val="152230"/>
                </a:solidFill>
                <a:latin typeface="Gartner Sans"/>
                <a:ea typeface="Gartner Sans"/>
                <a:cs typeface="Gartner Sans"/>
              </a:rPr>
              <a:t>Teams need strict policies on test data, vendor training exclusions and AI usage documentation.</a:t>
            </a:r>
          </a:p>
        </p:txBody>
      </p:sp>
      <p:sp>
        <p:nvSpPr>
          <p:cNvPr id="21" name="Card 18 header"/>
          <p:cNvSpPr/>
          <p:nvPr/>
        </p:nvSpPr>
        <p:spPr>
          <a:xfrm>
            <a:off x="8166201" y="1737360"/>
            <a:ext cx="3532632" cy="475488"/>
          </a:xfrm>
          <a:prstGeom prst="rect">
            <a:avLst/>
          </a:prstGeom>
          <a:solidFill>
            <a:srgbClr val="002869"/>
          </a:solidFill>
          <a:ln>
            <a:noFill/>
          </a:ln>
        </p:spPr>
        <p:txBody>
          <a:bodyPr rtlCol="0" anchor="ctr"/>
          <a:lstStyle/>
          <a:p>
            <a:pPr algn="ctr"/>
            <a:endParaRPr/>
          </a:p>
        </p:txBody>
      </p:sp>
      <p:sp>
        <p:nvSpPr>
          <p:cNvPr id="22" name="Number 18"/>
          <p:cNvSpPr/>
          <p:nvPr/>
        </p:nvSpPr>
        <p:spPr>
          <a:xfrm>
            <a:off x="8294217" y="1837944"/>
            <a:ext cx="274320" cy="274320"/>
          </a:xfrm>
          <a:prstGeom prst="ellipse">
            <a:avLst/>
          </a:prstGeom>
          <a:solidFill>
            <a:srgbClr val="FFFFFF"/>
          </a:solidFill>
          <a:ln>
            <a:noFill/>
          </a:ln>
        </p:spPr>
        <p:txBody>
          <a:bodyPr wrap="none" lIns="0" tIns="0" rIns="0" bIns="0" rtlCol="0" anchor="ctr"/>
          <a:lstStyle/>
          <a:p>
            <a:pPr algn="ctr"/>
            <a:r>
              <a:rPr sz="1050" b="1">
                <a:solidFill>
                  <a:srgbClr val="002869"/>
                </a:solidFill>
                <a:latin typeface="Gartner Sans"/>
                <a:ea typeface="Gartner Sans"/>
                <a:cs typeface="Gartner Sans"/>
              </a:rPr>
              <a:t>18</a:t>
            </a:r>
          </a:p>
        </p:txBody>
      </p:sp>
      <p:sp>
        <p:nvSpPr>
          <p:cNvPr id="23" name="Heading 18"/>
          <p:cNvSpPr txBox="1"/>
          <p:nvPr/>
        </p:nvSpPr>
        <p:spPr>
          <a:xfrm>
            <a:off x="8678265" y="1737360"/>
            <a:ext cx="2929128" cy="475488"/>
          </a:xfrm>
          <a:prstGeom prst="rect">
            <a:avLst/>
          </a:prstGeom>
          <a:noFill/>
        </p:spPr>
        <p:txBody>
          <a:bodyPr wrap="square" lIns="0" tIns="0" rIns="0" bIns="0" anchor="ctr">
            <a:spAutoFit/>
          </a:bodyPr>
          <a:lstStyle/>
          <a:p>
            <a:pPr algn="l"/>
            <a:r>
              <a:rPr sz="1400" b="1">
                <a:solidFill>
                  <a:srgbClr val="FFFFFF"/>
                </a:solidFill>
                <a:latin typeface="Gartner Sans"/>
                <a:ea typeface="Gartner Sans"/>
                <a:cs typeface="Gartner Sans"/>
              </a:rPr>
              <a:t>Skill erosion</a:t>
            </a:r>
          </a:p>
        </p:txBody>
      </p:sp>
      <p:sp>
        <p:nvSpPr>
          <p:cNvPr id="24" name="Card 18 body"/>
          <p:cNvSpPr/>
          <p:nvPr/>
        </p:nvSpPr>
        <p:spPr>
          <a:xfrm>
            <a:off x="8166201" y="2212848"/>
            <a:ext cx="3532632" cy="3090672"/>
          </a:xfrm>
          <a:prstGeom prst="rect">
            <a:avLst/>
          </a:prstGeom>
          <a:solidFill>
            <a:srgbClr val="F0F7FD"/>
          </a:solidFill>
          <a:ln>
            <a:noFill/>
          </a:ln>
        </p:spPr>
        <p:txBody>
          <a:bodyPr rtlCol="0" anchor="ctr"/>
          <a:lstStyle/>
          <a:p>
            <a:pPr algn="ctr"/>
            <a:endParaRPr/>
          </a:p>
        </p:txBody>
      </p:sp>
      <p:sp>
        <p:nvSpPr>
          <p:cNvPr id="25" name="Body 18"/>
          <p:cNvSpPr txBox="1"/>
          <p:nvPr/>
        </p:nvSpPr>
        <p:spPr>
          <a:xfrm>
            <a:off x="8349081" y="2350008"/>
            <a:ext cx="3166872" cy="2862072"/>
          </a:xfrm>
          <a:prstGeom prst="rect">
            <a:avLst/>
          </a:prstGeom>
          <a:noFill/>
        </p:spPr>
        <p:txBody>
          <a:bodyPr wrap="square" lIns="0" tIns="0" rIns="0" bIns="0" anchor="t">
            <a:spAutoFit/>
          </a:bodyPr>
          <a:lstStyle/>
          <a:p>
            <a:pPr algn="l"/>
            <a:r>
              <a:rPr sz="1700" b="0">
                <a:solidFill>
                  <a:srgbClr val="152230"/>
                </a:solidFill>
                <a:latin typeface="Gartner Sans"/>
                <a:ea typeface="Gartner Sans"/>
                <a:cs typeface="Gartner Sans"/>
              </a:rPr>
              <a:t>Overreliance on AI is linked to declining analytical reasoning and independent QA judgement.</a:t>
            </a:r>
          </a:p>
          <a:p>
            <a:pPr algn="l">
              <a:spcBef>
                <a:spcPts val="500"/>
              </a:spcBef>
            </a:pPr>
            <a:r>
              <a:rPr sz="1700" b="0">
                <a:solidFill>
                  <a:srgbClr val="152230"/>
                </a:solidFill>
                <a:latin typeface="Gartner Sans"/>
                <a:ea typeface="Gartner Sans"/>
                <a:cs typeface="Gartner Sans"/>
              </a:rPr>
              <a:t>The risk is superficial testing practice.</a:t>
            </a:r>
          </a:p>
        </p:txBody>
      </p:sp>
      <p:sp>
        <p:nvSpPr>
          <p:cNvPr id="26" name="Source"/>
          <p:cNvSpPr txBox="1"/>
          <p:nvPr/>
        </p:nvSpPr>
        <p:spPr>
          <a:xfrm>
            <a:off x="552450" y="5981700"/>
            <a:ext cx="9700000" cy="295275"/>
          </a:xfrm>
          <a:prstGeom prst="rect">
            <a:avLst/>
          </a:prstGeom>
          <a:noFill/>
        </p:spPr>
        <p:txBody>
          <a:bodyPr wrap="square" lIns="0" tIns="0" rIns="0" bIns="0">
            <a:spAutoFit/>
          </a:bodyPr>
          <a:lstStyle/>
          <a:p>
            <a:r>
              <a:rPr sz="1150" b="0">
                <a:solidFill>
                  <a:srgbClr val="526273"/>
                </a:solidFill>
                <a:latin typeface="Gartner Sans"/>
                <a:ea typeface="Gartner Sans"/>
                <a:cs typeface="Gartner Sans"/>
              </a:rPr>
              <a:t>Source: </a:t>
            </a:r>
            <a:r>
              <a:rPr sz="1150" b="0">
                <a:solidFill>
                  <a:srgbClr val="526273"/>
                </a:solidFill>
                <a:latin typeface="Gartner Sans"/>
                <a:ea typeface="Gartner Sans"/>
                <a:cs typeface="Gartner Sans"/>
                <a:hlinkClick r:id="rId2"/>
              </a:rPr>
              <a:t>Manage Critical Risks of Using Generative AI to Augment Testing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From the research to your challenges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31</a:t>
            </a:r>
          </a:p>
        </p:txBody>
      </p:sp>
      <p:sp>
        <p:nvSpPr>
          <p:cNvPr id="10" name="Card heading"/>
          <p:cNvSpPr/>
          <p:nvPr/>
        </p:nvSpPr>
        <p:spPr>
          <a:xfrm>
            <a:off x="552297" y="1325880"/>
            <a:ext cx="5074920" cy="502920"/>
          </a:xfrm>
          <a:prstGeom prst="rect">
            <a:avLst/>
          </a:prstGeom>
          <a:solidFill>
            <a:srgbClr val="F0F7FD"/>
          </a:solidFill>
          <a:ln w="12700">
            <a:solidFill>
              <a:srgbClr val="D0D7DF"/>
            </a:solidFill>
          </a:ln>
        </p:spPr>
        <p:txBody>
          <a:bodyPr wrap="square" lIns="228600" tIns="0" rIns="228600" bIns="0" rtlCol="0" anchor="ctr"/>
          <a:lstStyle/>
          <a:p>
            <a:pPr algn="l"/>
            <a:r>
              <a:rPr sz="1800" b="1">
                <a:solidFill>
                  <a:srgbClr val="002869"/>
                </a:solidFill>
                <a:latin typeface="Gartner Sans"/>
                <a:ea typeface="Gartner Sans"/>
                <a:cs typeface="Gartner Sans"/>
              </a:rPr>
              <a:t>What Gartner sees</a:t>
            </a:r>
          </a:p>
        </p:txBody>
      </p:sp>
      <p:sp>
        <p:nvSpPr>
          <p:cNvPr id="11" name="Card body"/>
          <p:cNvSpPr/>
          <p:nvPr/>
        </p:nvSpPr>
        <p:spPr>
          <a:xfrm>
            <a:off x="552297" y="1828800"/>
            <a:ext cx="5074920" cy="2788920"/>
          </a:xfrm>
          <a:prstGeom prst="rect">
            <a:avLst/>
          </a:prstGeom>
          <a:solidFill>
            <a:srgbClr val="FFFFFF"/>
          </a:solidFill>
          <a:ln w="12700">
            <a:solidFill>
              <a:srgbClr val="D0D7DF"/>
            </a:solidFill>
          </a:ln>
        </p:spPr>
        <p:txBody>
          <a:bodyPr wrap="square" lIns="274320" tIns="274320" rIns="228600" bIns="137160" rtlCol="0" anchor="t"/>
          <a:lstStyle/>
          <a:p>
            <a:pPr marL="171450" indent="-171450" algn="l">
              <a:buFont typeface="Arial"/>
              <a:buChar char="•"/>
            </a:pPr>
            <a:r>
              <a:rPr sz="1650" b="0">
                <a:solidFill>
                  <a:srgbClr val="152230"/>
                </a:solidFill>
                <a:latin typeface="Gartner Sans"/>
                <a:ea typeface="Gartner Sans"/>
                <a:cs typeface="Gartner Sans"/>
              </a:rPr>
              <a:t>Eighteen common challenges across project management, requirements and quality assurance.</a:t>
            </a:r>
          </a:p>
          <a:p>
            <a:pPr marL="171450" indent="-171450" algn="l">
              <a:spcBef>
                <a:spcPts val="1000"/>
              </a:spcBef>
              <a:buFont typeface="Arial"/>
              <a:buChar char="•"/>
            </a:pPr>
            <a:r>
              <a:rPr sz="1650" b="0">
                <a:solidFill>
                  <a:srgbClr val="152230"/>
                </a:solidFill>
                <a:latin typeface="Gartner Sans"/>
                <a:ea typeface="Gartner Sans"/>
                <a:cs typeface="Gartner Sans"/>
              </a:rPr>
              <a:t>The three areas are tightly coupled. A weakness in one creates pressure in the others.</a:t>
            </a:r>
          </a:p>
          <a:p>
            <a:pPr marL="171450" indent="-171450" algn="l">
              <a:spcBef>
                <a:spcPts val="1000"/>
              </a:spcBef>
              <a:buFont typeface="Arial"/>
              <a:buChar char="•"/>
            </a:pPr>
            <a:r>
              <a:rPr sz="1650" b="0">
                <a:solidFill>
                  <a:srgbClr val="152230"/>
                </a:solidFill>
                <a:latin typeface="Gartner Sans"/>
                <a:ea typeface="Gartner Sans"/>
                <a:cs typeface="Gartner Sans"/>
              </a:rPr>
              <a:t>Delivery practice and quality are top leadership priorities.</a:t>
            </a:r>
          </a:p>
        </p:txBody>
      </p:sp>
      <p:sp>
        <p:nvSpPr>
          <p:cNvPr id="12" name="Card heading"/>
          <p:cNvSpPr/>
          <p:nvPr/>
        </p:nvSpPr>
        <p:spPr>
          <a:xfrm>
            <a:off x="6623913" y="1325880"/>
            <a:ext cx="5074920" cy="502920"/>
          </a:xfrm>
          <a:prstGeom prst="rect">
            <a:avLst/>
          </a:prstGeom>
          <a:solidFill>
            <a:srgbClr val="002869"/>
          </a:solidFill>
          <a:ln w="12700">
            <a:solidFill>
              <a:srgbClr val="002869"/>
            </a:solidFill>
          </a:ln>
        </p:spPr>
        <p:txBody>
          <a:bodyPr wrap="square" lIns="228600" tIns="0" rIns="228600" bIns="0" rtlCol="0" anchor="ctr"/>
          <a:lstStyle/>
          <a:p>
            <a:pPr algn="l"/>
            <a:r>
              <a:rPr sz="1800" b="1">
                <a:solidFill>
                  <a:srgbClr val="FFFFFF"/>
                </a:solidFill>
                <a:latin typeface="Gartner Sans"/>
                <a:ea typeface="Gartner Sans"/>
                <a:cs typeface="Gartner Sans"/>
              </a:rPr>
              <a:t>In your context</a:t>
            </a:r>
          </a:p>
        </p:txBody>
      </p:sp>
      <p:sp>
        <p:nvSpPr>
          <p:cNvPr id="13" name="Card body"/>
          <p:cNvSpPr/>
          <p:nvPr/>
        </p:nvSpPr>
        <p:spPr>
          <a:xfrm>
            <a:off x="6623913" y="1828800"/>
            <a:ext cx="5074920" cy="2788920"/>
          </a:xfrm>
          <a:prstGeom prst="rect">
            <a:avLst/>
          </a:prstGeom>
          <a:solidFill>
            <a:srgbClr val="FFFFFF"/>
          </a:solidFill>
          <a:ln w="12700">
            <a:solidFill>
              <a:srgbClr val="002869"/>
            </a:solidFill>
          </a:ln>
        </p:spPr>
        <p:txBody>
          <a:bodyPr wrap="square" lIns="274320" tIns="274320" rIns="228600" bIns="137160" rtlCol="0" anchor="t"/>
          <a:lstStyle/>
          <a:p>
            <a:pPr marL="171450" indent="-171450" algn="l">
              <a:buFont typeface="Arial"/>
              <a:buChar char="•"/>
            </a:pPr>
            <a:r>
              <a:rPr sz="1650" b="0">
                <a:solidFill>
                  <a:srgbClr val="152230"/>
                </a:solidFill>
                <a:latin typeface="Gartner Sans"/>
                <a:ea typeface="Gartner Sans"/>
                <a:cs typeface="Gartner Sans"/>
              </a:rPr>
              <a:t>Brainstorm what makes software delivery difficult for your team.</a:t>
            </a:r>
          </a:p>
          <a:p>
            <a:pPr marL="171450" indent="-171450" algn="l">
              <a:spcBef>
                <a:spcPts val="1000"/>
              </a:spcBef>
              <a:buFont typeface="Arial"/>
              <a:buChar char="•"/>
            </a:pPr>
            <a:r>
              <a:rPr sz="1650" b="0">
                <a:solidFill>
                  <a:srgbClr val="152230"/>
                </a:solidFill>
                <a:latin typeface="Gartner Sans"/>
                <a:ea typeface="Gartner Sans"/>
                <a:cs typeface="Gartner Sans"/>
              </a:rPr>
              <a:t>Place each challenge by frequency and impact.</a:t>
            </a:r>
          </a:p>
          <a:p>
            <a:pPr marL="171450" indent="-171450" algn="l">
              <a:spcBef>
                <a:spcPts val="1000"/>
              </a:spcBef>
              <a:buFont typeface="Arial"/>
              <a:buChar char="•"/>
            </a:pPr>
            <a:r>
              <a:rPr sz="1650" b="0">
                <a:solidFill>
                  <a:srgbClr val="152230"/>
                </a:solidFill>
                <a:latin typeface="Gartner Sans"/>
                <a:ea typeface="Gartner Sans"/>
                <a:cs typeface="Gartner Sans"/>
              </a:rPr>
              <a:t>Choose your top three priorities.</a:t>
            </a:r>
          </a:p>
        </p:txBody>
      </p:sp>
      <p:sp>
        <p:nvSpPr>
          <p:cNvPr id="14" name="Arrow"/>
          <p:cNvSpPr/>
          <p:nvPr/>
        </p:nvSpPr>
        <p:spPr>
          <a:xfrm>
            <a:off x="5810097" y="2743200"/>
            <a:ext cx="630935" cy="548640"/>
          </a:xfrm>
          <a:prstGeom prst="rightArrow">
            <a:avLst/>
          </a:prstGeom>
          <a:solidFill>
            <a:srgbClr val="002869"/>
          </a:solidFill>
          <a:ln>
            <a:noFill/>
          </a:ln>
        </p:spPr>
        <p:txBody>
          <a:bodyPr rtlCol="0" anchor="ctr"/>
          <a:lstStyle/>
          <a:p>
            <a:pPr algn="ctr"/>
            <a:endParaRPr/>
          </a:p>
        </p:txBody>
      </p:sp>
      <p:sp>
        <p:nvSpPr>
          <p:cNvPr id="15" name="Note"/>
          <p:cNvSpPr/>
          <p:nvPr/>
        </p:nvSpPr>
        <p:spPr>
          <a:xfrm>
            <a:off x="552297" y="4892040"/>
            <a:ext cx="11146536" cy="68580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The exercise: </a:t>
            </a:r>
            <a:r>
              <a:rPr sz="1800" b="0">
                <a:solidFill>
                  <a:srgbClr val="152230"/>
                </a:solidFill>
                <a:latin typeface="Gartner Sans"/>
                <a:ea typeface="Gartner Sans"/>
                <a:cs typeface="Gartner Sans"/>
              </a:rPr>
              <a:t>60 minutes in your teams.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Exercise, part 1: brainstorm your delivery challenges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32</a:t>
            </a:r>
          </a:p>
        </p:txBody>
      </p:sp>
      <p:sp>
        <p:nvSpPr>
          <p:cNvPr id="10" name="Heading"/>
          <p:cNvSpPr txBox="1"/>
          <p:nvPr/>
        </p:nvSpPr>
        <p:spPr>
          <a:xfrm>
            <a:off x="552297" y="1325880"/>
            <a:ext cx="11146536"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In your team (20 minutes)</a:t>
            </a:r>
          </a:p>
        </p:txBody>
      </p:sp>
      <p:sp>
        <p:nvSpPr>
          <p:cNvPr id="11" name="Question"/>
          <p:cNvSpPr/>
          <p:nvPr/>
        </p:nvSpPr>
        <p:spPr>
          <a:xfrm>
            <a:off x="552297" y="1783080"/>
            <a:ext cx="11146536" cy="1097280"/>
          </a:xfrm>
          <a:prstGeom prst="rect">
            <a:avLst/>
          </a:prstGeom>
          <a:solidFill>
            <a:srgbClr val="002869"/>
          </a:solidFill>
          <a:ln>
            <a:noFill/>
          </a:ln>
        </p:spPr>
        <p:txBody>
          <a:bodyPr wrap="square" lIns="320040" tIns="0" rIns="320040" bIns="0" rtlCol="0" anchor="ctr"/>
          <a:lstStyle/>
          <a:p>
            <a:pPr algn="l"/>
            <a:r>
              <a:rPr sz="2400" b="1">
                <a:solidFill>
                  <a:srgbClr val="FFFFFF"/>
                </a:solidFill>
                <a:latin typeface="Gartner Sans"/>
                <a:ea typeface="Gartner Sans"/>
                <a:cs typeface="Gartner Sans"/>
              </a:rPr>
              <a:t>What makes software delivery difficult for your team?</a:t>
            </a:r>
          </a:p>
        </p:txBody>
      </p:sp>
      <p:sp>
        <p:nvSpPr>
          <p:cNvPr id="12" name="Number 1"/>
          <p:cNvSpPr/>
          <p:nvPr/>
        </p:nvSpPr>
        <p:spPr>
          <a:xfrm>
            <a:off x="552297" y="334975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3" name="Point 1"/>
          <p:cNvSpPr txBox="1"/>
          <p:nvPr/>
        </p:nvSpPr>
        <p:spPr>
          <a:xfrm>
            <a:off x="1027785" y="3182112"/>
            <a:ext cx="10671048" cy="646176"/>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Everyone contributes.</a:t>
            </a:r>
          </a:p>
        </p:txBody>
      </p:sp>
      <p:cxnSp>
        <p:nvCxnSpPr>
          <p:cNvPr id="14" name="Divider"/>
          <p:cNvCxnSpPr/>
          <p:nvPr/>
        </p:nvCxnSpPr>
        <p:spPr>
          <a:xfrm>
            <a:off x="552297" y="3901440"/>
            <a:ext cx="11146536" cy="0"/>
          </a:xfrm>
          <a:prstGeom prst="line">
            <a:avLst/>
          </a:prstGeom>
          <a:ln w="9525">
            <a:solidFill>
              <a:srgbClr val="D0D7DF"/>
            </a:solidFill>
          </a:ln>
        </p:spPr>
      </p:cxnSp>
      <p:sp>
        <p:nvSpPr>
          <p:cNvPr id="15" name="Number 2"/>
          <p:cNvSpPr/>
          <p:nvPr/>
        </p:nvSpPr>
        <p:spPr>
          <a:xfrm>
            <a:off x="552297" y="414223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6" name="Point 2"/>
          <p:cNvSpPr txBox="1"/>
          <p:nvPr/>
        </p:nvSpPr>
        <p:spPr>
          <a:xfrm>
            <a:off x="1027785" y="3974592"/>
            <a:ext cx="10671048" cy="646176"/>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Write one challenge per sticky note.</a:t>
            </a:r>
          </a:p>
        </p:txBody>
      </p:sp>
      <p:cxnSp>
        <p:nvCxnSpPr>
          <p:cNvPr id="17" name="Divider"/>
          <p:cNvCxnSpPr/>
          <p:nvPr/>
        </p:nvCxnSpPr>
        <p:spPr>
          <a:xfrm>
            <a:off x="552297" y="4693920"/>
            <a:ext cx="11146536" cy="0"/>
          </a:xfrm>
          <a:prstGeom prst="line">
            <a:avLst/>
          </a:prstGeom>
          <a:ln w="9525">
            <a:solidFill>
              <a:srgbClr val="D0D7DF"/>
            </a:solidFill>
          </a:ln>
        </p:spPr>
      </p:cxnSp>
      <p:sp>
        <p:nvSpPr>
          <p:cNvPr id="18" name="Number 3"/>
          <p:cNvSpPr/>
          <p:nvPr/>
        </p:nvSpPr>
        <p:spPr>
          <a:xfrm>
            <a:off x="552297" y="493471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9" name="Point 3"/>
          <p:cNvSpPr txBox="1"/>
          <p:nvPr/>
        </p:nvSpPr>
        <p:spPr>
          <a:xfrm>
            <a:off x="1027785" y="4767072"/>
            <a:ext cx="10671048" cy="646176"/>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Capture as many ideas as possible before prioritising.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Exercise, part 2: prioritise your challenges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33</a:t>
            </a:r>
          </a:p>
        </p:txBody>
      </p:sp>
      <p:sp>
        <p:nvSpPr>
          <p:cNvPr id="10" name="Heading"/>
          <p:cNvSpPr txBox="1"/>
          <p:nvPr/>
        </p:nvSpPr>
        <p:spPr>
          <a:xfrm>
            <a:off x="552297" y="1325880"/>
            <a:ext cx="4754880"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In your team (40 minutes)</a:t>
            </a:r>
          </a:p>
        </p:txBody>
      </p:sp>
      <p:sp>
        <p:nvSpPr>
          <p:cNvPr id="11" name="Number 1"/>
          <p:cNvSpPr/>
          <p:nvPr/>
        </p:nvSpPr>
        <p:spPr>
          <a:xfrm>
            <a:off x="552297" y="213055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2" name="Point 1"/>
          <p:cNvSpPr txBox="1"/>
          <p:nvPr/>
        </p:nvSpPr>
        <p:spPr>
          <a:xfrm>
            <a:off x="1027785" y="1856231"/>
            <a:ext cx="4279392" cy="859535"/>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Draw four boxes on a flipchart or wall.</a:t>
            </a:r>
          </a:p>
        </p:txBody>
      </p:sp>
      <p:cxnSp>
        <p:nvCxnSpPr>
          <p:cNvPr id="13" name="Divider"/>
          <p:cNvCxnSpPr/>
          <p:nvPr/>
        </p:nvCxnSpPr>
        <p:spPr>
          <a:xfrm>
            <a:off x="552297" y="2788920"/>
            <a:ext cx="4754880" cy="0"/>
          </a:xfrm>
          <a:prstGeom prst="line">
            <a:avLst/>
          </a:prstGeom>
          <a:ln w="9525">
            <a:solidFill>
              <a:srgbClr val="D0D7DF"/>
            </a:solidFill>
          </a:ln>
        </p:spPr>
      </p:cxnSp>
      <p:sp>
        <p:nvSpPr>
          <p:cNvPr id="14" name="Number 2"/>
          <p:cNvSpPr/>
          <p:nvPr/>
        </p:nvSpPr>
        <p:spPr>
          <a:xfrm>
            <a:off x="552297" y="3136391"/>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5" name="Point 2"/>
          <p:cNvSpPr txBox="1"/>
          <p:nvPr/>
        </p:nvSpPr>
        <p:spPr>
          <a:xfrm>
            <a:off x="1027785" y="2862072"/>
            <a:ext cx="4279392" cy="859535"/>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Place each note in the box that fits your experience.</a:t>
            </a:r>
          </a:p>
        </p:txBody>
      </p:sp>
      <p:cxnSp>
        <p:nvCxnSpPr>
          <p:cNvPr id="16" name="Divider"/>
          <p:cNvCxnSpPr/>
          <p:nvPr/>
        </p:nvCxnSpPr>
        <p:spPr>
          <a:xfrm>
            <a:off x="552297" y="3794759"/>
            <a:ext cx="4754880" cy="0"/>
          </a:xfrm>
          <a:prstGeom prst="line">
            <a:avLst/>
          </a:prstGeom>
          <a:ln w="9525">
            <a:solidFill>
              <a:srgbClr val="D0D7DF"/>
            </a:solidFill>
          </a:ln>
        </p:spPr>
      </p:cxnSp>
      <p:sp>
        <p:nvSpPr>
          <p:cNvPr id="17" name="Number 3"/>
          <p:cNvSpPr/>
          <p:nvPr/>
        </p:nvSpPr>
        <p:spPr>
          <a:xfrm>
            <a:off x="552297" y="4142231"/>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8" name="Point 3"/>
          <p:cNvSpPr txBox="1"/>
          <p:nvPr/>
        </p:nvSpPr>
        <p:spPr>
          <a:xfrm>
            <a:off x="1027785" y="4161806"/>
            <a:ext cx="4279392" cy="271744"/>
          </a:xfrm>
          <a:prstGeom prst="rect">
            <a:avLst/>
          </a:prstGeom>
          <a:noFill/>
        </p:spPr>
        <p:txBody>
          <a:bodyPr wrap="square" lIns="0" tIns="0" rIns="0" bIns="0" anchor="ctr">
            <a:spAutoFit/>
          </a:bodyPr>
          <a:lstStyle/>
          <a:p>
            <a:pPr algn="l"/>
            <a:r>
              <a:rPr sz="1700" b="0" dirty="0">
                <a:solidFill>
                  <a:srgbClr val="152230"/>
                </a:solidFill>
                <a:latin typeface="Gartner Sans"/>
                <a:ea typeface="Gartner Sans"/>
                <a:cs typeface="Gartner Sans"/>
              </a:rPr>
              <a:t>Circle or dot-vote your top three priorities.</a:t>
            </a:r>
          </a:p>
        </p:txBody>
      </p:sp>
      <p:sp>
        <p:nvSpPr>
          <p:cNvPr id="19" name="Grid box"/>
          <p:cNvSpPr/>
          <p:nvPr/>
        </p:nvSpPr>
        <p:spPr>
          <a:xfrm>
            <a:off x="6675120" y="1417320"/>
            <a:ext cx="2377440" cy="1874519"/>
          </a:xfrm>
          <a:prstGeom prst="rect">
            <a:avLst/>
          </a:prstGeom>
          <a:solidFill>
            <a:srgbClr val="F0F7FD"/>
          </a:solidFill>
          <a:ln w="12700">
            <a:solidFill>
              <a:srgbClr val="002869"/>
            </a:solidFill>
          </a:ln>
        </p:spPr>
        <p:txBody>
          <a:bodyPr rtlCol="0" anchor="ctr"/>
          <a:lstStyle/>
          <a:p>
            <a:pPr algn="ctr"/>
            <a:endParaRPr/>
          </a:p>
        </p:txBody>
      </p:sp>
      <p:sp>
        <p:nvSpPr>
          <p:cNvPr id="20" name="Grid box"/>
          <p:cNvSpPr/>
          <p:nvPr/>
        </p:nvSpPr>
        <p:spPr>
          <a:xfrm>
            <a:off x="6675120" y="3291839"/>
            <a:ext cx="2377440" cy="1874519"/>
          </a:xfrm>
          <a:prstGeom prst="rect">
            <a:avLst/>
          </a:prstGeom>
          <a:solidFill>
            <a:srgbClr val="F0F7FD"/>
          </a:solidFill>
          <a:ln w="12700">
            <a:solidFill>
              <a:srgbClr val="002869"/>
            </a:solidFill>
          </a:ln>
        </p:spPr>
        <p:txBody>
          <a:bodyPr rtlCol="0" anchor="ctr"/>
          <a:lstStyle/>
          <a:p>
            <a:pPr algn="ctr"/>
            <a:endParaRPr/>
          </a:p>
        </p:txBody>
      </p:sp>
      <p:sp>
        <p:nvSpPr>
          <p:cNvPr id="21" name="Grid box"/>
          <p:cNvSpPr/>
          <p:nvPr/>
        </p:nvSpPr>
        <p:spPr>
          <a:xfrm>
            <a:off x="9052560" y="1417320"/>
            <a:ext cx="2377440" cy="1874519"/>
          </a:xfrm>
          <a:prstGeom prst="rect">
            <a:avLst/>
          </a:prstGeom>
          <a:solidFill>
            <a:srgbClr val="FFF3EB"/>
          </a:solidFill>
          <a:ln w="12700">
            <a:solidFill>
              <a:srgbClr val="002869"/>
            </a:solidFill>
          </a:ln>
        </p:spPr>
        <p:txBody>
          <a:bodyPr rtlCol="0" anchor="ctr"/>
          <a:lstStyle/>
          <a:p>
            <a:pPr algn="ctr"/>
            <a:endParaRPr/>
          </a:p>
        </p:txBody>
      </p:sp>
      <p:sp>
        <p:nvSpPr>
          <p:cNvPr id="22" name="Grid box"/>
          <p:cNvSpPr/>
          <p:nvPr/>
        </p:nvSpPr>
        <p:spPr>
          <a:xfrm>
            <a:off x="9052560" y="3291839"/>
            <a:ext cx="2377440" cy="1874519"/>
          </a:xfrm>
          <a:prstGeom prst="rect">
            <a:avLst/>
          </a:prstGeom>
          <a:solidFill>
            <a:srgbClr val="F0F7FD"/>
          </a:solidFill>
          <a:ln w="12700">
            <a:solidFill>
              <a:srgbClr val="002869"/>
            </a:solidFill>
          </a:ln>
        </p:spPr>
        <p:txBody>
          <a:bodyPr rtlCol="0" anchor="ctr"/>
          <a:lstStyle/>
          <a:p>
            <a:pPr algn="ctr"/>
            <a:endParaRPr/>
          </a:p>
        </p:txBody>
      </p:sp>
      <p:sp>
        <p:nvSpPr>
          <p:cNvPr id="23" name="Impact heading"/>
          <p:cNvSpPr txBox="1"/>
          <p:nvPr/>
        </p:nvSpPr>
        <p:spPr>
          <a:xfrm>
            <a:off x="6675120" y="5550407"/>
            <a:ext cx="4754880" cy="279737"/>
          </a:xfrm>
          <a:prstGeom prst="rect">
            <a:avLst/>
          </a:prstGeom>
          <a:noFill/>
        </p:spPr>
        <p:txBody>
          <a:bodyPr wrap="square" lIns="0" tIns="0" rIns="0" bIns="0" anchor="t">
            <a:spAutoFit/>
          </a:bodyPr>
          <a:lstStyle/>
          <a:p>
            <a:pPr algn="ctr"/>
            <a:r>
              <a:rPr sz="1750" b="1">
                <a:solidFill>
                  <a:srgbClr val="002869"/>
                </a:solidFill>
                <a:latin typeface="Gartner Sans"/>
                <a:ea typeface="Gartner Sans"/>
                <a:cs typeface="Gartner Sans"/>
              </a:rPr>
              <a:t>Impact</a:t>
            </a:r>
          </a:p>
        </p:txBody>
      </p:sp>
      <p:sp>
        <p:nvSpPr>
          <p:cNvPr id="24" name="Impact low"/>
          <p:cNvSpPr txBox="1"/>
          <p:nvPr/>
        </p:nvSpPr>
        <p:spPr>
          <a:xfrm>
            <a:off x="6675120" y="5239512"/>
            <a:ext cx="2377440" cy="274320"/>
          </a:xfrm>
          <a:prstGeom prst="rect">
            <a:avLst/>
          </a:prstGeom>
          <a:noFill/>
        </p:spPr>
        <p:txBody>
          <a:bodyPr wrap="square" lIns="0" tIns="0" rIns="0" bIns="0" anchor="t">
            <a:spAutoFit/>
          </a:bodyPr>
          <a:lstStyle/>
          <a:p>
            <a:pPr algn="ctr"/>
            <a:r>
              <a:rPr sz="1700" b="0">
                <a:solidFill>
                  <a:srgbClr val="152230"/>
                </a:solidFill>
                <a:latin typeface="Gartner Sans"/>
                <a:ea typeface="Gartner Sans"/>
                <a:cs typeface="Gartner Sans"/>
              </a:rPr>
              <a:t>Low</a:t>
            </a:r>
          </a:p>
        </p:txBody>
      </p:sp>
      <p:sp>
        <p:nvSpPr>
          <p:cNvPr id="25" name="Impact high"/>
          <p:cNvSpPr txBox="1"/>
          <p:nvPr/>
        </p:nvSpPr>
        <p:spPr>
          <a:xfrm>
            <a:off x="9052560" y="5239512"/>
            <a:ext cx="2377440" cy="274320"/>
          </a:xfrm>
          <a:prstGeom prst="rect">
            <a:avLst/>
          </a:prstGeom>
          <a:noFill/>
        </p:spPr>
        <p:txBody>
          <a:bodyPr wrap="square" lIns="0" tIns="0" rIns="0" bIns="0" anchor="t">
            <a:spAutoFit/>
          </a:bodyPr>
          <a:lstStyle/>
          <a:p>
            <a:pPr algn="ctr"/>
            <a:r>
              <a:rPr sz="1700" b="0">
                <a:solidFill>
                  <a:srgbClr val="152230"/>
                </a:solidFill>
                <a:latin typeface="Gartner Sans"/>
                <a:ea typeface="Gartner Sans"/>
                <a:cs typeface="Gartner Sans"/>
              </a:rPr>
              <a:t>High</a:t>
            </a:r>
          </a:p>
        </p:txBody>
      </p:sp>
      <p:sp>
        <p:nvSpPr>
          <p:cNvPr id="26" name="Frequency heading"/>
          <p:cNvSpPr txBox="1"/>
          <p:nvPr/>
        </p:nvSpPr>
        <p:spPr>
          <a:xfrm rot="16200000">
            <a:off x="4892040" y="3154679"/>
            <a:ext cx="1828800" cy="279737"/>
          </a:xfrm>
          <a:prstGeom prst="rect">
            <a:avLst/>
          </a:prstGeom>
          <a:noFill/>
        </p:spPr>
        <p:txBody>
          <a:bodyPr wrap="square" lIns="0" tIns="0" rIns="0" bIns="0" anchor="t">
            <a:spAutoFit/>
          </a:bodyPr>
          <a:lstStyle/>
          <a:p>
            <a:pPr algn="ctr"/>
            <a:r>
              <a:rPr sz="1750" b="1">
                <a:solidFill>
                  <a:srgbClr val="002869"/>
                </a:solidFill>
                <a:latin typeface="Gartner Sans"/>
                <a:ea typeface="Gartner Sans"/>
                <a:cs typeface="Gartner Sans"/>
              </a:rPr>
              <a:t>Frequency</a:t>
            </a:r>
          </a:p>
        </p:txBody>
      </p:sp>
      <p:sp>
        <p:nvSpPr>
          <p:cNvPr id="27" name="Frequency high"/>
          <p:cNvSpPr txBox="1"/>
          <p:nvPr/>
        </p:nvSpPr>
        <p:spPr>
          <a:xfrm>
            <a:off x="6080759" y="2217420"/>
            <a:ext cx="548640" cy="287729"/>
          </a:xfrm>
          <a:prstGeom prst="rect">
            <a:avLst/>
          </a:prstGeom>
          <a:noFill/>
        </p:spPr>
        <p:txBody>
          <a:bodyPr wrap="square" lIns="0" tIns="0" rIns="0" bIns="0" anchor="t">
            <a:spAutoFit/>
          </a:bodyPr>
          <a:lstStyle/>
          <a:p>
            <a:pPr algn="r"/>
            <a:r>
              <a:rPr sz="1800" b="0">
                <a:solidFill>
                  <a:srgbClr val="152230"/>
                </a:solidFill>
                <a:latin typeface="Gartner Sans"/>
                <a:ea typeface="Gartner Sans"/>
                <a:cs typeface="Gartner Sans"/>
              </a:rPr>
              <a:t>High</a:t>
            </a:r>
          </a:p>
        </p:txBody>
      </p:sp>
      <p:sp>
        <p:nvSpPr>
          <p:cNvPr id="28" name="Frequency low"/>
          <p:cNvSpPr txBox="1"/>
          <p:nvPr/>
        </p:nvSpPr>
        <p:spPr>
          <a:xfrm>
            <a:off x="6080759" y="4091939"/>
            <a:ext cx="548640" cy="287729"/>
          </a:xfrm>
          <a:prstGeom prst="rect">
            <a:avLst/>
          </a:prstGeom>
          <a:noFill/>
        </p:spPr>
        <p:txBody>
          <a:bodyPr wrap="square" lIns="0" tIns="0" rIns="0" bIns="0" anchor="t">
            <a:spAutoFit/>
          </a:bodyPr>
          <a:lstStyle/>
          <a:p>
            <a:pPr algn="r"/>
            <a:r>
              <a:rPr sz="1800" b="0">
                <a:solidFill>
                  <a:srgbClr val="152230"/>
                </a:solidFill>
                <a:latin typeface="Gartner Sans"/>
                <a:ea typeface="Gartner Sans"/>
                <a:cs typeface="Gartner Sans"/>
              </a:rPr>
              <a:t>Low</a:t>
            </a:r>
          </a:p>
        </p:txBody>
      </p:sp>
      <p:sp>
        <p:nvSpPr>
          <p:cNvPr id="29" name="Note"/>
          <p:cNvSpPr/>
          <p:nvPr/>
        </p:nvSpPr>
        <p:spPr>
          <a:xfrm>
            <a:off x="552297" y="5029200"/>
            <a:ext cx="4754880" cy="731520"/>
          </a:xfrm>
          <a:prstGeom prst="rect">
            <a:avLst/>
          </a:prstGeom>
          <a:solidFill>
            <a:srgbClr val="F0F7FD"/>
          </a:solidFill>
          <a:ln>
            <a:noFill/>
          </a:ln>
        </p:spPr>
        <p:txBody>
          <a:bodyPr wrap="square" lIns="228600" rIns="228600" rtlCol="0" anchor="ctr"/>
          <a:lstStyle/>
          <a:p>
            <a:pPr algn="l"/>
            <a:r>
              <a:rPr sz="1400" b="1">
                <a:solidFill>
                  <a:srgbClr val="002869"/>
                </a:solidFill>
                <a:latin typeface="Gartner Sans"/>
                <a:ea typeface="Gartner Sans"/>
                <a:cs typeface="Gartner Sans"/>
              </a:rPr>
              <a:t>Impact </a:t>
            </a:r>
            <a:r>
              <a:rPr sz="1400" b="0">
                <a:solidFill>
                  <a:srgbClr val="152230"/>
                </a:solidFill>
                <a:latin typeface="Gartner Sans"/>
                <a:ea typeface="Gartner Sans"/>
                <a:cs typeface="Gartner Sans"/>
              </a:rPr>
              <a:t>means the effect each time the issue occurs. Be ready to share your top three with the room.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Example: what a team might produce</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34</a:t>
            </a:r>
          </a:p>
        </p:txBody>
      </p:sp>
      <p:pic>
        <p:nvPicPr>
          <p:cNvPr id="10" name="Hand-drawn example" descr="Hand-drawn example of the four-box grid. An index card names each box. Yellow sticky notes carry one challenge each, placed by frequency and impact. Three notes in the high-frequency, high-impact box are circled and numbered as the top priorities."/>
          <p:cNvPicPr>
            <a:picLocks noChangeAspect="1"/>
          </p:cNvPicPr>
          <p:nvPr/>
        </p:nvPicPr>
        <p:blipFill>
          <a:blip r:embed="rId2"/>
          <a:stretch>
            <a:fillRect/>
          </a:stretch>
        </p:blipFill>
        <p:spPr>
          <a:xfrm>
            <a:off x="552297" y="1188720"/>
            <a:ext cx="11146536" cy="4527631"/>
          </a:xfrm>
          <a:prstGeom prst="rect">
            <a:avLst/>
          </a:prstGeom>
        </p:spPr>
      </p:pic>
      <p:sp>
        <p:nvSpPr>
          <p:cNvPr id="11" name="Key"/>
          <p:cNvSpPr/>
          <p:nvPr/>
        </p:nvSpPr>
        <p:spPr>
          <a:xfrm>
            <a:off x="552297" y="5852160"/>
            <a:ext cx="155448" cy="155448"/>
          </a:xfrm>
          <a:prstGeom prst="rect">
            <a:avLst/>
          </a:prstGeom>
          <a:solidFill>
            <a:srgbClr val="FFFDF4"/>
          </a:solidFill>
          <a:ln w="9525">
            <a:solidFill>
              <a:srgbClr val="D0D7DF"/>
            </a:solidFill>
          </a:ln>
        </p:spPr>
        <p:txBody>
          <a:bodyPr rtlCol="0" anchor="ctr"/>
          <a:lstStyle/>
          <a:p>
            <a:pPr algn="ctr"/>
            <a:endParaRPr/>
          </a:p>
        </p:txBody>
      </p:sp>
      <p:sp>
        <p:nvSpPr>
          <p:cNvPr id="12" name="Key label"/>
          <p:cNvSpPr txBox="1"/>
          <p:nvPr/>
        </p:nvSpPr>
        <p:spPr>
          <a:xfrm>
            <a:off x="780897" y="5806440"/>
            <a:ext cx="2194560" cy="246888"/>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Index card: names the box</a:t>
            </a:r>
          </a:p>
        </p:txBody>
      </p:sp>
      <p:sp>
        <p:nvSpPr>
          <p:cNvPr id="13" name="Key"/>
          <p:cNvSpPr/>
          <p:nvPr/>
        </p:nvSpPr>
        <p:spPr>
          <a:xfrm>
            <a:off x="3021177" y="5852160"/>
            <a:ext cx="155448" cy="155448"/>
          </a:xfrm>
          <a:prstGeom prst="rect">
            <a:avLst/>
          </a:prstGeom>
          <a:solidFill>
            <a:srgbClr val="FFE566"/>
          </a:solidFill>
          <a:ln>
            <a:noFill/>
          </a:ln>
        </p:spPr>
        <p:txBody>
          <a:bodyPr rtlCol="0" anchor="ctr"/>
          <a:lstStyle/>
          <a:p>
            <a:pPr algn="ctr"/>
            <a:endParaRPr/>
          </a:p>
        </p:txBody>
      </p:sp>
      <p:sp>
        <p:nvSpPr>
          <p:cNvPr id="14" name="Key label"/>
          <p:cNvSpPr txBox="1"/>
          <p:nvPr/>
        </p:nvSpPr>
        <p:spPr>
          <a:xfrm>
            <a:off x="3249777" y="5806440"/>
            <a:ext cx="2194560" cy="246888"/>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Sticky note: one challenge</a:t>
            </a:r>
          </a:p>
        </p:txBody>
      </p:sp>
      <p:sp>
        <p:nvSpPr>
          <p:cNvPr id="15" name="Note"/>
          <p:cNvSpPr txBox="1"/>
          <p:nvPr/>
        </p:nvSpPr>
        <p:spPr>
          <a:xfrm>
            <a:off x="5490057" y="5806440"/>
            <a:ext cx="5029200" cy="246888"/>
          </a:xfrm>
          <a:prstGeom prst="rect">
            <a:avLst/>
          </a:prstGeom>
          <a:noFill/>
        </p:spPr>
        <p:txBody>
          <a:bodyPr wrap="square" lIns="0" tIns="0" rIns="0" bIns="0" anchor="ctr">
            <a:spAutoFit/>
          </a:bodyPr>
          <a:lstStyle/>
          <a:p>
            <a:pPr algn="l"/>
            <a:r>
              <a:rPr sz="1250" b="0">
                <a:solidFill>
                  <a:srgbClr val="526273"/>
                </a:solidFill>
                <a:latin typeface="Gartner Sans"/>
                <a:ea typeface="Gartner Sans"/>
                <a:cs typeface="Gartner Sans"/>
              </a:rPr>
              <a:t>Circled and numbered: the top three priorities.  Illustrative example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title"/>
          <p:cNvSpPr txBox="1"/>
          <p:nvPr/>
        </p:nvSpPr>
        <p:spPr>
          <a:xfrm>
            <a:off x="1856231" y="2194560"/>
            <a:ext cx="6309360" cy="1463040"/>
          </a:xfrm>
          <a:prstGeom prst="rect">
            <a:avLst/>
          </a:prstGeom>
          <a:noFill/>
        </p:spPr>
        <p:txBody>
          <a:bodyPr wrap="square" lIns="0" tIns="0" rIns="0" bIns="0" anchor="b">
            <a:spAutoFit/>
          </a:bodyPr>
          <a:lstStyle/>
          <a:p>
            <a:pPr algn="l"/>
            <a:r>
              <a:rPr sz="2800" b="0">
                <a:solidFill>
                  <a:srgbClr val="FFFFFF"/>
                </a:solidFill>
                <a:latin typeface="Gartner Sans"/>
                <a:ea typeface="Gartner Sans"/>
                <a:cs typeface="Gartner Sans"/>
              </a:rPr>
              <a:t>How AI changes the SDLC, and how to adopt it</a:t>
            </a:r>
          </a:p>
        </p:txBody>
      </p:sp>
      <p:sp>
        <p:nvSpPr>
          <p:cNvPr id="3" name="Section subtitle"/>
          <p:cNvSpPr txBox="1"/>
          <p:nvPr/>
        </p:nvSpPr>
        <p:spPr>
          <a:xfrm>
            <a:off x="1856231" y="3794760"/>
            <a:ext cx="6309360" cy="685800"/>
          </a:xfrm>
          <a:prstGeom prst="rect">
            <a:avLst/>
          </a:prstGeom>
          <a:noFill/>
        </p:spPr>
        <p:txBody>
          <a:bodyPr wrap="square" lIns="0" tIns="0" rIns="0" bIns="0" anchor="t">
            <a:spAutoFit/>
          </a:bodyPr>
          <a:lstStyle/>
          <a:p>
            <a:pPr algn="l"/>
            <a:r>
              <a:rPr sz="1800" b="0">
                <a:solidFill>
                  <a:srgbClr val="FFFFFF"/>
                </a:solidFill>
                <a:latin typeface="Gartner Sans"/>
                <a:ea typeface="Gartner Sans"/>
                <a:cs typeface="Gartner Sans"/>
              </a:rPr>
              <a:t>What changes in requirements, phases, roles and ways of working, and the steps to adopt AI and redesign delivery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Redesign turns faster tasks into delivery results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36</a:t>
            </a:r>
          </a:p>
        </p:txBody>
      </p:sp>
      <p:sp>
        <p:nvSpPr>
          <p:cNvPr id="10" name="Heading"/>
          <p:cNvSpPr txBox="1"/>
          <p:nvPr/>
        </p:nvSpPr>
        <p:spPr>
          <a:xfrm>
            <a:off x="552297" y="1325880"/>
            <a:ext cx="11146536"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CBRE redesigned roles, team structures and the SDLC, and measured the result</a:t>
            </a:r>
          </a:p>
        </p:txBody>
      </p:sp>
      <p:sp>
        <p:nvSpPr>
          <p:cNvPr id="11" name="Stat"/>
          <p:cNvSpPr/>
          <p:nvPr/>
        </p:nvSpPr>
        <p:spPr>
          <a:xfrm>
            <a:off x="552297" y="1737360"/>
            <a:ext cx="2580894" cy="2103120"/>
          </a:xfrm>
          <a:prstGeom prst="rect">
            <a:avLst/>
          </a:prstGeom>
          <a:solidFill>
            <a:srgbClr val="F0F7FD"/>
          </a:solidFill>
          <a:ln>
            <a:noFill/>
          </a:ln>
        </p:spPr>
        <p:txBody>
          <a:bodyPr rtlCol="0" anchor="ctr"/>
          <a:lstStyle/>
          <a:p>
            <a:pPr algn="ctr"/>
            <a:endParaRPr/>
          </a:p>
        </p:txBody>
      </p:sp>
      <p:sp>
        <p:nvSpPr>
          <p:cNvPr id="12" name="Stat value"/>
          <p:cNvSpPr txBox="1"/>
          <p:nvPr/>
        </p:nvSpPr>
        <p:spPr>
          <a:xfrm>
            <a:off x="753465" y="1847088"/>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15%</a:t>
            </a:r>
          </a:p>
        </p:txBody>
      </p:sp>
      <p:sp>
        <p:nvSpPr>
          <p:cNvPr id="13" name="Stat label"/>
          <p:cNvSpPr txBox="1"/>
          <p:nvPr/>
        </p:nvSpPr>
        <p:spPr>
          <a:xfrm>
            <a:off x="753465" y="2633472"/>
            <a:ext cx="2178558" cy="1188719"/>
          </a:xfrm>
          <a:prstGeom prst="rect">
            <a:avLst/>
          </a:prstGeom>
          <a:noFill/>
        </p:spPr>
        <p:txBody>
          <a:bodyPr wrap="square" lIns="0" tIns="0" rIns="0" bIns="0" anchor="t">
            <a:spAutoFit/>
          </a:bodyPr>
          <a:lstStyle/>
          <a:p>
            <a:pPr algn="l"/>
            <a:r>
              <a:rPr sz="1600" b="0">
                <a:solidFill>
                  <a:srgbClr val="152230"/>
                </a:solidFill>
                <a:latin typeface="Gartner Sans"/>
                <a:ea typeface="Gartner Sans"/>
                <a:cs typeface="Gartner Sans"/>
              </a:rPr>
              <a:t>Reduction in lead time with tiny teams during early pilots and rollout</a:t>
            </a:r>
          </a:p>
        </p:txBody>
      </p:sp>
      <p:sp>
        <p:nvSpPr>
          <p:cNvPr id="14" name="Stat"/>
          <p:cNvSpPr/>
          <p:nvPr/>
        </p:nvSpPr>
        <p:spPr>
          <a:xfrm>
            <a:off x="3407511" y="1737360"/>
            <a:ext cx="2580894" cy="2103120"/>
          </a:xfrm>
          <a:prstGeom prst="rect">
            <a:avLst/>
          </a:prstGeom>
          <a:solidFill>
            <a:srgbClr val="F0F7FD"/>
          </a:solidFill>
          <a:ln>
            <a:noFill/>
          </a:ln>
        </p:spPr>
        <p:txBody>
          <a:bodyPr rtlCol="0" anchor="ctr"/>
          <a:lstStyle/>
          <a:p>
            <a:pPr algn="ctr"/>
            <a:endParaRPr/>
          </a:p>
        </p:txBody>
      </p:sp>
      <p:sp>
        <p:nvSpPr>
          <p:cNvPr id="15" name="Stat value"/>
          <p:cNvSpPr txBox="1"/>
          <p:nvPr/>
        </p:nvSpPr>
        <p:spPr>
          <a:xfrm>
            <a:off x="3608679" y="1847088"/>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30%</a:t>
            </a:r>
          </a:p>
        </p:txBody>
      </p:sp>
      <p:sp>
        <p:nvSpPr>
          <p:cNvPr id="16" name="Stat label"/>
          <p:cNvSpPr txBox="1"/>
          <p:nvPr/>
        </p:nvSpPr>
        <p:spPr>
          <a:xfrm>
            <a:off x="3608679" y="2633472"/>
            <a:ext cx="2178558" cy="1188719"/>
          </a:xfrm>
          <a:prstGeom prst="rect">
            <a:avLst/>
          </a:prstGeom>
          <a:noFill/>
        </p:spPr>
        <p:txBody>
          <a:bodyPr wrap="square" lIns="0" tIns="0" rIns="0" bIns="0" anchor="t">
            <a:spAutoFit/>
          </a:bodyPr>
          <a:lstStyle/>
          <a:p>
            <a:pPr algn="l"/>
            <a:r>
              <a:rPr sz="1600" b="0">
                <a:solidFill>
                  <a:srgbClr val="152230"/>
                </a:solidFill>
                <a:latin typeface="Gartner Sans"/>
                <a:ea typeface="Gartner Sans"/>
                <a:cs typeface="Gartner Sans"/>
              </a:rPr>
              <a:t>Reduction in escaped defects in user acceptance testing and production</a:t>
            </a:r>
          </a:p>
        </p:txBody>
      </p:sp>
      <p:sp>
        <p:nvSpPr>
          <p:cNvPr id="17" name="Stat"/>
          <p:cNvSpPr/>
          <p:nvPr/>
        </p:nvSpPr>
        <p:spPr>
          <a:xfrm>
            <a:off x="6262725" y="1737360"/>
            <a:ext cx="2580894" cy="2103120"/>
          </a:xfrm>
          <a:prstGeom prst="rect">
            <a:avLst/>
          </a:prstGeom>
          <a:solidFill>
            <a:srgbClr val="F0F7FD"/>
          </a:solidFill>
          <a:ln>
            <a:noFill/>
          </a:ln>
        </p:spPr>
        <p:txBody>
          <a:bodyPr rtlCol="0" anchor="ctr"/>
          <a:lstStyle/>
          <a:p>
            <a:pPr algn="ctr"/>
            <a:endParaRPr/>
          </a:p>
        </p:txBody>
      </p:sp>
      <p:sp>
        <p:nvSpPr>
          <p:cNvPr id="18" name="Stat value"/>
          <p:cNvSpPr txBox="1"/>
          <p:nvPr/>
        </p:nvSpPr>
        <p:spPr>
          <a:xfrm>
            <a:off x="6463893" y="1847088"/>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28%</a:t>
            </a:r>
          </a:p>
        </p:txBody>
      </p:sp>
      <p:sp>
        <p:nvSpPr>
          <p:cNvPr id="19" name="Stat label"/>
          <p:cNvSpPr txBox="1"/>
          <p:nvPr/>
        </p:nvSpPr>
        <p:spPr>
          <a:xfrm>
            <a:off x="6463893" y="2633472"/>
            <a:ext cx="2178558" cy="1188719"/>
          </a:xfrm>
          <a:prstGeom prst="rect">
            <a:avLst/>
          </a:prstGeom>
          <a:noFill/>
        </p:spPr>
        <p:txBody>
          <a:bodyPr wrap="square" lIns="0" tIns="0" rIns="0" bIns="0" anchor="t">
            <a:spAutoFit/>
          </a:bodyPr>
          <a:lstStyle/>
          <a:p>
            <a:pPr algn="l"/>
            <a:r>
              <a:rPr sz="1600" b="0">
                <a:solidFill>
                  <a:srgbClr val="152230"/>
                </a:solidFill>
                <a:latin typeface="Gartner Sans"/>
                <a:ea typeface="Gartner Sans"/>
                <a:cs typeface="Gartner Sans"/>
              </a:rPr>
              <a:t>Reduction in cycle time</a:t>
            </a:r>
          </a:p>
        </p:txBody>
      </p:sp>
      <p:sp>
        <p:nvSpPr>
          <p:cNvPr id="20" name="Stat"/>
          <p:cNvSpPr/>
          <p:nvPr/>
        </p:nvSpPr>
        <p:spPr>
          <a:xfrm>
            <a:off x="9117939" y="1737360"/>
            <a:ext cx="2580894" cy="2103120"/>
          </a:xfrm>
          <a:prstGeom prst="rect">
            <a:avLst/>
          </a:prstGeom>
          <a:solidFill>
            <a:srgbClr val="F0F7FD"/>
          </a:solidFill>
          <a:ln>
            <a:noFill/>
          </a:ln>
        </p:spPr>
        <p:txBody>
          <a:bodyPr rtlCol="0" anchor="ctr"/>
          <a:lstStyle/>
          <a:p>
            <a:pPr algn="ctr"/>
            <a:endParaRPr/>
          </a:p>
        </p:txBody>
      </p:sp>
      <p:sp>
        <p:nvSpPr>
          <p:cNvPr id="21" name="Stat value"/>
          <p:cNvSpPr txBox="1"/>
          <p:nvPr/>
        </p:nvSpPr>
        <p:spPr>
          <a:xfrm>
            <a:off x="9319107" y="1847088"/>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25%</a:t>
            </a:r>
          </a:p>
        </p:txBody>
      </p:sp>
      <p:sp>
        <p:nvSpPr>
          <p:cNvPr id="22" name="Stat label"/>
          <p:cNvSpPr txBox="1"/>
          <p:nvPr/>
        </p:nvSpPr>
        <p:spPr>
          <a:xfrm>
            <a:off x="9319107" y="2633472"/>
            <a:ext cx="2178558" cy="1188719"/>
          </a:xfrm>
          <a:prstGeom prst="rect">
            <a:avLst/>
          </a:prstGeom>
          <a:noFill/>
        </p:spPr>
        <p:txBody>
          <a:bodyPr wrap="square" lIns="0" tIns="0" rIns="0" bIns="0" anchor="t">
            <a:spAutoFit/>
          </a:bodyPr>
          <a:lstStyle/>
          <a:p>
            <a:pPr algn="l"/>
            <a:r>
              <a:rPr sz="1600" b="0">
                <a:solidFill>
                  <a:srgbClr val="152230"/>
                </a:solidFill>
                <a:latin typeface="Gartner Sans"/>
                <a:ea typeface="Gartner Sans"/>
                <a:cs typeface="Gartner Sans"/>
              </a:rPr>
              <a:t>Cost-per-point efficiency gain realised, with 33% forecast at complete rollout</a:t>
            </a:r>
          </a:p>
        </p:txBody>
      </p:sp>
      <p:sp>
        <p:nvSpPr>
          <p:cNvPr id="23" name="Note"/>
          <p:cNvSpPr/>
          <p:nvPr/>
        </p:nvSpPr>
        <p:spPr>
          <a:xfrm>
            <a:off x="552297" y="4160520"/>
            <a:ext cx="11146536" cy="1280160"/>
          </a:xfrm>
          <a:prstGeom prst="rect">
            <a:avLst/>
          </a:prstGeom>
          <a:solidFill>
            <a:srgbClr val="FFF3EB"/>
          </a:solidFill>
          <a:ln w="12700">
            <a:solidFill>
              <a:srgbClr val="C8460A"/>
            </a:solidFill>
          </a:ln>
        </p:spPr>
        <p:txBody>
          <a:bodyPr wrap="square" lIns="228600" rIns="228600" rtlCol="0" anchor="ctr"/>
          <a:lstStyle/>
          <a:p>
            <a:pPr algn="l"/>
            <a:r>
              <a:rPr sz="1750" b="1">
                <a:solidFill>
                  <a:srgbClr val="152230"/>
                </a:solidFill>
                <a:latin typeface="Gartner Sans"/>
                <a:ea typeface="Gartner Sans"/>
                <a:cs typeface="Gartner Sans"/>
              </a:rPr>
              <a:t>Without redesign, gains stall. </a:t>
            </a:r>
            <a:r>
              <a:rPr sz="1750" b="0">
                <a:solidFill>
                  <a:srgbClr val="152230"/>
                </a:solidFill>
                <a:latin typeface="Gartner Sans"/>
                <a:ea typeface="Gartner Sans"/>
                <a:cs typeface="Gartner Sans"/>
              </a:rPr>
              <a:t>Gartner predicts that by 2028 more than half of the organisations that scale agentic AI without evolving roles and workflows will see productivity gains stall at the task level.</a:t>
            </a:r>
          </a:p>
        </p:txBody>
      </p:sp>
      <p:sp>
        <p:nvSpPr>
          <p:cNvPr id="24"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G00857393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AI speeds up tasks, but work still waits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37</a:t>
            </a:r>
          </a:p>
        </p:txBody>
      </p:sp>
      <p:sp>
        <p:nvSpPr>
          <p:cNvPr id="10" name="Stage 1"/>
          <p:cNvSpPr/>
          <p:nvPr/>
        </p:nvSpPr>
        <p:spPr>
          <a:xfrm>
            <a:off x="552297" y="1325880"/>
            <a:ext cx="2357323" cy="457200"/>
          </a:xfrm>
          <a:prstGeom prst="homePlate">
            <a:avLst/>
          </a:prstGeom>
          <a:solidFill>
            <a:srgbClr val="002869"/>
          </a:solidFill>
          <a:ln>
            <a:noFill/>
          </a:ln>
        </p:spPr>
        <p:txBody>
          <a:bodyPr wrap="square" lIns="201168" tIns="0" rIns="201168" bIns="0" rtlCol="0" anchor="ctr"/>
          <a:lstStyle/>
          <a:p>
            <a:pPr algn="ctr"/>
            <a:r>
              <a:rPr sz="1400" b="1">
                <a:solidFill>
                  <a:srgbClr val="FFFFFF"/>
                </a:solidFill>
                <a:latin typeface="Gartner Sans"/>
                <a:ea typeface="Gartner Sans"/>
                <a:cs typeface="Gartner Sans"/>
              </a:rPr>
              <a:t>Plan and analyse</a:t>
            </a:r>
          </a:p>
        </p:txBody>
      </p:sp>
      <p:sp>
        <p:nvSpPr>
          <p:cNvPr id="11" name="Stage 1 AI uses"/>
          <p:cNvSpPr txBox="1"/>
          <p:nvPr/>
        </p:nvSpPr>
        <p:spPr>
          <a:xfrm>
            <a:off x="643737" y="1892807"/>
            <a:ext cx="1954987" cy="822960"/>
          </a:xfrm>
          <a:prstGeom prst="rect">
            <a:avLst/>
          </a:prstGeom>
          <a:noFill/>
        </p:spPr>
        <p:txBody>
          <a:bodyPr wrap="square" lIns="0" tIns="0" rIns="0" bIns="0" anchor="t">
            <a:spAutoFit/>
          </a:bodyPr>
          <a:lstStyle/>
          <a:p>
            <a:pPr marL="171450" indent="-171450" algn="l">
              <a:buFont typeface="Arial"/>
              <a:buChar char="•"/>
            </a:pPr>
            <a:r>
              <a:rPr sz="1300" b="0">
                <a:solidFill>
                  <a:srgbClr val="152230"/>
                </a:solidFill>
                <a:latin typeface="Gartner Sans"/>
                <a:ea typeface="Gartner Sans"/>
                <a:cs typeface="Gartner Sans"/>
              </a:rPr>
              <a:t>Optimise user stories</a:t>
            </a:r>
          </a:p>
          <a:p>
            <a:pPr marL="171450" indent="-171450" algn="l">
              <a:spcBef>
                <a:spcPts val="200"/>
              </a:spcBef>
              <a:buFont typeface="Arial"/>
              <a:buChar char="•"/>
            </a:pPr>
            <a:r>
              <a:rPr sz="1300" b="0">
                <a:solidFill>
                  <a:srgbClr val="152230"/>
                </a:solidFill>
                <a:latin typeface="Gartner Sans"/>
                <a:ea typeface="Gartner Sans"/>
                <a:cs typeface="Gartner Sans"/>
              </a:rPr>
              <a:t>Prioritise the backlog automatically</a:t>
            </a:r>
          </a:p>
        </p:txBody>
      </p:sp>
      <p:sp>
        <p:nvSpPr>
          <p:cNvPr id="12" name="Stage 2"/>
          <p:cNvSpPr/>
          <p:nvPr/>
        </p:nvSpPr>
        <p:spPr>
          <a:xfrm>
            <a:off x="2781604" y="1325880"/>
            <a:ext cx="2357323" cy="457200"/>
          </a:xfrm>
          <a:prstGeom prst="chevron">
            <a:avLst/>
          </a:prstGeom>
          <a:solidFill>
            <a:srgbClr val="002869"/>
          </a:solidFill>
          <a:ln>
            <a:noFill/>
          </a:ln>
        </p:spPr>
        <p:txBody>
          <a:bodyPr wrap="square" lIns="201168" tIns="0" rIns="201168" bIns="0" rtlCol="0" anchor="ctr"/>
          <a:lstStyle/>
          <a:p>
            <a:pPr algn="ctr"/>
            <a:r>
              <a:rPr sz="1400" b="1">
                <a:solidFill>
                  <a:srgbClr val="FFFFFF"/>
                </a:solidFill>
                <a:latin typeface="Gartner Sans"/>
                <a:ea typeface="Gartner Sans"/>
                <a:cs typeface="Gartner Sans"/>
              </a:rPr>
              <a:t>Design</a:t>
            </a:r>
          </a:p>
        </p:txBody>
      </p:sp>
      <p:sp>
        <p:nvSpPr>
          <p:cNvPr id="13" name="Stage 2 AI uses"/>
          <p:cNvSpPr txBox="1"/>
          <p:nvPr/>
        </p:nvSpPr>
        <p:spPr>
          <a:xfrm>
            <a:off x="2873044" y="1892807"/>
            <a:ext cx="1954987" cy="822960"/>
          </a:xfrm>
          <a:prstGeom prst="rect">
            <a:avLst/>
          </a:prstGeom>
          <a:noFill/>
        </p:spPr>
        <p:txBody>
          <a:bodyPr wrap="square" lIns="0" tIns="0" rIns="0" bIns="0" anchor="t">
            <a:spAutoFit/>
          </a:bodyPr>
          <a:lstStyle/>
          <a:p>
            <a:pPr marL="171450" indent="-171450" algn="l">
              <a:buFont typeface="Arial"/>
              <a:buChar char="•"/>
            </a:pPr>
            <a:r>
              <a:rPr sz="1300" b="0">
                <a:solidFill>
                  <a:srgbClr val="152230"/>
                </a:solidFill>
                <a:latin typeface="Gartner Sans"/>
                <a:ea typeface="Gartner Sans"/>
                <a:cs typeface="Gartner Sans"/>
              </a:rPr>
              <a:t>Generate summaries</a:t>
            </a:r>
          </a:p>
          <a:p>
            <a:pPr marL="171450" indent="-171450" algn="l">
              <a:spcBef>
                <a:spcPts val="200"/>
              </a:spcBef>
              <a:buFont typeface="Arial"/>
              <a:buChar char="•"/>
            </a:pPr>
            <a:r>
              <a:rPr sz="1300" b="0">
                <a:solidFill>
                  <a:srgbClr val="152230"/>
                </a:solidFill>
                <a:latin typeface="Gartner Sans"/>
                <a:ea typeface="Gartner Sans"/>
                <a:cs typeface="Gartner Sans"/>
              </a:rPr>
              <a:t>Turn text into designs for mock-ups</a:t>
            </a:r>
          </a:p>
        </p:txBody>
      </p:sp>
      <p:sp>
        <p:nvSpPr>
          <p:cNvPr id="14" name="Stage 3"/>
          <p:cNvSpPr/>
          <p:nvPr/>
        </p:nvSpPr>
        <p:spPr>
          <a:xfrm>
            <a:off x="5010912" y="1325880"/>
            <a:ext cx="2357323" cy="457200"/>
          </a:xfrm>
          <a:prstGeom prst="chevron">
            <a:avLst/>
          </a:prstGeom>
          <a:solidFill>
            <a:srgbClr val="002869"/>
          </a:solidFill>
          <a:ln>
            <a:noFill/>
          </a:ln>
        </p:spPr>
        <p:txBody>
          <a:bodyPr wrap="square" lIns="201168" tIns="0" rIns="201168" bIns="0" rtlCol="0" anchor="ctr"/>
          <a:lstStyle/>
          <a:p>
            <a:pPr algn="ctr"/>
            <a:r>
              <a:rPr sz="1400" b="1">
                <a:solidFill>
                  <a:srgbClr val="FFFFFF"/>
                </a:solidFill>
                <a:latin typeface="Gartner Sans"/>
                <a:ea typeface="Gartner Sans"/>
                <a:cs typeface="Gartner Sans"/>
              </a:rPr>
              <a:t>Develop</a:t>
            </a:r>
          </a:p>
        </p:txBody>
      </p:sp>
      <p:sp>
        <p:nvSpPr>
          <p:cNvPr id="15" name="Stage 3 AI uses"/>
          <p:cNvSpPr txBox="1"/>
          <p:nvPr/>
        </p:nvSpPr>
        <p:spPr>
          <a:xfrm>
            <a:off x="5102351" y="1892807"/>
            <a:ext cx="1954987" cy="857381"/>
          </a:xfrm>
          <a:prstGeom prst="rect">
            <a:avLst/>
          </a:prstGeom>
          <a:noFill/>
        </p:spPr>
        <p:txBody>
          <a:bodyPr wrap="square" lIns="0" tIns="0" rIns="0" bIns="0" anchor="t">
            <a:spAutoFit/>
          </a:bodyPr>
          <a:lstStyle/>
          <a:p>
            <a:pPr marL="171450" indent="-171450" algn="l">
              <a:buFont typeface="Arial"/>
              <a:buChar char="•"/>
            </a:pPr>
            <a:r>
              <a:rPr sz="1300" b="0">
                <a:solidFill>
                  <a:srgbClr val="152230"/>
                </a:solidFill>
                <a:latin typeface="Gartner Sans"/>
                <a:ea typeface="Gartner Sans"/>
                <a:cs typeface="Gartner Sans"/>
              </a:rPr>
              <a:t>Generate, refactor and explain code</a:t>
            </a:r>
          </a:p>
          <a:p>
            <a:pPr marL="171450" indent="-171450" algn="l">
              <a:spcBef>
                <a:spcPts val="200"/>
              </a:spcBef>
              <a:buFont typeface="Arial"/>
              <a:buChar char="•"/>
            </a:pPr>
            <a:r>
              <a:rPr sz="1300" b="0">
                <a:solidFill>
                  <a:srgbClr val="152230"/>
                </a:solidFill>
                <a:latin typeface="Gartner Sans"/>
                <a:ea typeface="Gartner Sans"/>
                <a:cs typeface="Gartner Sans"/>
              </a:rPr>
              <a:t>Review pull requests automatically</a:t>
            </a:r>
          </a:p>
        </p:txBody>
      </p:sp>
      <p:sp>
        <p:nvSpPr>
          <p:cNvPr id="16" name="Stage 4"/>
          <p:cNvSpPr/>
          <p:nvPr/>
        </p:nvSpPr>
        <p:spPr>
          <a:xfrm>
            <a:off x="7240219" y="1325880"/>
            <a:ext cx="2357323" cy="457200"/>
          </a:xfrm>
          <a:prstGeom prst="chevron">
            <a:avLst/>
          </a:prstGeom>
          <a:solidFill>
            <a:srgbClr val="002869"/>
          </a:solidFill>
          <a:ln>
            <a:noFill/>
          </a:ln>
        </p:spPr>
        <p:txBody>
          <a:bodyPr wrap="square" lIns="201168" tIns="0" rIns="201168" bIns="0" rtlCol="0" anchor="ctr"/>
          <a:lstStyle/>
          <a:p>
            <a:pPr algn="ctr"/>
            <a:r>
              <a:rPr sz="1400" b="1">
                <a:solidFill>
                  <a:srgbClr val="FFFFFF"/>
                </a:solidFill>
                <a:latin typeface="Gartner Sans"/>
                <a:ea typeface="Gartner Sans"/>
                <a:cs typeface="Gartner Sans"/>
              </a:rPr>
              <a:t>Test</a:t>
            </a:r>
          </a:p>
        </p:txBody>
      </p:sp>
      <p:sp>
        <p:nvSpPr>
          <p:cNvPr id="17" name="Stage 4 AI uses"/>
          <p:cNvSpPr txBox="1"/>
          <p:nvPr/>
        </p:nvSpPr>
        <p:spPr>
          <a:xfrm>
            <a:off x="7331659" y="1892807"/>
            <a:ext cx="1954987" cy="857381"/>
          </a:xfrm>
          <a:prstGeom prst="rect">
            <a:avLst/>
          </a:prstGeom>
          <a:noFill/>
        </p:spPr>
        <p:txBody>
          <a:bodyPr wrap="square" lIns="0" tIns="0" rIns="0" bIns="0" anchor="t">
            <a:spAutoFit/>
          </a:bodyPr>
          <a:lstStyle/>
          <a:p>
            <a:pPr marL="171450" indent="-171450" algn="l">
              <a:buFont typeface="Arial"/>
              <a:buChar char="•"/>
            </a:pPr>
            <a:r>
              <a:rPr sz="1300" b="0">
                <a:solidFill>
                  <a:srgbClr val="152230"/>
                </a:solidFill>
                <a:latin typeface="Gartner Sans"/>
                <a:ea typeface="Gartner Sans"/>
                <a:cs typeface="Gartner Sans"/>
              </a:rPr>
              <a:t>Write test cases and scripts</a:t>
            </a:r>
          </a:p>
          <a:p>
            <a:pPr marL="171450" indent="-171450" algn="l">
              <a:spcBef>
                <a:spcPts val="200"/>
              </a:spcBef>
              <a:buFont typeface="Arial"/>
              <a:buChar char="•"/>
            </a:pPr>
            <a:r>
              <a:rPr sz="1300" b="0">
                <a:solidFill>
                  <a:srgbClr val="152230"/>
                </a:solidFill>
                <a:latin typeface="Gartner Sans"/>
                <a:ea typeface="Gartner Sans"/>
                <a:cs typeface="Gartner Sans"/>
              </a:rPr>
              <a:t>Repair failing tests to cut build times</a:t>
            </a:r>
          </a:p>
        </p:txBody>
      </p:sp>
      <p:sp>
        <p:nvSpPr>
          <p:cNvPr id="18" name="Stage 5"/>
          <p:cNvSpPr/>
          <p:nvPr/>
        </p:nvSpPr>
        <p:spPr>
          <a:xfrm>
            <a:off x="9469526" y="1325880"/>
            <a:ext cx="2229307" cy="457200"/>
          </a:xfrm>
          <a:prstGeom prst="chevron">
            <a:avLst/>
          </a:prstGeom>
          <a:solidFill>
            <a:srgbClr val="002869"/>
          </a:solidFill>
          <a:ln>
            <a:noFill/>
          </a:ln>
        </p:spPr>
        <p:txBody>
          <a:bodyPr wrap="square" lIns="201168" tIns="0" rIns="201168" bIns="0" rtlCol="0" anchor="ctr"/>
          <a:lstStyle/>
          <a:p>
            <a:pPr algn="ctr"/>
            <a:r>
              <a:rPr sz="1350" b="1">
                <a:solidFill>
                  <a:srgbClr val="FFFFFF"/>
                </a:solidFill>
                <a:latin typeface="Gartner Sans"/>
                <a:ea typeface="Gartner Sans"/>
                <a:cs typeface="Gartner Sans"/>
              </a:rPr>
              <a:t>Deploy and maintain</a:t>
            </a:r>
          </a:p>
        </p:txBody>
      </p:sp>
      <p:sp>
        <p:nvSpPr>
          <p:cNvPr id="19" name="Stage 5 AI uses"/>
          <p:cNvSpPr txBox="1"/>
          <p:nvPr/>
        </p:nvSpPr>
        <p:spPr>
          <a:xfrm>
            <a:off x="9560966" y="1892807"/>
            <a:ext cx="1954987" cy="822960"/>
          </a:xfrm>
          <a:prstGeom prst="rect">
            <a:avLst/>
          </a:prstGeom>
          <a:noFill/>
        </p:spPr>
        <p:txBody>
          <a:bodyPr wrap="square" lIns="0" tIns="0" rIns="0" bIns="0" anchor="t">
            <a:spAutoFit/>
          </a:bodyPr>
          <a:lstStyle/>
          <a:p>
            <a:pPr marL="171450" indent="-171450" algn="l">
              <a:buFont typeface="Arial"/>
              <a:buChar char="•"/>
            </a:pPr>
            <a:r>
              <a:rPr sz="1300" b="0">
                <a:solidFill>
                  <a:srgbClr val="152230"/>
                </a:solidFill>
                <a:latin typeface="Gartner Sans"/>
                <a:ea typeface="Gartner Sans"/>
                <a:cs typeface="Gartner Sans"/>
              </a:rPr>
              <a:t>Analyse the build pipeline</a:t>
            </a:r>
          </a:p>
          <a:p>
            <a:pPr marL="171450" indent="-171450" algn="l">
              <a:spcBef>
                <a:spcPts val="200"/>
              </a:spcBef>
              <a:buFont typeface="Arial"/>
              <a:buChar char="•"/>
            </a:pPr>
            <a:r>
              <a:rPr sz="1300" b="0">
                <a:solidFill>
                  <a:srgbClr val="152230"/>
                </a:solidFill>
                <a:latin typeface="Gartner Sans"/>
                <a:ea typeface="Gartner Sans"/>
                <a:cs typeface="Gartner Sans"/>
              </a:rPr>
              <a:t>Generate infrastructure as code</a:t>
            </a:r>
          </a:p>
        </p:txBody>
      </p:sp>
      <p:sp>
        <p:nvSpPr>
          <p:cNvPr id="20" name="Work"/>
          <p:cNvSpPr/>
          <p:nvPr/>
        </p:nvSpPr>
        <p:spPr>
          <a:xfrm>
            <a:off x="552297" y="2852928"/>
            <a:ext cx="1783445" cy="201168"/>
          </a:xfrm>
          <a:prstGeom prst="rect">
            <a:avLst/>
          </a:prstGeom>
          <a:solidFill>
            <a:srgbClr val="002869"/>
          </a:solidFill>
          <a:ln>
            <a:noFill/>
          </a:ln>
        </p:spPr>
        <p:txBody>
          <a:bodyPr rtlCol="0" anchor="ctr"/>
          <a:lstStyle/>
          <a:p>
            <a:pPr algn="ctr"/>
            <a:endParaRPr/>
          </a:p>
        </p:txBody>
      </p:sp>
      <p:sp>
        <p:nvSpPr>
          <p:cNvPr id="21" name="Waiting"/>
          <p:cNvSpPr/>
          <p:nvPr/>
        </p:nvSpPr>
        <p:spPr>
          <a:xfrm>
            <a:off x="2335743" y="2852928"/>
            <a:ext cx="1393316" cy="201168"/>
          </a:xfrm>
          <a:prstGeom prst="rect">
            <a:avLst/>
          </a:prstGeom>
          <a:solidFill>
            <a:srgbClr val="C8460A"/>
          </a:solidFill>
          <a:ln>
            <a:noFill/>
          </a:ln>
        </p:spPr>
        <p:txBody>
          <a:bodyPr rtlCol="0" anchor="ctr"/>
          <a:lstStyle/>
          <a:p>
            <a:pPr algn="ctr"/>
            <a:endParaRPr/>
          </a:p>
        </p:txBody>
      </p:sp>
      <p:sp>
        <p:nvSpPr>
          <p:cNvPr id="22" name="Work"/>
          <p:cNvSpPr/>
          <p:nvPr/>
        </p:nvSpPr>
        <p:spPr>
          <a:xfrm>
            <a:off x="3729060" y="2852928"/>
            <a:ext cx="557326" cy="201168"/>
          </a:xfrm>
          <a:prstGeom prst="rect">
            <a:avLst/>
          </a:prstGeom>
          <a:solidFill>
            <a:srgbClr val="002869"/>
          </a:solidFill>
          <a:ln>
            <a:noFill/>
          </a:ln>
        </p:spPr>
        <p:txBody>
          <a:bodyPr rtlCol="0" anchor="ctr"/>
          <a:lstStyle/>
          <a:p>
            <a:pPr algn="ctr"/>
            <a:endParaRPr/>
          </a:p>
        </p:txBody>
      </p:sp>
      <p:sp>
        <p:nvSpPr>
          <p:cNvPr id="23" name="Waiting"/>
          <p:cNvSpPr/>
          <p:nvPr/>
        </p:nvSpPr>
        <p:spPr>
          <a:xfrm>
            <a:off x="4286387" y="2852928"/>
            <a:ext cx="278663" cy="201168"/>
          </a:xfrm>
          <a:prstGeom prst="rect">
            <a:avLst/>
          </a:prstGeom>
          <a:solidFill>
            <a:srgbClr val="C8460A"/>
          </a:solidFill>
          <a:ln>
            <a:noFill/>
          </a:ln>
        </p:spPr>
        <p:txBody>
          <a:bodyPr rtlCol="0" anchor="ctr"/>
          <a:lstStyle/>
          <a:p>
            <a:pPr algn="ctr"/>
            <a:endParaRPr/>
          </a:p>
        </p:txBody>
      </p:sp>
      <p:sp>
        <p:nvSpPr>
          <p:cNvPr id="24" name="Work"/>
          <p:cNvSpPr/>
          <p:nvPr/>
        </p:nvSpPr>
        <p:spPr>
          <a:xfrm>
            <a:off x="4565050" y="2852928"/>
            <a:ext cx="2563703" cy="201168"/>
          </a:xfrm>
          <a:prstGeom prst="rect">
            <a:avLst/>
          </a:prstGeom>
          <a:solidFill>
            <a:srgbClr val="002869"/>
          </a:solidFill>
          <a:ln>
            <a:noFill/>
          </a:ln>
        </p:spPr>
        <p:txBody>
          <a:bodyPr rtlCol="0" anchor="ctr"/>
          <a:lstStyle/>
          <a:p>
            <a:pPr algn="ctr"/>
            <a:endParaRPr/>
          </a:p>
        </p:txBody>
      </p:sp>
      <p:sp>
        <p:nvSpPr>
          <p:cNvPr id="25" name="Waiting"/>
          <p:cNvSpPr/>
          <p:nvPr/>
        </p:nvSpPr>
        <p:spPr>
          <a:xfrm>
            <a:off x="7128753" y="2852928"/>
            <a:ext cx="278663" cy="201168"/>
          </a:xfrm>
          <a:prstGeom prst="rect">
            <a:avLst/>
          </a:prstGeom>
          <a:solidFill>
            <a:srgbClr val="C8460A"/>
          </a:solidFill>
          <a:ln>
            <a:noFill/>
          </a:ln>
        </p:spPr>
        <p:txBody>
          <a:bodyPr rtlCol="0" anchor="ctr"/>
          <a:lstStyle/>
          <a:p>
            <a:pPr algn="ctr"/>
            <a:endParaRPr/>
          </a:p>
        </p:txBody>
      </p:sp>
      <p:sp>
        <p:nvSpPr>
          <p:cNvPr id="26" name="Work"/>
          <p:cNvSpPr/>
          <p:nvPr/>
        </p:nvSpPr>
        <p:spPr>
          <a:xfrm>
            <a:off x="7407417" y="2852928"/>
            <a:ext cx="1504782" cy="201168"/>
          </a:xfrm>
          <a:prstGeom prst="rect">
            <a:avLst/>
          </a:prstGeom>
          <a:solidFill>
            <a:srgbClr val="002869"/>
          </a:solidFill>
          <a:ln>
            <a:noFill/>
          </a:ln>
        </p:spPr>
        <p:txBody>
          <a:bodyPr rtlCol="0" anchor="ctr"/>
          <a:lstStyle/>
          <a:p>
            <a:pPr algn="ctr"/>
            <a:endParaRPr/>
          </a:p>
        </p:txBody>
      </p:sp>
      <p:sp>
        <p:nvSpPr>
          <p:cNvPr id="27" name="Waiting"/>
          <p:cNvSpPr/>
          <p:nvPr/>
        </p:nvSpPr>
        <p:spPr>
          <a:xfrm>
            <a:off x="8912199" y="2852928"/>
            <a:ext cx="1337584" cy="201168"/>
          </a:xfrm>
          <a:prstGeom prst="rect">
            <a:avLst/>
          </a:prstGeom>
          <a:solidFill>
            <a:srgbClr val="C8460A"/>
          </a:solidFill>
          <a:ln>
            <a:noFill/>
          </a:ln>
        </p:spPr>
        <p:txBody>
          <a:bodyPr rtlCol="0" anchor="ctr"/>
          <a:lstStyle/>
          <a:p>
            <a:pPr algn="ctr"/>
            <a:endParaRPr/>
          </a:p>
        </p:txBody>
      </p:sp>
      <p:sp>
        <p:nvSpPr>
          <p:cNvPr id="28" name="Work"/>
          <p:cNvSpPr/>
          <p:nvPr/>
        </p:nvSpPr>
        <p:spPr>
          <a:xfrm>
            <a:off x="10249783" y="2852928"/>
            <a:ext cx="1449049" cy="201168"/>
          </a:xfrm>
          <a:prstGeom prst="rect">
            <a:avLst/>
          </a:prstGeom>
          <a:solidFill>
            <a:srgbClr val="002869"/>
          </a:solidFill>
          <a:ln>
            <a:noFill/>
          </a:ln>
        </p:spPr>
        <p:txBody>
          <a:bodyPr rtlCol="0" anchor="ctr"/>
          <a:lstStyle/>
          <a:p>
            <a:pPr algn="ctr"/>
            <a:endParaRPr/>
          </a:p>
        </p:txBody>
      </p:sp>
      <p:sp>
        <p:nvSpPr>
          <p:cNvPr id="29" name="Bar start"/>
          <p:cNvSpPr txBox="1"/>
          <p:nvPr/>
        </p:nvSpPr>
        <p:spPr>
          <a:xfrm>
            <a:off x="552297" y="3108960"/>
            <a:ext cx="1371600" cy="279737"/>
          </a:xfrm>
          <a:prstGeom prst="rect">
            <a:avLst/>
          </a:prstGeom>
          <a:noFill/>
        </p:spPr>
        <p:txBody>
          <a:bodyPr wrap="square" lIns="0" tIns="0" rIns="0" bIns="0" anchor="t">
            <a:spAutoFit/>
          </a:bodyPr>
          <a:lstStyle/>
          <a:p>
            <a:pPr algn="l"/>
            <a:r>
              <a:rPr sz="1750" b="0">
                <a:solidFill>
                  <a:srgbClr val="526273"/>
                </a:solidFill>
                <a:latin typeface="Gartner Sans"/>
                <a:ea typeface="Gartner Sans"/>
                <a:cs typeface="Gartner Sans"/>
              </a:rPr>
              <a:t>Request</a:t>
            </a:r>
          </a:p>
        </p:txBody>
      </p:sp>
      <p:sp>
        <p:nvSpPr>
          <p:cNvPr id="30" name="Bar end"/>
          <p:cNvSpPr txBox="1"/>
          <p:nvPr/>
        </p:nvSpPr>
        <p:spPr>
          <a:xfrm>
            <a:off x="10327233" y="3108960"/>
            <a:ext cx="1371600" cy="279737"/>
          </a:xfrm>
          <a:prstGeom prst="rect">
            <a:avLst/>
          </a:prstGeom>
          <a:noFill/>
        </p:spPr>
        <p:txBody>
          <a:bodyPr wrap="square" lIns="0" tIns="0" rIns="0" bIns="0" anchor="t">
            <a:spAutoFit/>
          </a:bodyPr>
          <a:lstStyle/>
          <a:p>
            <a:pPr algn="r"/>
            <a:r>
              <a:rPr sz="1750" b="0">
                <a:solidFill>
                  <a:srgbClr val="526273"/>
                </a:solidFill>
                <a:latin typeface="Gartner Sans"/>
                <a:ea typeface="Gartner Sans"/>
                <a:cs typeface="Gartner Sans"/>
              </a:rPr>
              <a:t>Delivery</a:t>
            </a:r>
          </a:p>
        </p:txBody>
      </p:sp>
      <p:sp>
        <p:nvSpPr>
          <p:cNvPr id="31" name="Legend key"/>
          <p:cNvSpPr/>
          <p:nvPr/>
        </p:nvSpPr>
        <p:spPr>
          <a:xfrm>
            <a:off x="5119725" y="3145536"/>
            <a:ext cx="155448" cy="155448"/>
          </a:xfrm>
          <a:prstGeom prst="rect">
            <a:avLst/>
          </a:prstGeom>
          <a:solidFill>
            <a:srgbClr val="002869"/>
          </a:solidFill>
          <a:ln>
            <a:noFill/>
          </a:ln>
        </p:spPr>
        <p:txBody>
          <a:bodyPr rtlCol="0" anchor="ctr"/>
          <a:lstStyle/>
          <a:p>
            <a:pPr algn="ctr"/>
            <a:endParaRPr/>
          </a:p>
        </p:txBody>
      </p:sp>
      <p:sp>
        <p:nvSpPr>
          <p:cNvPr id="32" name="Legend label"/>
          <p:cNvSpPr txBox="1"/>
          <p:nvPr/>
        </p:nvSpPr>
        <p:spPr>
          <a:xfrm>
            <a:off x="5348325" y="3099376"/>
            <a:ext cx="822960" cy="247767"/>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Work</a:t>
            </a:r>
          </a:p>
        </p:txBody>
      </p:sp>
      <p:sp>
        <p:nvSpPr>
          <p:cNvPr id="33" name="Legend key"/>
          <p:cNvSpPr/>
          <p:nvPr/>
        </p:nvSpPr>
        <p:spPr>
          <a:xfrm>
            <a:off x="6125565" y="3145536"/>
            <a:ext cx="155448" cy="155448"/>
          </a:xfrm>
          <a:prstGeom prst="rect">
            <a:avLst/>
          </a:prstGeom>
          <a:solidFill>
            <a:srgbClr val="C8460A"/>
          </a:solidFill>
          <a:ln>
            <a:noFill/>
          </a:ln>
        </p:spPr>
        <p:txBody>
          <a:bodyPr rtlCol="0" anchor="ctr"/>
          <a:lstStyle/>
          <a:p>
            <a:pPr algn="ctr"/>
            <a:endParaRPr/>
          </a:p>
        </p:txBody>
      </p:sp>
      <p:sp>
        <p:nvSpPr>
          <p:cNvPr id="34" name="Legend label"/>
          <p:cNvSpPr txBox="1"/>
          <p:nvPr/>
        </p:nvSpPr>
        <p:spPr>
          <a:xfrm>
            <a:off x="6354165" y="3099376"/>
            <a:ext cx="822960" cy="247767"/>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Waiting</a:t>
            </a:r>
          </a:p>
        </p:txBody>
      </p:sp>
      <p:sp>
        <p:nvSpPr>
          <p:cNvPr id="35" name="Wait 1"/>
          <p:cNvSpPr/>
          <p:nvPr/>
        </p:nvSpPr>
        <p:spPr>
          <a:xfrm>
            <a:off x="552297" y="3493008"/>
            <a:ext cx="5436107" cy="502920"/>
          </a:xfrm>
          <a:prstGeom prst="rect">
            <a:avLst/>
          </a:prstGeom>
          <a:solidFill>
            <a:srgbClr val="FFF3EB"/>
          </a:solidFill>
          <a:ln w="12700">
            <a:solidFill>
              <a:srgbClr val="C8460A"/>
            </a:solidFill>
          </a:ln>
        </p:spPr>
        <p:txBody>
          <a:bodyPr wrap="square" lIns="109728" tIns="54864" rIns="109728" bIns="54864" rtlCol="0" anchor="ctr"/>
          <a:lstStyle/>
          <a:p>
            <a:pPr algn="l"/>
            <a:r>
              <a:rPr sz="1250" b="1">
                <a:solidFill>
                  <a:srgbClr val="152230"/>
                </a:solidFill>
                <a:latin typeface="Gartner Sans"/>
                <a:ea typeface="Gartner Sans"/>
                <a:cs typeface="Gartner Sans"/>
              </a:rPr>
              <a:t>Between roles: </a:t>
            </a:r>
            <a:r>
              <a:rPr sz="1250" b="0">
                <a:solidFill>
                  <a:srgbClr val="152230"/>
                </a:solidFill>
                <a:latin typeface="Gartner Sans"/>
                <a:ea typeface="Gartner Sans"/>
                <a:cs typeface="Gartner Sans"/>
              </a:rPr>
              <a:t>silos between product, UX, development and QA create wait time.</a:t>
            </a:r>
          </a:p>
        </p:txBody>
      </p:sp>
      <p:sp>
        <p:nvSpPr>
          <p:cNvPr id="36" name="Wait 2"/>
          <p:cNvSpPr/>
          <p:nvPr/>
        </p:nvSpPr>
        <p:spPr>
          <a:xfrm>
            <a:off x="6262725" y="3493008"/>
            <a:ext cx="5436107" cy="502920"/>
          </a:xfrm>
          <a:prstGeom prst="rect">
            <a:avLst/>
          </a:prstGeom>
          <a:solidFill>
            <a:srgbClr val="FFF3EB"/>
          </a:solidFill>
          <a:ln w="12700">
            <a:solidFill>
              <a:srgbClr val="C8460A"/>
            </a:solidFill>
          </a:ln>
        </p:spPr>
        <p:txBody>
          <a:bodyPr wrap="square" lIns="109728" tIns="54864" rIns="109728" bIns="54864" rtlCol="0" anchor="ctr"/>
          <a:lstStyle/>
          <a:p>
            <a:pPr algn="l"/>
            <a:r>
              <a:rPr sz="1250" b="1">
                <a:solidFill>
                  <a:srgbClr val="152230"/>
                </a:solidFill>
                <a:latin typeface="Gartner Sans"/>
                <a:ea typeface="Gartner Sans"/>
                <a:cs typeface="Gartner Sans"/>
              </a:rPr>
              <a:t>Between sprints: </a:t>
            </a:r>
            <a:r>
              <a:rPr sz="1250" b="0">
                <a:solidFill>
                  <a:srgbClr val="152230"/>
                </a:solidFill>
                <a:latin typeface="Gartner Sans"/>
                <a:ea typeface="Gartner Sans"/>
                <a:cs typeface="Gartner Sans"/>
              </a:rPr>
              <a:t>work sits idle until the next sprint boundary or ceremony.</a:t>
            </a:r>
          </a:p>
        </p:txBody>
      </p:sp>
      <p:cxnSp>
        <p:nvCxnSpPr>
          <p:cNvPr id="37" name="Line"/>
          <p:cNvCxnSpPr/>
          <p:nvPr/>
        </p:nvCxnSpPr>
        <p:spPr>
          <a:xfrm>
            <a:off x="552297" y="4206240"/>
            <a:ext cx="11146536" cy="0"/>
          </a:xfrm>
          <a:prstGeom prst="line">
            <a:avLst/>
          </a:prstGeom>
          <a:ln w="9525">
            <a:solidFill>
              <a:srgbClr val="D0D7DF"/>
            </a:solidFill>
          </a:ln>
        </p:spPr>
      </p:cxnSp>
      <p:sp>
        <p:nvSpPr>
          <p:cNvPr id="38" name="Number 1"/>
          <p:cNvSpPr/>
          <p:nvPr/>
        </p:nvSpPr>
        <p:spPr>
          <a:xfrm>
            <a:off x="552297" y="438912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39" name="Point 1"/>
          <p:cNvSpPr txBox="1"/>
          <p:nvPr/>
        </p:nvSpPr>
        <p:spPr>
          <a:xfrm>
            <a:off x="991209" y="4407407"/>
            <a:ext cx="2141982" cy="1438648"/>
          </a:xfrm>
          <a:prstGeom prst="rect">
            <a:avLst/>
          </a:prstGeom>
          <a:noFill/>
        </p:spPr>
        <p:txBody>
          <a:bodyPr wrap="square" lIns="0" tIns="0" rIns="0" bIns="0" anchor="t">
            <a:spAutoFit/>
          </a:bodyPr>
          <a:lstStyle/>
          <a:p>
            <a:pPr algn="l"/>
            <a:r>
              <a:rPr sz="1500" b="0">
                <a:solidFill>
                  <a:srgbClr val="152230"/>
                </a:solidFill>
                <a:latin typeface="Gartner Sans"/>
                <a:ea typeface="Gartner Sans"/>
                <a:cs typeface="Gartner Sans"/>
              </a:rPr>
              <a:t>About one-third of software engineering leaders already use agents for code generation, testing and modernisation.</a:t>
            </a:r>
          </a:p>
        </p:txBody>
      </p:sp>
      <p:sp>
        <p:nvSpPr>
          <p:cNvPr id="40" name="Number 2"/>
          <p:cNvSpPr/>
          <p:nvPr/>
        </p:nvSpPr>
        <p:spPr>
          <a:xfrm>
            <a:off x="3407511" y="438912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41" name="Point 2"/>
          <p:cNvSpPr txBox="1"/>
          <p:nvPr/>
        </p:nvSpPr>
        <p:spPr>
          <a:xfrm>
            <a:off x="3846423" y="4407407"/>
            <a:ext cx="2141982" cy="1371600"/>
          </a:xfrm>
          <a:prstGeom prst="rect">
            <a:avLst/>
          </a:prstGeom>
          <a:noFill/>
        </p:spPr>
        <p:txBody>
          <a:bodyPr wrap="square" lIns="0" tIns="0" rIns="0" bIns="0" anchor="t">
            <a:spAutoFit/>
          </a:bodyPr>
          <a:lstStyle/>
          <a:p>
            <a:pPr algn="l"/>
            <a:r>
              <a:rPr sz="1500" b="0">
                <a:solidFill>
                  <a:srgbClr val="152230"/>
                </a:solidFill>
                <a:latin typeface="Gartner Sans"/>
                <a:ea typeface="Gartner Sans"/>
                <a:cs typeface="Gartner Sans"/>
              </a:rPr>
              <a:t>Faster tasks do not automatically give faster end-to-end delivery.</a:t>
            </a:r>
          </a:p>
        </p:txBody>
      </p:sp>
      <p:sp>
        <p:nvSpPr>
          <p:cNvPr id="42" name="Number 3"/>
          <p:cNvSpPr/>
          <p:nvPr/>
        </p:nvSpPr>
        <p:spPr>
          <a:xfrm>
            <a:off x="6262725" y="438912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43" name="Point 3"/>
          <p:cNvSpPr txBox="1"/>
          <p:nvPr/>
        </p:nvSpPr>
        <p:spPr>
          <a:xfrm>
            <a:off x="6701637" y="4407407"/>
            <a:ext cx="2141982" cy="1371600"/>
          </a:xfrm>
          <a:prstGeom prst="rect">
            <a:avLst/>
          </a:prstGeom>
          <a:noFill/>
        </p:spPr>
        <p:txBody>
          <a:bodyPr wrap="square" lIns="0" tIns="0" rIns="0" bIns="0" anchor="t">
            <a:spAutoFit/>
          </a:bodyPr>
          <a:lstStyle/>
          <a:p>
            <a:pPr algn="l"/>
            <a:r>
              <a:rPr sz="1500" b="0">
                <a:solidFill>
                  <a:srgbClr val="152230"/>
                </a:solidFill>
                <a:latin typeface="Gartner Sans"/>
                <a:ea typeface="Gartner Sans"/>
                <a:cs typeface="Gartner Sans"/>
              </a:rPr>
              <a:t>AI-accelerated work moves quickly. Planning, approvals and release still run at a slower, human pace.</a:t>
            </a:r>
          </a:p>
        </p:txBody>
      </p:sp>
      <p:sp>
        <p:nvSpPr>
          <p:cNvPr id="44" name="Number 4"/>
          <p:cNvSpPr/>
          <p:nvPr/>
        </p:nvSpPr>
        <p:spPr>
          <a:xfrm>
            <a:off x="9117939" y="438912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45" name="Point 4"/>
          <p:cNvSpPr txBox="1"/>
          <p:nvPr/>
        </p:nvSpPr>
        <p:spPr>
          <a:xfrm>
            <a:off x="9556851" y="4407407"/>
            <a:ext cx="2141982" cy="1438648"/>
          </a:xfrm>
          <a:prstGeom prst="rect">
            <a:avLst/>
          </a:prstGeom>
          <a:noFill/>
        </p:spPr>
        <p:txBody>
          <a:bodyPr wrap="square" lIns="0" tIns="0" rIns="0" bIns="0" anchor="t">
            <a:spAutoFit/>
          </a:bodyPr>
          <a:lstStyle/>
          <a:p>
            <a:pPr algn="l"/>
            <a:r>
              <a:rPr sz="1500" b="0">
                <a:solidFill>
                  <a:srgbClr val="152230"/>
                </a:solidFill>
                <a:latin typeface="Gartner Sans"/>
                <a:ea typeface="Gartner Sans"/>
                <a:cs typeface="Gartner Sans"/>
              </a:rPr>
              <a:t>Separation between product, architecture, engineering and quality leaves finished work waiting for reviews or sprint checkpoints.</a:t>
            </a:r>
          </a:p>
        </p:txBody>
      </p:sp>
      <p:sp>
        <p:nvSpPr>
          <p:cNvPr id="46"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G00857393 (Figure 1, partial representation)</a:t>
            </a:r>
          </a:p>
        </p:txBody>
      </p:sp>
    </p:spTree>
    <p:extLst>
      <p:ext uri="{BB962C8B-B14F-4D97-AF65-F5344CB8AC3E}">
        <p14:creationId xmlns:p14="http://schemas.microsoft.com/office/powerpoint/2010/main" val="3000000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The constraint moves from coding to intent and validation</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38</a:t>
            </a:r>
          </a:p>
        </p:txBody>
      </p:sp>
      <p:sp>
        <p:nvSpPr>
          <p:cNvPr id="10" name="Number 1"/>
          <p:cNvSpPr/>
          <p:nvPr/>
        </p:nvSpPr>
        <p:spPr>
          <a:xfrm>
            <a:off x="552297" y="1738503"/>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1" name="Point 1"/>
          <p:cNvSpPr txBox="1"/>
          <p:nvPr/>
        </p:nvSpPr>
        <p:spPr>
          <a:xfrm>
            <a:off x="1027785" y="1382432"/>
            <a:ext cx="3730752" cy="1023038"/>
          </a:xfrm>
          <a:prstGeom prst="rect">
            <a:avLst/>
          </a:prstGeom>
          <a:noFill/>
        </p:spPr>
        <p:txBody>
          <a:bodyPr wrap="square" lIns="0" tIns="0" rIns="0" bIns="0" anchor="ctr">
            <a:spAutoFit/>
          </a:bodyPr>
          <a:lstStyle/>
          <a:p>
            <a:pPr algn="l"/>
            <a:r>
              <a:rPr sz="1600" b="0">
                <a:solidFill>
                  <a:srgbClr val="152230"/>
                </a:solidFill>
                <a:latin typeface="Gartner Sans"/>
                <a:ea typeface="Gartner Sans"/>
                <a:cs typeface="Gartner Sans"/>
              </a:rPr>
              <a:t>As AI tools absorb execution work, constraints shift from coding towards requirement clarity, coordination and validation.</a:t>
            </a:r>
          </a:p>
        </p:txBody>
      </p:sp>
      <p:cxnSp>
        <p:nvCxnSpPr>
          <p:cNvPr id="12" name="Divider"/>
          <p:cNvCxnSpPr/>
          <p:nvPr/>
        </p:nvCxnSpPr>
        <p:spPr>
          <a:xfrm>
            <a:off x="552297" y="2462022"/>
            <a:ext cx="4206240" cy="0"/>
          </a:xfrm>
          <a:prstGeom prst="line">
            <a:avLst/>
          </a:prstGeom>
          <a:ln w="9525">
            <a:solidFill>
              <a:srgbClr val="D0D7DF"/>
            </a:solidFill>
          </a:ln>
        </p:spPr>
      </p:cxnSp>
      <p:sp>
        <p:nvSpPr>
          <p:cNvPr id="13" name="Number 2"/>
          <p:cNvSpPr/>
          <p:nvPr/>
        </p:nvSpPr>
        <p:spPr>
          <a:xfrm>
            <a:off x="552297" y="2874645"/>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4" name="Point 2"/>
          <p:cNvSpPr txBox="1"/>
          <p:nvPr/>
        </p:nvSpPr>
        <p:spPr>
          <a:xfrm>
            <a:off x="1027785" y="2535174"/>
            <a:ext cx="3730752" cy="989838"/>
          </a:xfrm>
          <a:prstGeom prst="rect">
            <a:avLst/>
          </a:prstGeom>
          <a:noFill/>
        </p:spPr>
        <p:txBody>
          <a:bodyPr wrap="square" lIns="0" tIns="0" rIns="0" bIns="0" anchor="ctr">
            <a:spAutoFit/>
          </a:bodyPr>
          <a:lstStyle/>
          <a:p>
            <a:pPr algn="l"/>
            <a:r>
              <a:rPr sz="1600" b="0">
                <a:solidFill>
                  <a:srgbClr val="152230"/>
                </a:solidFill>
                <a:latin typeface="Gartner Sans"/>
                <a:ea typeface="Gartner Sans"/>
                <a:cs typeface="Gartner Sans"/>
              </a:rPr>
              <a:t>Engineers move from execution to defining intent, refining specifications and validating AI-generated output.</a:t>
            </a:r>
          </a:p>
        </p:txBody>
      </p:sp>
      <p:cxnSp>
        <p:nvCxnSpPr>
          <p:cNvPr id="15" name="Divider"/>
          <p:cNvCxnSpPr/>
          <p:nvPr/>
        </p:nvCxnSpPr>
        <p:spPr>
          <a:xfrm>
            <a:off x="552297" y="3598163"/>
            <a:ext cx="4206240" cy="0"/>
          </a:xfrm>
          <a:prstGeom prst="line">
            <a:avLst/>
          </a:prstGeom>
          <a:ln w="9525">
            <a:solidFill>
              <a:srgbClr val="D0D7DF"/>
            </a:solidFill>
          </a:ln>
        </p:spPr>
      </p:cxnSp>
      <p:sp>
        <p:nvSpPr>
          <p:cNvPr id="16" name="Number 3"/>
          <p:cNvSpPr/>
          <p:nvPr/>
        </p:nvSpPr>
        <p:spPr>
          <a:xfrm>
            <a:off x="552297" y="401078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7" name="Point 3"/>
          <p:cNvSpPr txBox="1"/>
          <p:nvPr/>
        </p:nvSpPr>
        <p:spPr>
          <a:xfrm>
            <a:off x="1027785" y="3671315"/>
            <a:ext cx="3730752" cy="989838"/>
          </a:xfrm>
          <a:prstGeom prst="rect">
            <a:avLst/>
          </a:prstGeom>
          <a:noFill/>
        </p:spPr>
        <p:txBody>
          <a:bodyPr wrap="square" lIns="0" tIns="0" rIns="0" bIns="0" anchor="ctr">
            <a:spAutoFit/>
          </a:bodyPr>
          <a:lstStyle/>
          <a:p>
            <a:pPr algn="l"/>
            <a:r>
              <a:rPr sz="1600" b="0">
                <a:solidFill>
                  <a:srgbClr val="152230"/>
                </a:solidFill>
                <a:latin typeface="Gartner Sans"/>
                <a:ea typeface="Gartner Sans"/>
                <a:cs typeface="Gartner Sans"/>
              </a:rPr>
              <a:t>When workflows stay the same, AI relocates effort. Friction and overhead go up, not down.</a:t>
            </a:r>
          </a:p>
        </p:txBody>
      </p:sp>
      <p:cxnSp>
        <p:nvCxnSpPr>
          <p:cNvPr id="18" name="Divider"/>
          <p:cNvCxnSpPr/>
          <p:nvPr/>
        </p:nvCxnSpPr>
        <p:spPr>
          <a:xfrm>
            <a:off x="552297" y="4734306"/>
            <a:ext cx="4206240" cy="0"/>
          </a:xfrm>
          <a:prstGeom prst="line">
            <a:avLst/>
          </a:prstGeom>
          <a:ln w="9525">
            <a:solidFill>
              <a:srgbClr val="D0D7DF"/>
            </a:solidFill>
          </a:ln>
        </p:spPr>
      </p:cxnSp>
      <p:sp>
        <p:nvSpPr>
          <p:cNvPr id="19" name="Number 4"/>
          <p:cNvSpPr/>
          <p:nvPr/>
        </p:nvSpPr>
        <p:spPr>
          <a:xfrm>
            <a:off x="552297" y="5146929"/>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20" name="Point 4"/>
          <p:cNvSpPr txBox="1"/>
          <p:nvPr/>
        </p:nvSpPr>
        <p:spPr>
          <a:xfrm>
            <a:off x="1027785" y="4807458"/>
            <a:ext cx="3730752" cy="989838"/>
          </a:xfrm>
          <a:prstGeom prst="rect">
            <a:avLst/>
          </a:prstGeom>
          <a:noFill/>
        </p:spPr>
        <p:txBody>
          <a:bodyPr wrap="square" lIns="0" tIns="0" rIns="0" bIns="0" anchor="ctr">
            <a:spAutoFit/>
          </a:bodyPr>
          <a:lstStyle/>
          <a:p>
            <a:pPr algn="l"/>
            <a:r>
              <a:rPr sz="1600" b="0">
                <a:solidFill>
                  <a:srgbClr val="152230"/>
                </a:solidFill>
                <a:latin typeface="Gartner Sans"/>
                <a:ea typeface="Gartner Sans"/>
                <a:cs typeface="Gartner Sans"/>
              </a:rPr>
              <a:t>Gartner position: with Backlog Zero, deciding what to build becomes the primary constraint.</a:t>
            </a:r>
          </a:p>
        </p:txBody>
      </p:sp>
      <p:sp>
        <p:nvSpPr>
          <p:cNvPr id="21" name="Flow heading"/>
          <p:cNvSpPr txBox="1"/>
          <p:nvPr/>
        </p:nvSpPr>
        <p:spPr>
          <a:xfrm>
            <a:off x="5257800" y="1325880"/>
            <a:ext cx="6441033"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Before: human-paced delivery</a:t>
            </a:r>
          </a:p>
        </p:txBody>
      </p:sp>
      <p:sp>
        <p:nvSpPr>
          <p:cNvPr id="22" name="Flow step 1"/>
          <p:cNvSpPr/>
          <p:nvPr/>
        </p:nvSpPr>
        <p:spPr>
          <a:xfrm>
            <a:off x="5257800" y="1709928"/>
            <a:ext cx="1842211" cy="1463040"/>
          </a:xfrm>
          <a:prstGeom prst="rect">
            <a:avLst/>
          </a:prstGeom>
          <a:solidFill>
            <a:srgbClr val="F0F7FD"/>
          </a:solidFill>
          <a:ln>
            <a:noFill/>
          </a:ln>
        </p:spPr>
        <p:txBody>
          <a:bodyPr wrap="square" lIns="109728" tIns="54864" rIns="109728" bIns="54864" rtlCol="0" anchor="ctr"/>
          <a:lstStyle/>
          <a:p>
            <a:pPr algn="ctr"/>
            <a:r>
              <a:rPr sz="1350" b="1">
                <a:solidFill>
                  <a:srgbClr val="152230"/>
                </a:solidFill>
                <a:latin typeface="Gartner Sans"/>
                <a:ea typeface="Gartner Sans"/>
                <a:cs typeface="Gartner Sans"/>
              </a:rPr>
              <a:t>Requirements and design</a:t>
            </a:r>
          </a:p>
        </p:txBody>
      </p:sp>
      <p:cxnSp>
        <p:nvCxnSpPr>
          <p:cNvPr id="23" name="Line"/>
          <p:cNvCxnSpPr/>
          <p:nvPr/>
        </p:nvCxnSpPr>
        <p:spPr>
          <a:xfrm>
            <a:off x="7154875" y="2441448"/>
            <a:ext cx="347472" cy="0"/>
          </a:xfrm>
          <a:prstGeom prst="line">
            <a:avLst/>
          </a:prstGeom>
          <a:ln w="25400">
            <a:solidFill>
              <a:srgbClr val="002869"/>
            </a:solidFill>
            <a:tailEnd type="triangle" w="med" len="med"/>
          </a:ln>
        </p:spPr>
      </p:cxnSp>
      <p:sp>
        <p:nvSpPr>
          <p:cNvPr id="24" name="Flow step 2"/>
          <p:cNvSpPr/>
          <p:nvPr/>
        </p:nvSpPr>
        <p:spPr>
          <a:xfrm>
            <a:off x="7557211" y="1709928"/>
            <a:ext cx="1842211" cy="1463040"/>
          </a:xfrm>
          <a:prstGeom prst="rect">
            <a:avLst/>
          </a:prstGeom>
          <a:solidFill>
            <a:srgbClr val="FFF3EB"/>
          </a:solidFill>
          <a:ln w="19050">
            <a:solidFill>
              <a:srgbClr val="C8460A"/>
            </a:solidFill>
          </a:ln>
        </p:spPr>
        <p:txBody>
          <a:bodyPr wrap="square" lIns="109728" tIns="54864" rIns="109728" bIns="54864" rtlCol="0" anchor="ctr"/>
          <a:lstStyle/>
          <a:p>
            <a:pPr algn="ctr"/>
            <a:r>
              <a:rPr sz="1550" b="1">
                <a:solidFill>
                  <a:srgbClr val="152230"/>
                </a:solidFill>
                <a:latin typeface="Gartner Sans"/>
                <a:ea typeface="Gartner Sans"/>
                <a:cs typeface="Gartner Sans"/>
              </a:rPr>
              <a:t>Write, test and debug code by hand</a:t>
            </a:r>
          </a:p>
          <a:p>
            <a:pPr algn="ctr">
              <a:spcBef>
                <a:spcPts val="500"/>
              </a:spcBef>
            </a:pPr>
            <a:r>
              <a:rPr sz="1550" b="0">
                <a:solidFill>
                  <a:srgbClr val="C8460A"/>
                </a:solidFill>
                <a:latin typeface="Gartner Sans"/>
                <a:ea typeface="Gartner Sans"/>
                <a:cs typeface="Gartner Sans"/>
              </a:rPr>
              <a:t>Constraint</a:t>
            </a:r>
          </a:p>
        </p:txBody>
      </p:sp>
      <p:cxnSp>
        <p:nvCxnSpPr>
          <p:cNvPr id="25" name="Line"/>
          <p:cNvCxnSpPr/>
          <p:nvPr/>
        </p:nvCxnSpPr>
        <p:spPr>
          <a:xfrm>
            <a:off x="9454286" y="2441448"/>
            <a:ext cx="347472" cy="0"/>
          </a:xfrm>
          <a:prstGeom prst="line">
            <a:avLst/>
          </a:prstGeom>
          <a:ln w="25400">
            <a:solidFill>
              <a:srgbClr val="002869"/>
            </a:solidFill>
            <a:tailEnd type="triangle" w="med" len="med"/>
          </a:ln>
        </p:spPr>
      </p:cxnSp>
      <p:sp>
        <p:nvSpPr>
          <p:cNvPr id="26" name="Flow step 3"/>
          <p:cNvSpPr/>
          <p:nvPr/>
        </p:nvSpPr>
        <p:spPr>
          <a:xfrm>
            <a:off x="9856622" y="1709928"/>
            <a:ext cx="1842211" cy="1463040"/>
          </a:xfrm>
          <a:prstGeom prst="rect">
            <a:avLst/>
          </a:prstGeom>
          <a:solidFill>
            <a:srgbClr val="F0F7FD"/>
          </a:solidFill>
          <a:ln>
            <a:noFill/>
          </a:ln>
        </p:spPr>
        <p:txBody>
          <a:bodyPr wrap="square" lIns="109728" tIns="54864" rIns="109728" bIns="54864" rtlCol="0" anchor="ctr"/>
          <a:lstStyle/>
          <a:p>
            <a:pPr algn="ctr"/>
            <a:r>
              <a:rPr sz="1350" b="1">
                <a:solidFill>
                  <a:srgbClr val="152230"/>
                </a:solidFill>
                <a:latin typeface="Gartner Sans"/>
                <a:ea typeface="Gartner Sans"/>
                <a:cs typeface="Gartner Sans"/>
              </a:rPr>
              <a:t>Review and release</a:t>
            </a:r>
          </a:p>
        </p:txBody>
      </p:sp>
      <p:sp>
        <p:nvSpPr>
          <p:cNvPr id="27" name="Flow heading"/>
          <p:cNvSpPr txBox="1"/>
          <p:nvPr/>
        </p:nvSpPr>
        <p:spPr>
          <a:xfrm>
            <a:off x="5257800" y="3657600"/>
            <a:ext cx="6441033"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With AI agents</a:t>
            </a:r>
          </a:p>
        </p:txBody>
      </p:sp>
      <p:sp>
        <p:nvSpPr>
          <p:cNvPr id="28" name="Flow step 1"/>
          <p:cNvSpPr/>
          <p:nvPr/>
        </p:nvSpPr>
        <p:spPr>
          <a:xfrm>
            <a:off x="5257800" y="4041648"/>
            <a:ext cx="1842211" cy="1463040"/>
          </a:xfrm>
          <a:prstGeom prst="rect">
            <a:avLst/>
          </a:prstGeom>
          <a:solidFill>
            <a:srgbClr val="FFF3EB"/>
          </a:solidFill>
          <a:ln w="19050">
            <a:solidFill>
              <a:srgbClr val="C8460A"/>
            </a:solidFill>
          </a:ln>
        </p:spPr>
        <p:txBody>
          <a:bodyPr wrap="square" lIns="109728" tIns="54864" rIns="109728" bIns="54864" rtlCol="0" anchor="ctr"/>
          <a:lstStyle/>
          <a:p>
            <a:pPr algn="ctr"/>
            <a:r>
              <a:rPr sz="1550" b="1">
                <a:solidFill>
                  <a:srgbClr val="152230"/>
                </a:solidFill>
                <a:latin typeface="Gartner Sans"/>
                <a:ea typeface="Gartner Sans"/>
                <a:cs typeface="Gartner Sans"/>
              </a:rPr>
              <a:t>Define intent and specifications</a:t>
            </a:r>
          </a:p>
          <a:p>
            <a:pPr algn="ctr">
              <a:spcBef>
                <a:spcPts val="500"/>
              </a:spcBef>
            </a:pPr>
            <a:r>
              <a:rPr sz="1550" b="0">
                <a:solidFill>
                  <a:srgbClr val="C8460A"/>
                </a:solidFill>
                <a:latin typeface="Gartner Sans"/>
                <a:ea typeface="Gartner Sans"/>
                <a:cs typeface="Gartner Sans"/>
              </a:rPr>
              <a:t>Constraint</a:t>
            </a:r>
          </a:p>
        </p:txBody>
      </p:sp>
      <p:cxnSp>
        <p:nvCxnSpPr>
          <p:cNvPr id="29" name="Line"/>
          <p:cNvCxnSpPr/>
          <p:nvPr/>
        </p:nvCxnSpPr>
        <p:spPr>
          <a:xfrm>
            <a:off x="7154875" y="4773168"/>
            <a:ext cx="347472" cy="0"/>
          </a:xfrm>
          <a:prstGeom prst="line">
            <a:avLst/>
          </a:prstGeom>
          <a:ln w="25400">
            <a:solidFill>
              <a:srgbClr val="002869"/>
            </a:solidFill>
            <a:tailEnd type="triangle" w="med" len="med"/>
          </a:ln>
        </p:spPr>
      </p:cxnSp>
      <p:sp>
        <p:nvSpPr>
          <p:cNvPr id="30" name="Flow step 2"/>
          <p:cNvSpPr/>
          <p:nvPr/>
        </p:nvSpPr>
        <p:spPr>
          <a:xfrm>
            <a:off x="7557211" y="4041648"/>
            <a:ext cx="1842211" cy="1463040"/>
          </a:xfrm>
          <a:prstGeom prst="rect">
            <a:avLst/>
          </a:prstGeom>
          <a:solidFill>
            <a:srgbClr val="F0F7FD"/>
          </a:solidFill>
          <a:ln>
            <a:noFill/>
          </a:ln>
        </p:spPr>
        <p:txBody>
          <a:bodyPr wrap="square" lIns="109728" tIns="54864" rIns="109728" bIns="54864" rtlCol="0" anchor="ctr"/>
          <a:lstStyle/>
          <a:p>
            <a:pPr algn="ctr"/>
            <a:r>
              <a:rPr sz="1550" b="1">
                <a:solidFill>
                  <a:srgbClr val="152230"/>
                </a:solidFill>
                <a:latin typeface="Gartner Sans"/>
                <a:ea typeface="Gartner Sans"/>
                <a:cs typeface="Gartner Sans"/>
              </a:rPr>
              <a:t>Agents generate code and tests</a:t>
            </a:r>
          </a:p>
          <a:p>
            <a:pPr algn="ctr">
              <a:spcBef>
                <a:spcPts val="500"/>
              </a:spcBef>
            </a:pPr>
            <a:r>
              <a:rPr sz="1550" b="0">
                <a:solidFill>
                  <a:srgbClr val="152230"/>
                </a:solidFill>
                <a:latin typeface="Gartner Sans"/>
                <a:ea typeface="Gartner Sans"/>
                <a:cs typeface="Gartner Sans"/>
              </a:rPr>
              <a:t>Fast</a:t>
            </a:r>
          </a:p>
        </p:txBody>
      </p:sp>
      <p:cxnSp>
        <p:nvCxnSpPr>
          <p:cNvPr id="31" name="Line"/>
          <p:cNvCxnSpPr/>
          <p:nvPr/>
        </p:nvCxnSpPr>
        <p:spPr>
          <a:xfrm>
            <a:off x="9454286" y="4773168"/>
            <a:ext cx="347472" cy="0"/>
          </a:xfrm>
          <a:prstGeom prst="line">
            <a:avLst/>
          </a:prstGeom>
          <a:ln w="25400">
            <a:solidFill>
              <a:srgbClr val="002869"/>
            </a:solidFill>
            <a:tailEnd type="triangle" w="med" len="med"/>
          </a:ln>
        </p:spPr>
      </p:cxnSp>
      <p:sp>
        <p:nvSpPr>
          <p:cNvPr id="32" name="Flow step 3"/>
          <p:cNvSpPr/>
          <p:nvPr/>
        </p:nvSpPr>
        <p:spPr>
          <a:xfrm>
            <a:off x="9856622" y="4041648"/>
            <a:ext cx="1842211" cy="1463040"/>
          </a:xfrm>
          <a:prstGeom prst="rect">
            <a:avLst/>
          </a:prstGeom>
          <a:solidFill>
            <a:srgbClr val="FFF3EB"/>
          </a:solidFill>
          <a:ln w="19050">
            <a:solidFill>
              <a:srgbClr val="C8460A"/>
            </a:solidFill>
          </a:ln>
        </p:spPr>
        <p:txBody>
          <a:bodyPr wrap="square" lIns="109728" tIns="54864" rIns="109728" bIns="54864" rtlCol="0" anchor="ctr"/>
          <a:lstStyle/>
          <a:p>
            <a:pPr algn="ctr"/>
            <a:r>
              <a:rPr sz="1550" b="1">
                <a:solidFill>
                  <a:srgbClr val="152230"/>
                </a:solidFill>
                <a:latin typeface="Gartner Sans"/>
                <a:ea typeface="Gartner Sans"/>
                <a:cs typeface="Gartner Sans"/>
              </a:rPr>
              <a:t>Coordinate and validate output</a:t>
            </a:r>
          </a:p>
          <a:p>
            <a:pPr algn="ctr">
              <a:spcBef>
                <a:spcPts val="500"/>
              </a:spcBef>
            </a:pPr>
            <a:r>
              <a:rPr sz="1550" b="0">
                <a:solidFill>
                  <a:srgbClr val="C8460A"/>
                </a:solidFill>
                <a:latin typeface="Gartner Sans"/>
                <a:ea typeface="Gartner Sans"/>
                <a:cs typeface="Gartner Sans"/>
              </a:rPr>
              <a:t>Constraint</a:t>
            </a:r>
          </a:p>
        </p:txBody>
      </p:sp>
      <p:sp>
        <p:nvSpPr>
          <p:cNvPr id="33"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G00850352 (points 1 to 3); G00858441 (point 4). Diagram: illustration of these points</a:t>
            </a:r>
          </a:p>
        </p:txBody>
      </p:sp>
    </p:spTree>
    <p:extLst>
      <p:ext uri="{BB962C8B-B14F-4D97-AF65-F5344CB8AC3E}">
        <p14:creationId xmlns:p14="http://schemas.microsoft.com/office/powerpoint/2010/main" val="30000000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AI changes each step of requirements engineering</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39</a:t>
            </a:r>
          </a:p>
        </p:txBody>
      </p:sp>
      <p:graphicFrame>
        <p:nvGraphicFramePr>
          <p:cNvPr id="10" name="Table"/>
          <p:cNvGraphicFramePr>
            <a:graphicFrameLocks noGrp="1"/>
          </p:cNvGraphicFramePr>
          <p:nvPr/>
        </p:nvGraphicFramePr>
        <p:xfrm>
          <a:off x="552297" y="1325880"/>
          <a:ext cx="11146535" cy="3611880"/>
        </p:xfrm>
        <a:graphic>
          <a:graphicData uri="http://schemas.openxmlformats.org/drawingml/2006/table">
            <a:tbl>
              <a:tblPr>
                <a:tableStyleId>{2D5ABB26-0587-4C30-8999-92F81FD0307C}</a:tableStyleId>
              </a:tblPr>
              <a:tblGrid>
                <a:gridCol w="1063894">
                  <a:extLst>
                    <a:ext uri="{9D8B030D-6E8A-4147-A177-3AD203B41FA5}">
                      <a16:colId xmlns:a16="http://schemas.microsoft.com/office/drawing/2014/main" val="20000"/>
                    </a:ext>
                  </a:extLst>
                </a:gridCol>
                <a:gridCol w="5702665">
                  <a:extLst>
                    <a:ext uri="{9D8B030D-6E8A-4147-A177-3AD203B41FA5}">
                      <a16:colId xmlns:a16="http://schemas.microsoft.com/office/drawing/2014/main" val="20001"/>
                    </a:ext>
                  </a:extLst>
                </a:gridCol>
                <a:gridCol w="4379976">
                  <a:extLst>
                    <a:ext uri="{9D8B030D-6E8A-4147-A177-3AD203B41FA5}">
                      <a16:colId xmlns:a16="http://schemas.microsoft.com/office/drawing/2014/main" val="20002"/>
                    </a:ext>
                  </a:extLst>
                </a:gridCol>
              </a:tblGrid>
              <a:tr h="411480">
                <a:tc>
                  <a:txBody>
                    <a:bodyPr/>
                    <a:lstStyle/>
                    <a:p>
                      <a:pPr algn="l"/>
                      <a:r>
                        <a:rPr sz="1500" b="1">
                          <a:solidFill>
                            <a:srgbClr val="FFFFFF"/>
                          </a:solidFill>
                          <a:latin typeface="Gartner Sans"/>
                          <a:ea typeface="Gartner Sans"/>
                          <a:cs typeface="Gartner Sans"/>
                        </a:rPr>
                        <a:t>Step</a:t>
                      </a:r>
                    </a:p>
                  </a:txBody>
                  <a:tcPr marL="137160" marR="137160" anchor="ctr">
                    <a:solidFill>
                      <a:srgbClr val="002869"/>
                    </a:solidFill>
                  </a:tcPr>
                </a:tc>
                <a:tc>
                  <a:txBody>
                    <a:bodyPr/>
                    <a:lstStyle/>
                    <a:p>
                      <a:pPr algn="l"/>
                      <a:r>
                        <a:rPr sz="1500" b="1">
                          <a:solidFill>
                            <a:srgbClr val="FFFFFF"/>
                          </a:solidFill>
                          <a:latin typeface="Gartner Sans"/>
                          <a:ea typeface="Gartner Sans"/>
                          <a:cs typeface="Gartner Sans"/>
                        </a:rPr>
                        <a:t>What AI takes on</a:t>
                      </a:r>
                    </a:p>
                  </a:txBody>
                  <a:tcPr marL="137160" marR="137160" anchor="ctr">
                    <a:solidFill>
                      <a:srgbClr val="002869"/>
                    </a:solidFill>
                  </a:tcPr>
                </a:tc>
                <a:tc>
                  <a:txBody>
                    <a:bodyPr/>
                    <a:lstStyle/>
                    <a:p>
                      <a:pPr algn="l"/>
                      <a:r>
                        <a:rPr sz="1500" b="1">
                          <a:solidFill>
                            <a:srgbClr val="FFFFFF"/>
                          </a:solidFill>
                          <a:latin typeface="Gartner Sans"/>
                          <a:ea typeface="Gartner Sans"/>
                          <a:cs typeface="Gartner Sans"/>
                        </a:rPr>
                        <a:t>What people keep</a:t>
                      </a:r>
                    </a:p>
                  </a:txBody>
                  <a:tcPr marL="137160" marR="137160" anchor="ctr">
                    <a:solidFill>
                      <a:srgbClr val="002869"/>
                    </a:solidFill>
                  </a:tcPr>
                </a:tc>
                <a:extLst>
                  <a:ext uri="{0D108BD9-81ED-4DB2-BD59-A6C34878D82A}">
                    <a16:rowId xmlns:a16="http://schemas.microsoft.com/office/drawing/2014/main" val="10000"/>
                  </a:ext>
                </a:extLst>
              </a:tr>
              <a:tr h="640080">
                <a:tc>
                  <a:txBody>
                    <a:bodyPr/>
                    <a:lstStyle/>
                    <a:p>
                      <a:pPr algn="l"/>
                      <a:r>
                        <a:rPr sz="1500" b="1">
                          <a:solidFill>
                            <a:srgbClr val="152230"/>
                          </a:solidFill>
                          <a:latin typeface="Gartner Sans"/>
                          <a:ea typeface="Gartner Sans"/>
                          <a:cs typeface="Gartner Sans"/>
                        </a:rPr>
                        <a:t>Elicit</a:t>
                      </a:r>
                    </a:p>
                  </a:txBody>
                  <a:tcPr marL="137160" marR="137160" anchor="ctr">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Transcribes and summarises workshops, finds themes across interviews and channels, and runs interview agents for early discovery.</a:t>
                      </a:r>
                    </a:p>
                  </a:txBody>
                  <a:tcPr marL="137160" marR="137160" anchor="ctr">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Facilitate actively. Ask probing questions to uncover root causes and hidden assumptions.</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640080">
                <a:tc>
                  <a:txBody>
                    <a:bodyPr/>
                    <a:lstStyle/>
                    <a:p>
                      <a:pPr algn="l"/>
                      <a:r>
                        <a:rPr sz="1500" b="1">
                          <a:solidFill>
                            <a:srgbClr val="152230"/>
                          </a:solidFill>
                          <a:latin typeface="Gartner Sans"/>
                          <a:ea typeface="Gartner Sans"/>
                          <a:cs typeface="Gartner Sans"/>
                        </a:rPr>
                        <a:t>Analyse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Audits draft requirements. Surfaces architectural conflicts, hidden dependencies and gaps in evidence.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Stay the final arbiter of investment decisions, trade-offs and strategic alignment.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640080">
                <a:tc>
                  <a:txBody>
                    <a:bodyPr/>
                    <a:lstStyle/>
                    <a:p>
                      <a:pPr algn="l"/>
                      <a:r>
                        <a:rPr sz="1500" b="1">
                          <a:solidFill>
                            <a:srgbClr val="152230"/>
                          </a:solidFill>
                          <a:latin typeface="Gartner Sans"/>
                          <a:ea typeface="Gartner Sans"/>
                          <a:cs typeface="Gartner Sans"/>
                        </a:rPr>
                        <a:t>Specify</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Writes user stories, acceptance criteria and traceability links. Turns natural language into given-when-then scenarios.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Focus on planning and analysis.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3"/>
                  </a:ext>
                </a:extLst>
              </a:tr>
              <a:tr h="640080">
                <a:tc>
                  <a:txBody>
                    <a:bodyPr/>
                    <a:lstStyle/>
                    <a:p>
                      <a:pPr algn="l"/>
                      <a:r>
                        <a:rPr sz="1500" b="1">
                          <a:solidFill>
                            <a:srgbClr val="152230"/>
                          </a:solidFill>
                          <a:latin typeface="Gartner Sans"/>
                          <a:ea typeface="Gartner Sans"/>
                          <a:cs typeface="Gartner Sans"/>
                        </a:rPr>
                        <a:t>Validate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Flags ambiguity and missing logic as requirements are written. Scores them against standards such as INCOSE and EARS.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Audit all AI-generated specifications for strategic alignment and technical feasibility.</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4"/>
                  </a:ext>
                </a:extLst>
              </a:tr>
              <a:tr h="640080">
                <a:tc>
                  <a:txBody>
                    <a:bodyPr/>
                    <a:lstStyle/>
                    <a:p>
                      <a:pPr algn="l"/>
                      <a:r>
                        <a:rPr sz="1500" b="1">
                          <a:solidFill>
                            <a:srgbClr val="152230"/>
                          </a:solidFill>
                          <a:latin typeface="Gartner Sans"/>
                          <a:ea typeface="Gartner Sans"/>
                          <a:cs typeface="Gartner Sans"/>
                        </a:rPr>
                        <a:t>Manage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Assesses the impact of each change, maintains traceability and answers questions on project history.</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Decide on changes with the full project context.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5"/>
                  </a:ext>
                </a:extLst>
              </a:tr>
            </a:tbl>
          </a:graphicData>
        </a:graphic>
      </p:graphicFrame>
      <p:sp>
        <p:nvSpPr>
          <p:cNvPr id="11" name="Note"/>
          <p:cNvSpPr/>
          <p:nvPr/>
        </p:nvSpPr>
        <p:spPr>
          <a:xfrm>
            <a:off x="552297" y="5211872"/>
            <a:ext cx="11146536" cy="68580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27% </a:t>
            </a:r>
            <a:r>
              <a:rPr sz="1800" b="0">
                <a:solidFill>
                  <a:srgbClr val="152230"/>
                </a:solidFill>
                <a:latin typeface="Gartner Sans"/>
                <a:ea typeface="Gartner Sans"/>
                <a:cs typeface="Gartner Sans"/>
              </a:rPr>
              <a:t>of software engineering leaders cite AI as a primary driver of efficiency in requirements work today.</a:t>
            </a:r>
          </a:p>
        </p:txBody>
      </p:sp>
      <p:sp>
        <p:nvSpPr>
          <p:cNvPr id="12"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G00858533</a:t>
            </a:r>
          </a:p>
        </p:txBody>
      </p:sp>
    </p:spTree>
    <p:extLst>
      <p:ext uri="{BB962C8B-B14F-4D97-AF65-F5344CB8AC3E}">
        <p14:creationId xmlns:p14="http://schemas.microsoft.com/office/powerpoint/2010/main" val="30000000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Requirements become views of a living brief</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40</a:t>
            </a:r>
          </a:p>
        </p:txBody>
      </p:sp>
      <p:sp>
        <p:nvSpPr>
          <p:cNvPr id="10" name="Inputs heading"/>
          <p:cNvSpPr txBox="1"/>
          <p:nvPr/>
        </p:nvSpPr>
        <p:spPr>
          <a:xfrm>
            <a:off x="552297" y="1325880"/>
            <a:ext cx="1828800"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Inputs</a:t>
            </a:r>
          </a:p>
        </p:txBody>
      </p:sp>
      <p:sp>
        <p:nvSpPr>
          <p:cNvPr id="11" name="Input 1"/>
          <p:cNvSpPr/>
          <p:nvPr/>
        </p:nvSpPr>
        <p:spPr>
          <a:xfrm>
            <a:off x="552297" y="1737360"/>
            <a:ext cx="1828800" cy="475488"/>
          </a:xfrm>
          <a:prstGeom prst="rect">
            <a:avLst/>
          </a:prstGeom>
          <a:solidFill>
            <a:srgbClr val="F0F7FD"/>
          </a:solidFill>
          <a:ln>
            <a:noFill/>
          </a:ln>
        </p:spPr>
        <p:txBody>
          <a:bodyPr wrap="square" lIns="109728" tIns="54864" rIns="109728" bIns="54864" rtlCol="0" anchor="ctr"/>
          <a:lstStyle/>
          <a:p>
            <a:pPr algn="l"/>
            <a:r>
              <a:rPr sz="1250" b="0">
                <a:solidFill>
                  <a:srgbClr val="152230"/>
                </a:solidFill>
                <a:latin typeface="Gartner Sans"/>
                <a:ea typeface="Gartner Sans"/>
                <a:cs typeface="Gartner Sans"/>
              </a:rPr>
              <a:t>Stakeholder interviews</a:t>
            </a:r>
          </a:p>
        </p:txBody>
      </p:sp>
      <p:sp>
        <p:nvSpPr>
          <p:cNvPr id="12" name="Input 2"/>
          <p:cNvSpPr/>
          <p:nvPr/>
        </p:nvSpPr>
        <p:spPr>
          <a:xfrm>
            <a:off x="552297" y="2304288"/>
            <a:ext cx="1828800" cy="475488"/>
          </a:xfrm>
          <a:prstGeom prst="rect">
            <a:avLst/>
          </a:prstGeom>
          <a:solidFill>
            <a:srgbClr val="F0F7FD"/>
          </a:solidFill>
          <a:ln>
            <a:noFill/>
          </a:ln>
        </p:spPr>
        <p:txBody>
          <a:bodyPr wrap="square" lIns="109728" tIns="54864" rIns="109728" bIns="54864" rtlCol="0" anchor="ctr"/>
          <a:lstStyle/>
          <a:p>
            <a:pPr algn="l"/>
            <a:r>
              <a:rPr sz="1250" b="0">
                <a:solidFill>
                  <a:srgbClr val="152230"/>
                </a:solidFill>
                <a:latin typeface="Gartner Sans"/>
                <a:ea typeface="Gartner Sans"/>
                <a:cs typeface="Gartner Sans"/>
              </a:rPr>
              <a:t>Discovery workshops</a:t>
            </a:r>
          </a:p>
        </p:txBody>
      </p:sp>
      <p:sp>
        <p:nvSpPr>
          <p:cNvPr id="13" name="Input 3"/>
          <p:cNvSpPr/>
          <p:nvPr/>
        </p:nvSpPr>
        <p:spPr>
          <a:xfrm>
            <a:off x="552297" y="2871215"/>
            <a:ext cx="1828800" cy="475488"/>
          </a:xfrm>
          <a:prstGeom prst="rect">
            <a:avLst/>
          </a:prstGeom>
          <a:solidFill>
            <a:srgbClr val="F0F7FD"/>
          </a:solidFill>
          <a:ln>
            <a:noFill/>
          </a:ln>
        </p:spPr>
        <p:txBody>
          <a:bodyPr wrap="square" lIns="109728" tIns="54864" rIns="109728" bIns="54864" rtlCol="0" anchor="ctr"/>
          <a:lstStyle/>
          <a:p>
            <a:pPr algn="l"/>
            <a:r>
              <a:rPr sz="1250" b="0">
                <a:solidFill>
                  <a:srgbClr val="152230"/>
                </a:solidFill>
                <a:latin typeface="Gartner Sans"/>
                <a:ea typeface="Gartner Sans"/>
                <a:cs typeface="Gartner Sans"/>
              </a:rPr>
              <a:t>Support tickets</a:t>
            </a:r>
          </a:p>
        </p:txBody>
      </p:sp>
      <p:sp>
        <p:nvSpPr>
          <p:cNvPr id="14" name="Input 4"/>
          <p:cNvSpPr/>
          <p:nvPr/>
        </p:nvSpPr>
        <p:spPr>
          <a:xfrm>
            <a:off x="552297" y="3438144"/>
            <a:ext cx="1828800" cy="475488"/>
          </a:xfrm>
          <a:prstGeom prst="rect">
            <a:avLst/>
          </a:prstGeom>
          <a:solidFill>
            <a:srgbClr val="F0F7FD"/>
          </a:solidFill>
          <a:ln>
            <a:noFill/>
          </a:ln>
        </p:spPr>
        <p:txBody>
          <a:bodyPr wrap="square" lIns="109728" tIns="54864" rIns="109728" bIns="54864" rtlCol="0" anchor="ctr"/>
          <a:lstStyle/>
          <a:p>
            <a:pPr algn="l"/>
            <a:r>
              <a:rPr sz="1250" b="0">
                <a:solidFill>
                  <a:srgbClr val="152230"/>
                </a:solidFill>
                <a:latin typeface="Gartner Sans"/>
                <a:ea typeface="Gartner Sans"/>
                <a:cs typeface="Gartner Sans"/>
              </a:rPr>
              <a:t>Operational incidents</a:t>
            </a:r>
          </a:p>
        </p:txBody>
      </p:sp>
      <p:sp>
        <p:nvSpPr>
          <p:cNvPr id="15" name="Input 5"/>
          <p:cNvSpPr/>
          <p:nvPr/>
        </p:nvSpPr>
        <p:spPr>
          <a:xfrm>
            <a:off x="552297" y="4005072"/>
            <a:ext cx="1828800" cy="475488"/>
          </a:xfrm>
          <a:prstGeom prst="rect">
            <a:avLst/>
          </a:prstGeom>
          <a:solidFill>
            <a:srgbClr val="F0F7FD"/>
          </a:solidFill>
          <a:ln>
            <a:noFill/>
          </a:ln>
        </p:spPr>
        <p:txBody>
          <a:bodyPr wrap="square" lIns="109728" tIns="54864" rIns="109728" bIns="54864" rtlCol="0" anchor="ctr"/>
          <a:lstStyle/>
          <a:p>
            <a:pPr algn="l"/>
            <a:r>
              <a:rPr sz="1250" b="0">
                <a:solidFill>
                  <a:srgbClr val="152230"/>
                </a:solidFill>
                <a:latin typeface="Gartner Sans"/>
                <a:ea typeface="Gartner Sans"/>
                <a:cs typeface="Gartner Sans"/>
              </a:rPr>
              <a:t>Architecture decisions</a:t>
            </a:r>
          </a:p>
        </p:txBody>
      </p:sp>
      <p:cxnSp>
        <p:nvCxnSpPr>
          <p:cNvPr id="16" name="Line"/>
          <p:cNvCxnSpPr/>
          <p:nvPr/>
        </p:nvCxnSpPr>
        <p:spPr>
          <a:xfrm>
            <a:off x="2454249" y="2971800"/>
            <a:ext cx="398679" cy="0"/>
          </a:xfrm>
          <a:prstGeom prst="line">
            <a:avLst/>
          </a:prstGeom>
          <a:ln w="25400">
            <a:solidFill>
              <a:srgbClr val="002869"/>
            </a:solidFill>
            <a:tailEnd type="triangle" w="med" len="med"/>
          </a:ln>
        </p:spPr>
      </p:cxnSp>
      <p:sp>
        <p:nvSpPr>
          <p:cNvPr id="17" name="Living brief"/>
          <p:cNvSpPr/>
          <p:nvPr/>
        </p:nvSpPr>
        <p:spPr>
          <a:xfrm>
            <a:off x="2926080" y="1920240"/>
            <a:ext cx="2103120" cy="2103120"/>
          </a:xfrm>
          <a:prstGeom prst="ellipse">
            <a:avLst/>
          </a:prstGeom>
          <a:solidFill>
            <a:srgbClr val="002869"/>
          </a:solidFill>
          <a:ln>
            <a:noFill/>
          </a:ln>
        </p:spPr>
        <p:txBody>
          <a:bodyPr wrap="square" tIns="0" bIns="0" rtlCol="0" anchor="ctr"/>
          <a:lstStyle/>
          <a:p>
            <a:pPr algn="ctr"/>
            <a:r>
              <a:rPr sz="1700" b="1">
                <a:solidFill>
                  <a:srgbClr val="FFFFFF"/>
                </a:solidFill>
                <a:latin typeface="Gartner Sans"/>
                <a:ea typeface="Gartner Sans"/>
                <a:cs typeface="Gartner Sans"/>
              </a:rPr>
              <a:t>The living brief</a:t>
            </a:r>
          </a:p>
          <a:p>
            <a:pPr algn="ctr">
              <a:spcBef>
                <a:spcPts val="200"/>
              </a:spcBef>
            </a:pPr>
            <a:r>
              <a:rPr sz="1700" b="0">
                <a:solidFill>
                  <a:srgbClr val="FFFFFF"/>
                </a:solidFill>
                <a:latin typeface="Gartner Sans"/>
                <a:ea typeface="Gartner Sans"/>
                <a:cs typeface="Gartner Sans"/>
              </a:rPr>
              <a:t>Objectives</a:t>
            </a:r>
          </a:p>
          <a:p>
            <a:pPr algn="ctr">
              <a:spcBef>
                <a:spcPts val="200"/>
              </a:spcBef>
            </a:pPr>
            <a:r>
              <a:rPr sz="1700" b="0">
                <a:solidFill>
                  <a:srgbClr val="FFFFFF"/>
                </a:solidFill>
                <a:latin typeface="Gartner Sans"/>
                <a:ea typeface="Gartner Sans"/>
                <a:cs typeface="Gartner Sans"/>
              </a:rPr>
              <a:t>Insights</a:t>
            </a:r>
          </a:p>
          <a:p>
            <a:pPr algn="ctr">
              <a:spcBef>
                <a:spcPts val="200"/>
              </a:spcBef>
            </a:pPr>
            <a:r>
              <a:rPr sz="1700" b="0">
                <a:solidFill>
                  <a:srgbClr val="FFFFFF"/>
                </a:solidFill>
                <a:latin typeface="Gartner Sans"/>
                <a:ea typeface="Gartner Sans"/>
                <a:cs typeface="Gartner Sans"/>
              </a:rPr>
              <a:t>Risks</a:t>
            </a:r>
          </a:p>
        </p:txBody>
      </p:sp>
      <p:cxnSp>
        <p:nvCxnSpPr>
          <p:cNvPr id="18" name="Line"/>
          <p:cNvCxnSpPr/>
          <p:nvPr/>
        </p:nvCxnSpPr>
        <p:spPr>
          <a:xfrm>
            <a:off x="5102352" y="2971800"/>
            <a:ext cx="493776" cy="0"/>
          </a:xfrm>
          <a:prstGeom prst="line">
            <a:avLst/>
          </a:prstGeom>
          <a:ln w="25400">
            <a:solidFill>
              <a:srgbClr val="002869"/>
            </a:solidFill>
            <a:tailEnd type="triangle" w="med" len="med"/>
          </a:ln>
        </p:spPr>
      </p:cxnSp>
      <p:sp>
        <p:nvSpPr>
          <p:cNvPr id="19" name="Output"/>
          <p:cNvSpPr/>
          <p:nvPr/>
        </p:nvSpPr>
        <p:spPr>
          <a:xfrm>
            <a:off x="5669280" y="2514600"/>
            <a:ext cx="1691640" cy="914400"/>
          </a:xfrm>
          <a:prstGeom prst="rect">
            <a:avLst/>
          </a:prstGeom>
          <a:solidFill>
            <a:srgbClr val="FFFFFF"/>
          </a:solidFill>
          <a:ln w="19050">
            <a:solidFill>
              <a:srgbClr val="002869"/>
            </a:solidFill>
          </a:ln>
        </p:spPr>
        <p:txBody>
          <a:bodyPr wrap="square" lIns="109728" tIns="54864" rIns="109728" bIns="54864" rtlCol="0" anchor="ctr"/>
          <a:lstStyle/>
          <a:p>
            <a:pPr algn="ctr"/>
            <a:r>
              <a:rPr sz="1400" b="1">
                <a:solidFill>
                  <a:srgbClr val="002869"/>
                </a:solidFill>
                <a:latin typeface="Gartner Sans"/>
                <a:ea typeface="Gartner Sans"/>
                <a:cs typeface="Gartner Sans"/>
              </a:rPr>
              <a:t>Requirements as dynamic views</a:t>
            </a:r>
          </a:p>
        </p:txBody>
      </p:sp>
      <p:sp>
        <p:nvSpPr>
          <p:cNvPr id="20" name="Caption"/>
          <p:cNvSpPr/>
          <p:nvPr/>
        </p:nvSpPr>
        <p:spPr>
          <a:xfrm>
            <a:off x="552297" y="4800600"/>
            <a:ext cx="6766560" cy="868680"/>
          </a:xfrm>
          <a:prstGeom prst="rect">
            <a:avLst/>
          </a:prstGeom>
          <a:solidFill>
            <a:srgbClr val="F0F7FD"/>
          </a:solidFill>
          <a:ln>
            <a:noFill/>
          </a:ln>
        </p:spPr>
        <p:txBody>
          <a:bodyPr wrap="square" lIns="182880" tIns="0" rIns="182880" bIns="0" rtlCol="0" anchor="ctr"/>
          <a:lstStyle/>
          <a:p>
            <a:pPr algn="l"/>
            <a:r>
              <a:rPr sz="1800" b="1">
                <a:solidFill>
                  <a:srgbClr val="002869"/>
                </a:solidFill>
                <a:latin typeface="Gartner Sans"/>
                <a:ea typeface="Gartner Sans"/>
                <a:cs typeface="Gartner Sans"/>
              </a:rPr>
              <a:t>The living brief </a:t>
            </a:r>
            <a:r>
              <a:rPr sz="1800" b="0">
                <a:solidFill>
                  <a:srgbClr val="152230"/>
                </a:solidFill>
                <a:latin typeface="Gartner Sans"/>
                <a:ea typeface="Gartner Sans"/>
                <a:cs typeface="Gartner Sans"/>
              </a:rPr>
              <a:t>is a continuously evolving, AI-curated representation of product and business context.</a:t>
            </a:r>
          </a:p>
        </p:txBody>
      </p:sp>
      <p:sp>
        <p:nvSpPr>
          <p:cNvPr id="21" name="Number 1"/>
          <p:cNvSpPr/>
          <p:nvPr/>
        </p:nvSpPr>
        <p:spPr>
          <a:xfrm>
            <a:off x="7680960" y="1727073"/>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22" name="Point 1"/>
          <p:cNvSpPr txBox="1"/>
          <p:nvPr/>
        </p:nvSpPr>
        <p:spPr>
          <a:xfrm>
            <a:off x="8156448" y="1386987"/>
            <a:ext cx="3542385" cy="991068"/>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AI workflows capture the reasons behind requirements: business objectives, customer evidence and decision rationale.</a:t>
            </a:r>
          </a:p>
        </p:txBody>
      </p:sp>
      <p:cxnSp>
        <p:nvCxnSpPr>
          <p:cNvPr id="23" name="Divider"/>
          <p:cNvCxnSpPr/>
          <p:nvPr/>
        </p:nvCxnSpPr>
        <p:spPr>
          <a:xfrm>
            <a:off x="7680960" y="2439162"/>
            <a:ext cx="4017873" cy="0"/>
          </a:xfrm>
          <a:prstGeom prst="line">
            <a:avLst/>
          </a:prstGeom>
          <a:ln w="9525">
            <a:solidFill>
              <a:srgbClr val="D0D7DF"/>
            </a:solidFill>
          </a:ln>
        </p:spPr>
      </p:cxnSp>
      <p:sp>
        <p:nvSpPr>
          <p:cNvPr id="24" name="Number 2"/>
          <p:cNvSpPr/>
          <p:nvPr/>
        </p:nvSpPr>
        <p:spPr>
          <a:xfrm>
            <a:off x="7680960" y="2840355"/>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25" name="Point 2"/>
          <p:cNvSpPr txBox="1"/>
          <p:nvPr/>
        </p:nvSpPr>
        <p:spPr>
          <a:xfrm>
            <a:off x="8156448" y="2512314"/>
            <a:ext cx="3542385" cy="966978"/>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AI connects data across wikis, workflow tools and communication platforms, which removes knowledge silos.</a:t>
            </a:r>
          </a:p>
        </p:txBody>
      </p:sp>
      <p:cxnSp>
        <p:nvCxnSpPr>
          <p:cNvPr id="26" name="Divider"/>
          <p:cNvCxnSpPr/>
          <p:nvPr/>
        </p:nvCxnSpPr>
        <p:spPr>
          <a:xfrm>
            <a:off x="7680960" y="3552444"/>
            <a:ext cx="4017873" cy="0"/>
          </a:xfrm>
          <a:prstGeom prst="line">
            <a:avLst/>
          </a:prstGeom>
          <a:ln w="9525">
            <a:solidFill>
              <a:srgbClr val="D0D7DF"/>
            </a:solidFill>
          </a:ln>
        </p:spPr>
      </p:cxnSp>
      <p:sp>
        <p:nvSpPr>
          <p:cNvPr id="27" name="Number 3"/>
          <p:cNvSpPr/>
          <p:nvPr/>
        </p:nvSpPr>
        <p:spPr>
          <a:xfrm>
            <a:off x="7680960" y="395363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28" name="Point 3"/>
          <p:cNvSpPr txBox="1"/>
          <p:nvPr/>
        </p:nvSpPr>
        <p:spPr>
          <a:xfrm>
            <a:off x="8156448" y="3625596"/>
            <a:ext cx="3542385" cy="966978"/>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Requirements, user stories and backlogs become temporary, generated views of the living brief.</a:t>
            </a:r>
          </a:p>
        </p:txBody>
      </p:sp>
      <p:cxnSp>
        <p:nvCxnSpPr>
          <p:cNvPr id="29" name="Divider"/>
          <p:cNvCxnSpPr/>
          <p:nvPr/>
        </p:nvCxnSpPr>
        <p:spPr>
          <a:xfrm>
            <a:off x="7680960" y="4665726"/>
            <a:ext cx="4017873" cy="0"/>
          </a:xfrm>
          <a:prstGeom prst="line">
            <a:avLst/>
          </a:prstGeom>
          <a:ln w="9525">
            <a:solidFill>
              <a:srgbClr val="D0D7DF"/>
            </a:solidFill>
          </a:ln>
        </p:spPr>
      </p:cxnSp>
      <p:sp>
        <p:nvSpPr>
          <p:cNvPr id="30" name="Number 4"/>
          <p:cNvSpPr/>
          <p:nvPr/>
        </p:nvSpPr>
        <p:spPr>
          <a:xfrm>
            <a:off x="7680960" y="5066919"/>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31" name="Point 4"/>
          <p:cNvSpPr txBox="1"/>
          <p:nvPr/>
        </p:nvSpPr>
        <p:spPr>
          <a:xfrm>
            <a:off x="8156448" y="4738878"/>
            <a:ext cx="3542385" cy="966978"/>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Each new requirements step starts with richer context than the last.</a:t>
            </a:r>
          </a:p>
        </p:txBody>
      </p:sp>
      <p:sp>
        <p:nvSpPr>
          <p:cNvPr id="32"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G00858533 (Figure 2)</a:t>
            </a:r>
          </a:p>
        </p:txBody>
      </p:sp>
    </p:spTree>
    <p:extLst>
      <p:ext uri="{BB962C8B-B14F-4D97-AF65-F5344CB8AC3E}">
        <p14:creationId xmlns:p14="http://schemas.microsoft.com/office/powerpoint/2010/main" val="3000000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Phases compress into intent and implementation</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41</a:t>
            </a:r>
          </a:p>
        </p:txBody>
      </p:sp>
      <p:sp>
        <p:nvSpPr>
          <p:cNvPr id="10" name="Stage Planning"/>
          <p:cNvSpPr/>
          <p:nvPr/>
        </p:nvSpPr>
        <p:spPr>
          <a:xfrm>
            <a:off x="1024128" y="1499616"/>
            <a:ext cx="3803904" cy="3803904"/>
          </a:xfrm>
          <a:prstGeom prst="blockArc">
            <a:avLst>
              <a:gd name="adj1" fmla="val 10890000"/>
              <a:gd name="adj2" fmla="val 14310000"/>
              <a:gd name="adj3" fmla="val 21153"/>
            </a:avLst>
          </a:prstGeom>
          <a:solidFill>
            <a:srgbClr val="002869"/>
          </a:solidFill>
          <a:ln>
            <a:noFill/>
          </a:ln>
        </p:spPr>
        <p:txBody>
          <a:bodyPr rtlCol="0" anchor="ctr"/>
          <a:lstStyle/>
          <a:p>
            <a:pPr algn="ctr"/>
            <a:endParaRPr/>
          </a:p>
        </p:txBody>
      </p:sp>
      <p:sp>
        <p:nvSpPr>
          <p:cNvPr id="11" name="Label Planning"/>
          <p:cNvSpPr txBox="1"/>
          <p:nvPr/>
        </p:nvSpPr>
        <p:spPr>
          <a:xfrm>
            <a:off x="1078734" y="2523744"/>
            <a:ext cx="1097280" cy="256032"/>
          </a:xfrm>
          <a:prstGeom prst="rect">
            <a:avLst/>
          </a:prstGeom>
          <a:noFill/>
        </p:spPr>
        <p:txBody>
          <a:bodyPr wrap="square" lIns="0" tIns="0" rIns="0" bIns="0" anchor="ctr">
            <a:spAutoFit/>
          </a:bodyPr>
          <a:lstStyle/>
          <a:p>
            <a:pPr algn="ctr"/>
            <a:r>
              <a:rPr sz="1400" b="1">
                <a:solidFill>
                  <a:srgbClr val="FFFFFF"/>
                </a:solidFill>
                <a:latin typeface="Gartner Sans"/>
                <a:ea typeface="Gartner Sans"/>
                <a:cs typeface="Gartner Sans"/>
              </a:rPr>
              <a:t>Planning</a:t>
            </a:r>
          </a:p>
        </p:txBody>
      </p:sp>
      <p:sp>
        <p:nvSpPr>
          <p:cNvPr id="12" name="Stage Design"/>
          <p:cNvSpPr/>
          <p:nvPr/>
        </p:nvSpPr>
        <p:spPr>
          <a:xfrm>
            <a:off x="1024128" y="1499616"/>
            <a:ext cx="3803904" cy="3803904"/>
          </a:xfrm>
          <a:prstGeom prst="blockArc">
            <a:avLst>
              <a:gd name="adj1" fmla="val 14490000"/>
              <a:gd name="adj2" fmla="val 17910000"/>
              <a:gd name="adj3" fmla="val 21153"/>
            </a:avLst>
          </a:prstGeom>
          <a:solidFill>
            <a:srgbClr val="002869"/>
          </a:solidFill>
          <a:ln>
            <a:noFill/>
          </a:ln>
        </p:spPr>
        <p:txBody>
          <a:bodyPr rtlCol="0" anchor="ctr"/>
          <a:lstStyle/>
          <a:p>
            <a:pPr algn="ctr"/>
            <a:endParaRPr/>
          </a:p>
        </p:txBody>
      </p:sp>
      <p:sp>
        <p:nvSpPr>
          <p:cNvPr id="13" name="Label Design"/>
          <p:cNvSpPr txBox="1"/>
          <p:nvPr/>
        </p:nvSpPr>
        <p:spPr>
          <a:xfrm>
            <a:off x="2377439" y="1773936"/>
            <a:ext cx="1097280" cy="256032"/>
          </a:xfrm>
          <a:prstGeom prst="rect">
            <a:avLst/>
          </a:prstGeom>
          <a:noFill/>
        </p:spPr>
        <p:txBody>
          <a:bodyPr wrap="square" lIns="0" tIns="0" rIns="0" bIns="0" anchor="ctr">
            <a:spAutoFit/>
          </a:bodyPr>
          <a:lstStyle/>
          <a:p>
            <a:pPr algn="ctr"/>
            <a:r>
              <a:rPr sz="1400" b="1">
                <a:solidFill>
                  <a:srgbClr val="FFFFFF"/>
                </a:solidFill>
                <a:latin typeface="Gartner Sans"/>
                <a:ea typeface="Gartner Sans"/>
                <a:cs typeface="Gartner Sans"/>
              </a:rPr>
              <a:t>Design</a:t>
            </a:r>
          </a:p>
        </p:txBody>
      </p:sp>
      <p:sp>
        <p:nvSpPr>
          <p:cNvPr id="14" name="Stage Architect"/>
          <p:cNvSpPr/>
          <p:nvPr/>
        </p:nvSpPr>
        <p:spPr>
          <a:xfrm>
            <a:off x="1024128" y="1499616"/>
            <a:ext cx="3803904" cy="3803904"/>
          </a:xfrm>
          <a:prstGeom prst="blockArc">
            <a:avLst>
              <a:gd name="adj1" fmla="val 18090000"/>
              <a:gd name="adj2" fmla="val 21510000"/>
              <a:gd name="adj3" fmla="val 21153"/>
            </a:avLst>
          </a:prstGeom>
          <a:solidFill>
            <a:srgbClr val="002869"/>
          </a:solidFill>
          <a:ln>
            <a:noFill/>
          </a:ln>
        </p:spPr>
        <p:txBody>
          <a:bodyPr rtlCol="0" anchor="ctr"/>
          <a:lstStyle/>
          <a:p>
            <a:pPr algn="ctr"/>
            <a:endParaRPr/>
          </a:p>
        </p:txBody>
      </p:sp>
      <p:sp>
        <p:nvSpPr>
          <p:cNvPr id="15" name="Label Architect"/>
          <p:cNvSpPr txBox="1"/>
          <p:nvPr/>
        </p:nvSpPr>
        <p:spPr>
          <a:xfrm>
            <a:off x="3676145" y="2523743"/>
            <a:ext cx="1097280" cy="256032"/>
          </a:xfrm>
          <a:prstGeom prst="rect">
            <a:avLst/>
          </a:prstGeom>
          <a:noFill/>
        </p:spPr>
        <p:txBody>
          <a:bodyPr wrap="square" lIns="0" tIns="0" rIns="0" bIns="0" anchor="ctr">
            <a:spAutoFit/>
          </a:bodyPr>
          <a:lstStyle/>
          <a:p>
            <a:pPr algn="ctr"/>
            <a:r>
              <a:rPr sz="1400" b="1">
                <a:solidFill>
                  <a:srgbClr val="FFFFFF"/>
                </a:solidFill>
                <a:latin typeface="Gartner Sans"/>
                <a:ea typeface="Gartner Sans"/>
                <a:cs typeface="Gartner Sans"/>
              </a:rPr>
              <a:t>Architect</a:t>
            </a:r>
          </a:p>
        </p:txBody>
      </p:sp>
      <p:sp>
        <p:nvSpPr>
          <p:cNvPr id="16" name="Stage Develop"/>
          <p:cNvSpPr/>
          <p:nvPr/>
        </p:nvSpPr>
        <p:spPr>
          <a:xfrm>
            <a:off x="1024128" y="1499616"/>
            <a:ext cx="3803904" cy="3803904"/>
          </a:xfrm>
          <a:prstGeom prst="blockArc">
            <a:avLst>
              <a:gd name="adj1" fmla="val 90000"/>
              <a:gd name="adj2" fmla="val 2610000"/>
              <a:gd name="adj3" fmla="val 21153"/>
            </a:avLst>
          </a:prstGeom>
          <a:solidFill>
            <a:srgbClr val="0A5CD5"/>
          </a:solidFill>
          <a:ln>
            <a:noFill/>
          </a:ln>
        </p:spPr>
        <p:txBody>
          <a:bodyPr rtlCol="0" anchor="ctr"/>
          <a:lstStyle/>
          <a:p>
            <a:pPr algn="ctr"/>
            <a:endParaRPr/>
          </a:p>
        </p:txBody>
      </p:sp>
      <p:sp>
        <p:nvSpPr>
          <p:cNvPr id="17" name="Label Develop"/>
          <p:cNvSpPr txBox="1"/>
          <p:nvPr/>
        </p:nvSpPr>
        <p:spPr>
          <a:xfrm>
            <a:off x="3762904" y="3847430"/>
            <a:ext cx="1097280" cy="256032"/>
          </a:xfrm>
          <a:prstGeom prst="rect">
            <a:avLst/>
          </a:prstGeom>
          <a:noFill/>
        </p:spPr>
        <p:txBody>
          <a:bodyPr wrap="square" lIns="0" tIns="0" rIns="0" bIns="0" anchor="ctr">
            <a:spAutoFit/>
          </a:bodyPr>
          <a:lstStyle/>
          <a:p>
            <a:pPr algn="ctr"/>
            <a:r>
              <a:rPr sz="1400" b="1">
                <a:solidFill>
                  <a:srgbClr val="FFFFFF"/>
                </a:solidFill>
                <a:latin typeface="Gartner Sans"/>
                <a:ea typeface="Gartner Sans"/>
                <a:cs typeface="Gartner Sans"/>
              </a:rPr>
              <a:t>Develop</a:t>
            </a:r>
          </a:p>
        </p:txBody>
      </p:sp>
      <p:sp>
        <p:nvSpPr>
          <p:cNvPr id="18" name="Stage Test"/>
          <p:cNvSpPr/>
          <p:nvPr/>
        </p:nvSpPr>
        <p:spPr>
          <a:xfrm>
            <a:off x="1024128" y="1499616"/>
            <a:ext cx="3803904" cy="3803904"/>
          </a:xfrm>
          <a:prstGeom prst="blockArc">
            <a:avLst>
              <a:gd name="adj1" fmla="val 2790000"/>
              <a:gd name="adj2" fmla="val 5310000"/>
              <a:gd name="adj3" fmla="val 21153"/>
            </a:avLst>
          </a:prstGeom>
          <a:solidFill>
            <a:srgbClr val="0A5CD5"/>
          </a:solidFill>
          <a:ln>
            <a:noFill/>
          </a:ln>
        </p:spPr>
        <p:txBody>
          <a:bodyPr rtlCol="0" anchor="ctr"/>
          <a:lstStyle/>
          <a:p>
            <a:pPr algn="ctr"/>
            <a:endParaRPr/>
          </a:p>
        </p:txBody>
      </p:sp>
      <p:sp>
        <p:nvSpPr>
          <p:cNvPr id="19" name="Label Test"/>
          <p:cNvSpPr txBox="1"/>
          <p:nvPr/>
        </p:nvSpPr>
        <p:spPr>
          <a:xfrm>
            <a:off x="2951318" y="4659016"/>
            <a:ext cx="1097280" cy="256032"/>
          </a:xfrm>
          <a:prstGeom prst="rect">
            <a:avLst/>
          </a:prstGeom>
          <a:noFill/>
        </p:spPr>
        <p:txBody>
          <a:bodyPr wrap="square" lIns="0" tIns="0" rIns="0" bIns="0" anchor="ctr">
            <a:spAutoFit/>
          </a:bodyPr>
          <a:lstStyle/>
          <a:p>
            <a:pPr algn="ctr"/>
            <a:r>
              <a:rPr sz="1400" b="1">
                <a:solidFill>
                  <a:srgbClr val="FFFFFF"/>
                </a:solidFill>
                <a:latin typeface="Gartner Sans"/>
                <a:ea typeface="Gartner Sans"/>
                <a:cs typeface="Gartner Sans"/>
              </a:rPr>
              <a:t>Test</a:t>
            </a:r>
          </a:p>
        </p:txBody>
      </p:sp>
      <p:sp>
        <p:nvSpPr>
          <p:cNvPr id="20" name="Stage Deploy"/>
          <p:cNvSpPr/>
          <p:nvPr/>
        </p:nvSpPr>
        <p:spPr>
          <a:xfrm>
            <a:off x="1024128" y="1499616"/>
            <a:ext cx="3803904" cy="3803904"/>
          </a:xfrm>
          <a:prstGeom prst="blockArc">
            <a:avLst>
              <a:gd name="adj1" fmla="val 5490000"/>
              <a:gd name="adj2" fmla="val 8010000"/>
              <a:gd name="adj3" fmla="val 21153"/>
            </a:avLst>
          </a:prstGeom>
          <a:solidFill>
            <a:srgbClr val="0A5CD5"/>
          </a:solidFill>
          <a:ln>
            <a:noFill/>
          </a:ln>
        </p:spPr>
        <p:txBody>
          <a:bodyPr rtlCol="0" anchor="ctr"/>
          <a:lstStyle/>
          <a:p>
            <a:pPr algn="ctr"/>
            <a:endParaRPr/>
          </a:p>
        </p:txBody>
      </p:sp>
      <p:sp>
        <p:nvSpPr>
          <p:cNvPr id="21" name="Label Deploy"/>
          <p:cNvSpPr txBox="1"/>
          <p:nvPr/>
        </p:nvSpPr>
        <p:spPr>
          <a:xfrm>
            <a:off x="1803561" y="4659016"/>
            <a:ext cx="1097280" cy="256032"/>
          </a:xfrm>
          <a:prstGeom prst="rect">
            <a:avLst/>
          </a:prstGeom>
          <a:noFill/>
        </p:spPr>
        <p:txBody>
          <a:bodyPr wrap="square" lIns="0" tIns="0" rIns="0" bIns="0" anchor="ctr">
            <a:spAutoFit/>
          </a:bodyPr>
          <a:lstStyle/>
          <a:p>
            <a:pPr algn="ctr"/>
            <a:r>
              <a:rPr sz="1400" b="1">
                <a:solidFill>
                  <a:srgbClr val="FFFFFF"/>
                </a:solidFill>
                <a:latin typeface="Gartner Sans"/>
                <a:ea typeface="Gartner Sans"/>
                <a:cs typeface="Gartner Sans"/>
              </a:rPr>
              <a:t>Deploy</a:t>
            </a:r>
          </a:p>
        </p:txBody>
      </p:sp>
      <p:sp>
        <p:nvSpPr>
          <p:cNvPr id="22" name="Stage Maintain"/>
          <p:cNvSpPr/>
          <p:nvPr/>
        </p:nvSpPr>
        <p:spPr>
          <a:xfrm>
            <a:off x="1024128" y="1499616"/>
            <a:ext cx="3803904" cy="3803904"/>
          </a:xfrm>
          <a:prstGeom prst="blockArc">
            <a:avLst>
              <a:gd name="adj1" fmla="val 8190000"/>
              <a:gd name="adj2" fmla="val 10710000"/>
              <a:gd name="adj3" fmla="val 21153"/>
            </a:avLst>
          </a:prstGeom>
          <a:solidFill>
            <a:srgbClr val="0A5CD5"/>
          </a:solidFill>
          <a:ln>
            <a:noFill/>
          </a:ln>
        </p:spPr>
        <p:txBody>
          <a:bodyPr rtlCol="0" anchor="ctr"/>
          <a:lstStyle/>
          <a:p>
            <a:pPr algn="ctr"/>
            <a:endParaRPr/>
          </a:p>
        </p:txBody>
      </p:sp>
      <p:sp>
        <p:nvSpPr>
          <p:cNvPr id="23" name="Label Maintain"/>
          <p:cNvSpPr txBox="1"/>
          <p:nvPr/>
        </p:nvSpPr>
        <p:spPr>
          <a:xfrm>
            <a:off x="991975" y="3847430"/>
            <a:ext cx="1097280" cy="256032"/>
          </a:xfrm>
          <a:prstGeom prst="rect">
            <a:avLst/>
          </a:prstGeom>
          <a:noFill/>
        </p:spPr>
        <p:txBody>
          <a:bodyPr wrap="square" lIns="0" tIns="0" rIns="0" bIns="0" anchor="ctr">
            <a:spAutoFit/>
          </a:bodyPr>
          <a:lstStyle/>
          <a:p>
            <a:pPr algn="ctr"/>
            <a:r>
              <a:rPr sz="1400" b="1">
                <a:solidFill>
                  <a:srgbClr val="FFFFFF"/>
                </a:solidFill>
                <a:latin typeface="Gartner Sans"/>
                <a:ea typeface="Gartner Sans"/>
                <a:cs typeface="Gartner Sans"/>
              </a:rPr>
              <a:t>Maintain</a:t>
            </a:r>
          </a:p>
        </p:txBody>
      </p:sp>
      <p:sp>
        <p:nvSpPr>
          <p:cNvPr id="24" name="Hub"/>
          <p:cNvSpPr/>
          <p:nvPr/>
        </p:nvSpPr>
        <p:spPr>
          <a:xfrm>
            <a:off x="1993392" y="2468880"/>
            <a:ext cx="1865376" cy="1865376"/>
          </a:xfrm>
          <a:prstGeom prst="ellipse">
            <a:avLst/>
          </a:prstGeom>
          <a:solidFill>
            <a:srgbClr val="F0F7FD"/>
          </a:solidFill>
          <a:ln>
            <a:noFill/>
          </a:ln>
        </p:spPr>
        <p:txBody>
          <a:bodyPr wrap="square" lIns="137160" tIns="0" rIns="137160" bIns="0" rtlCol="0" anchor="ctr"/>
          <a:lstStyle/>
          <a:p>
            <a:pPr algn="ctr"/>
            <a:r>
              <a:rPr sz="1450" b="1">
                <a:solidFill>
                  <a:srgbClr val="002869"/>
                </a:solidFill>
                <a:latin typeface="Gartner Sans"/>
                <a:ea typeface="Gartner Sans"/>
                <a:cs typeface="Gartner Sans"/>
              </a:rPr>
              <a:t>Continuous agentic delivery</a:t>
            </a:r>
          </a:p>
        </p:txBody>
      </p:sp>
      <p:sp>
        <p:nvSpPr>
          <p:cNvPr id="25" name="Legend key"/>
          <p:cNvSpPr/>
          <p:nvPr/>
        </p:nvSpPr>
        <p:spPr>
          <a:xfrm>
            <a:off x="1554480" y="5550408"/>
            <a:ext cx="155448" cy="155448"/>
          </a:xfrm>
          <a:prstGeom prst="rect">
            <a:avLst/>
          </a:prstGeom>
          <a:solidFill>
            <a:srgbClr val="002869"/>
          </a:solidFill>
          <a:ln>
            <a:noFill/>
          </a:ln>
        </p:spPr>
        <p:txBody>
          <a:bodyPr rtlCol="0" anchor="ctr"/>
          <a:lstStyle/>
          <a:p>
            <a:pPr algn="ctr"/>
            <a:endParaRPr/>
          </a:p>
        </p:txBody>
      </p:sp>
      <p:sp>
        <p:nvSpPr>
          <p:cNvPr id="26" name="Legend label"/>
          <p:cNvSpPr txBox="1"/>
          <p:nvPr/>
        </p:nvSpPr>
        <p:spPr>
          <a:xfrm>
            <a:off x="1783080" y="5500252"/>
            <a:ext cx="1463040" cy="255759"/>
          </a:xfrm>
          <a:prstGeom prst="rect">
            <a:avLst/>
          </a:prstGeom>
          <a:noFill/>
        </p:spPr>
        <p:txBody>
          <a:bodyPr wrap="square" lIns="0" tIns="0" rIns="0" bIns="0" anchor="ctr">
            <a:spAutoFit/>
          </a:bodyPr>
          <a:lstStyle/>
          <a:p>
            <a:pPr algn="l"/>
            <a:r>
              <a:rPr sz="1600" b="0">
                <a:solidFill>
                  <a:srgbClr val="152230"/>
                </a:solidFill>
                <a:latin typeface="Gartner Sans"/>
                <a:ea typeface="Gartner Sans"/>
                <a:cs typeface="Gartner Sans"/>
              </a:rPr>
              <a:t>Intent</a:t>
            </a:r>
          </a:p>
        </p:txBody>
      </p:sp>
      <p:sp>
        <p:nvSpPr>
          <p:cNvPr id="27" name="Legend key"/>
          <p:cNvSpPr/>
          <p:nvPr/>
        </p:nvSpPr>
        <p:spPr>
          <a:xfrm>
            <a:off x="2743200" y="5550408"/>
            <a:ext cx="155448" cy="155448"/>
          </a:xfrm>
          <a:prstGeom prst="rect">
            <a:avLst/>
          </a:prstGeom>
          <a:solidFill>
            <a:srgbClr val="0A5CD5"/>
          </a:solidFill>
          <a:ln>
            <a:noFill/>
          </a:ln>
        </p:spPr>
        <p:txBody>
          <a:bodyPr rtlCol="0" anchor="ctr"/>
          <a:lstStyle/>
          <a:p>
            <a:pPr algn="ctr"/>
            <a:endParaRPr/>
          </a:p>
        </p:txBody>
      </p:sp>
      <p:sp>
        <p:nvSpPr>
          <p:cNvPr id="28" name="Legend label"/>
          <p:cNvSpPr txBox="1"/>
          <p:nvPr/>
        </p:nvSpPr>
        <p:spPr>
          <a:xfrm>
            <a:off x="2971800" y="5500252"/>
            <a:ext cx="1463040" cy="255759"/>
          </a:xfrm>
          <a:prstGeom prst="rect">
            <a:avLst/>
          </a:prstGeom>
          <a:noFill/>
        </p:spPr>
        <p:txBody>
          <a:bodyPr wrap="square" lIns="0" tIns="0" rIns="0" bIns="0" anchor="ctr">
            <a:spAutoFit/>
          </a:bodyPr>
          <a:lstStyle/>
          <a:p>
            <a:pPr algn="l"/>
            <a:r>
              <a:rPr sz="1600" b="0">
                <a:solidFill>
                  <a:srgbClr val="152230"/>
                </a:solidFill>
                <a:latin typeface="Gartner Sans"/>
                <a:ea typeface="Gartner Sans"/>
                <a:cs typeface="Gartner Sans"/>
              </a:rPr>
              <a:t>Implementation</a:t>
            </a:r>
          </a:p>
        </p:txBody>
      </p:sp>
      <p:sp>
        <p:nvSpPr>
          <p:cNvPr id="29" name="Number 1"/>
          <p:cNvSpPr/>
          <p:nvPr/>
        </p:nvSpPr>
        <p:spPr>
          <a:xfrm>
            <a:off x="5760720" y="1727073"/>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30" name="Point 1"/>
          <p:cNvSpPr txBox="1"/>
          <p:nvPr/>
        </p:nvSpPr>
        <p:spPr>
          <a:xfrm>
            <a:off x="6236208" y="1399032"/>
            <a:ext cx="5462625" cy="966978"/>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CBRE compressed planning, design and architecture into intent, and develop, test, deploy and maintain into implementation.</a:t>
            </a:r>
          </a:p>
        </p:txBody>
      </p:sp>
      <p:cxnSp>
        <p:nvCxnSpPr>
          <p:cNvPr id="31" name="Divider"/>
          <p:cNvCxnSpPr/>
          <p:nvPr/>
        </p:nvCxnSpPr>
        <p:spPr>
          <a:xfrm>
            <a:off x="5760720" y="2439162"/>
            <a:ext cx="5938113" cy="0"/>
          </a:xfrm>
          <a:prstGeom prst="line">
            <a:avLst/>
          </a:prstGeom>
          <a:ln w="9525">
            <a:solidFill>
              <a:srgbClr val="D0D7DF"/>
            </a:solidFill>
          </a:ln>
        </p:spPr>
      </p:cxnSp>
      <p:sp>
        <p:nvSpPr>
          <p:cNvPr id="32" name="Number 2"/>
          <p:cNvSpPr/>
          <p:nvPr/>
        </p:nvSpPr>
        <p:spPr>
          <a:xfrm>
            <a:off x="5760720" y="2840355"/>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33" name="Point 2"/>
          <p:cNvSpPr txBox="1"/>
          <p:nvPr/>
        </p:nvSpPr>
        <p:spPr>
          <a:xfrm>
            <a:off x="6236208" y="2512314"/>
            <a:ext cx="5462625" cy="966978"/>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Planning became continuous. Richer specifications and AI-assisted acceptance criteria replaced long planning ceremonies and fragmented user stories.</a:t>
            </a:r>
          </a:p>
        </p:txBody>
      </p:sp>
      <p:cxnSp>
        <p:nvCxnSpPr>
          <p:cNvPr id="34" name="Divider"/>
          <p:cNvCxnSpPr/>
          <p:nvPr/>
        </p:nvCxnSpPr>
        <p:spPr>
          <a:xfrm>
            <a:off x="5760720" y="3552444"/>
            <a:ext cx="5938113" cy="0"/>
          </a:xfrm>
          <a:prstGeom prst="line">
            <a:avLst/>
          </a:prstGeom>
          <a:ln w="9525">
            <a:solidFill>
              <a:srgbClr val="D0D7DF"/>
            </a:solidFill>
          </a:ln>
        </p:spPr>
      </p:cxnSp>
      <p:sp>
        <p:nvSpPr>
          <p:cNvPr id="35" name="Number 3"/>
          <p:cNvSpPr/>
          <p:nvPr/>
        </p:nvSpPr>
        <p:spPr>
          <a:xfrm>
            <a:off x="5760720" y="395363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36" name="Point 3"/>
          <p:cNvSpPr txBox="1"/>
          <p:nvPr/>
        </p:nvSpPr>
        <p:spPr>
          <a:xfrm>
            <a:off x="6236208" y="3625596"/>
            <a:ext cx="5462625" cy="966978"/>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Engineers increasingly orchestrate and review AI-generated work. AI generates most test cases alongside the code.</a:t>
            </a:r>
          </a:p>
        </p:txBody>
      </p:sp>
      <p:cxnSp>
        <p:nvCxnSpPr>
          <p:cNvPr id="37" name="Divider"/>
          <p:cNvCxnSpPr/>
          <p:nvPr/>
        </p:nvCxnSpPr>
        <p:spPr>
          <a:xfrm>
            <a:off x="5760720" y="4665726"/>
            <a:ext cx="5938113" cy="0"/>
          </a:xfrm>
          <a:prstGeom prst="line">
            <a:avLst/>
          </a:prstGeom>
          <a:ln w="9525">
            <a:solidFill>
              <a:srgbClr val="D0D7DF"/>
            </a:solidFill>
          </a:ln>
        </p:spPr>
      </p:cxnSp>
      <p:sp>
        <p:nvSpPr>
          <p:cNvPr id="38" name="Number 4"/>
          <p:cNvSpPr/>
          <p:nvPr/>
        </p:nvSpPr>
        <p:spPr>
          <a:xfrm>
            <a:off x="5760720" y="5066919"/>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39" name="Point 4"/>
          <p:cNvSpPr txBox="1"/>
          <p:nvPr/>
        </p:nvSpPr>
        <p:spPr>
          <a:xfrm>
            <a:off x="6236208" y="4738878"/>
            <a:ext cx="5462625" cy="966978"/>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Production release remains explicitly approved by people.</a:t>
            </a:r>
          </a:p>
        </p:txBody>
      </p:sp>
      <p:sp>
        <p:nvSpPr>
          <p:cNvPr id="40"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G00857393 (Figure 3, adapted from CBRE)</a:t>
            </a:r>
          </a:p>
        </p:txBody>
      </p:sp>
    </p:spTree>
    <p:extLst>
      <p:ext uri="{BB962C8B-B14F-4D97-AF65-F5344CB8AC3E}">
        <p14:creationId xmlns:p14="http://schemas.microsoft.com/office/powerpoint/2010/main" val="30000000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What changes, what goes and what stays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42</a:t>
            </a:r>
          </a:p>
        </p:txBody>
      </p:sp>
      <p:sp>
        <p:nvSpPr>
          <p:cNvPr id="10" name="Card heading"/>
          <p:cNvSpPr/>
          <p:nvPr/>
        </p:nvSpPr>
        <p:spPr>
          <a:xfrm>
            <a:off x="552297" y="1325880"/>
            <a:ext cx="3532632" cy="502920"/>
          </a:xfrm>
          <a:prstGeom prst="rect">
            <a:avLst/>
          </a:prstGeom>
          <a:solidFill>
            <a:srgbClr val="F0F7FD"/>
          </a:solidFill>
          <a:ln w="12700">
            <a:solidFill>
              <a:srgbClr val="D0D7DF"/>
            </a:solidFill>
          </a:ln>
        </p:spPr>
        <p:txBody>
          <a:bodyPr wrap="square" lIns="201168" tIns="0" rIns="182880" bIns="0" rtlCol="0" anchor="ctr"/>
          <a:lstStyle/>
          <a:p>
            <a:pPr algn="l"/>
            <a:r>
              <a:rPr sz="1800" b="1">
                <a:solidFill>
                  <a:srgbClr val="002869"/>
                </a:solidFill>
                <a:latin typeface="Gartner Sans"/>
                <a:ea typeface="Gartner Sans"/>
                <a:cs typeface="Gartner Sans"/>
              </a:rPr>
              <a:t>What changes</a:t>
            </a:r>
          </a:p>
        </p:txBody>
      </p:sp>
      <p:sp>
        <p:nvSpPr>
          <p:cNvPr id="11" name="Card body"/>
          <p:cNvSpPr/>
          <p:nvPr/>
        </p:nvSpPr>
        <p:spPr>
          <a:xfrm>
            <a:off x="552297" y="1828800"/>
            <a:ext cx="3532632" cy="2743200"/>
          </a:xfrm>
          <a:prstGeom prst="rect">
            <a:avLst/>
          </a:prstGeom>
          <a:solidFill>
            <a:srgbClr val="FFFFFF"/>
          </a:solidFill>
          <a:ln w="12700">
            <a:solidFill>
              <a:srgbClr val="D0D7DF"/>
            </a:solidFill>
          </a:ln>
        </p:spPr>
        <p:txBody>
          <a:bodyPr wrap="square" lIns="228600" tIns="182880" rIns="182880" bIns="109728" rtlCol="0" anchor="t"/>
          <a:lstStyle/>
          <a:p>
            <a:pPr marL="171450" indent="-171450" algn="l">
              <a:buFont typeface="Arial"/>
              <a:buChar char="•"/>
            </a:pPr>
            <a:r>
              <a:rPr sz="1400" b="0">
                <a:solidFill>
                  <a:srgbClr val="152230"/>
                </a:solidFill>
                <a:latin typeface="Gartner Sans"/>
                <a:ea typeface="Gartner Sans"/>
                <a:cs typeface="Gartner Sans"/>
              </a:rPr>
              <a:t>Fixed planning, sprint and release cycles</a:t>
            </a:r>
          </a:p>
          <a:p>
            <a:pPr marL="171450" indent="-171450" algn="l">
              <a:spcBef>
                <a:spcPts val="600"/>
              </a:spcBef>
              <a:buFont typeface="Arial"/>
              <a:buChar char="•"/>
            </a:pPr>
            <a:r>
              <a:rPr sz="1400" b="0">
                <a:solidFill>
                  <a:srgbClr val="152230"/>
                </a:solidFill>
                <a:latin typeface="Gartner Sans"/>
                <a:ea typeface="Gartner Sans"/>
                <a:cs typeface="Gartner Sans"/>
              </a:rPr>
              <a:t>Strict role boundaries and large teams</a:t>
            </a:r>
          </a:p>
          <a:p>
            <a:pPr marL="171450" indent="-171450" algn="l">
              <a:spcBef>
                <a:spcPts val="600"/>
              </a:spcBef>
              <a:buFont typeface="Arial"/>
              <a:buChar char="•"/>
            </a:pPr>
            <a:r>
              <a:rPr sz="1400" b="0">
                <a:solidFill>
                  <a:srgbClr val="152230"/>
                </a:solidFill>
                <a:latin typeface="Gartner Sans"/>
                <a:ea typeface="Gartner Sans"/>
                <a:cs typeface="Gartner Sans"/>
              </a:rPr>
              <a:t>A sequential, phase-based SDLC</a:t>
            </a:r>
          </a:p>
          <a:p>
            <a:pPr marL="171450" indent="-171450" algn="l">
              <a:spcBef>
                <a:spcPts val="600"/>
              </a:spcBef>
              <a:buFont typeface="Arial"/>
              <a:buChar char="•"/>
            </a:pPr>
            <a:r>
              <a:rPr sz="1400" b="0">
                <a:solidFill>
                  <a:srgbClr val="152230"/>
                </a:solidFill>
                <a:latin typeface="Gartner Sans"/>
                <a:ea typeface="Gartner Sans"/>
                <a:cs typeface="Gartner Sans"/>
              </a:rPr>
              <a:t>Tracking of activity metrics, such as story points and velocity</a:t>
            </a:r>
          </a:p>
        </p:txBody>
      </p:sp>
      <p:sp>
        <p:nvSpPr>
          <p:cNvPr id="12" name="Card heading"/>
          <p:cNvSpPr/>
          <p:nvPr/>
        </p:nvSpPr>
        <p:spPr>
          <a:xfrm>
            <a:off x="4359249" y="1325880"/>
            <a:ext cx="3532632" cy="502920"/>
          </a:xfrm>
          <a:prstGeom prst="rect">
            <a:avLst/>
          </a:prstGeom>
          <a:solidFill>
            <a:srgbClr val="F0F7FD"/>
          </a:solidFill>
          <a:ln w="12700">
            <a:solidFill>
              <a:srgbClr val="D0D7DF"/>
            </a:solidFill>
          </a:ln>
        </p:spPr>
        <p:txBody>
          <a:bodyPr wrap="square" lIns="201168" tIns="0" rIns="182880" bIns="0" rtlCol="0" anchor="ctr"/>
          <a:lstStyle/>
          <a:p>
            <a:pPr algn="l"/>
            <a:r>
              <a:rPr sz="1800" b="1">
                <a:solidFill>
                  <a:srgbClr val="002869"/>
                </a:solidFill>
                <a:latin typeface="Gartner Sans"/>
                <a:ea typeface="Gartner Sans"/>
                <a:cs typeface="Gartner Sans"/>
              </a:rPr>
              <a:t>Steps to remove</a:t>
            </a:r>
          </a:p>
        </p:txBody>
      </p:sp>
      <p:sp>
        <p:nvSpPr>
          <p:cNvPr id="13" name="Card body"/>
          <p:cNvSpPr/>
          <p:nvPr/>
        </p:nvSpPr>
        <p:spPr>
          <a:xfrm>
            <a:off x="4359249" y="1828800"/>
            <a:ext cx="3532632" cy="2743200"/>
          </a:xfrm>
          <a:prstGeom prst="rect">
            <a:avLst/>
          </a:prstGeom>
          <a:solidFill>
            <a:srgbClr val="FFFFFF"/>
          </a:solidFill>
          <a:ln w="12700">
            <a:solidFill>
              <a:srgbClr val="D0D7DF"/>
            </a:solidFill>
          </a:ln>
        </p:spPr>
        <p:txBody>
          <a:bodyPr wrap="square" lIns="228600" tIns="182880" rIns="182880" bIns="109728" rtlCol="0" anchor="t"/>
          <a:lstStyle/>
          <a:p>
            <a:pPr marL="171450" indent="-171450" algn="l">
              <a:buFont typeface="Arial"/>
              <a:buChar char="•"/>
            </a:pPr>
            <a:r>
              <a:rPr sz="1400" b="0">
                <a:solidFill>
                  <a:srgbClr val="152230"/>
                </a:solidFill>
                <a:latin typeface="Gartner Sans"/>
                <a:ea typeface="Gartner Sans"/>
                <a:cs typeface="Gartner Sans"/>
              </a:rPr>
              <a:t>Large-scale manual testing</a:t>
            </a:r>
          </a:p>
          <a:p>
            <a:pPr marL="171450" indent="-171450" algn="l">
              <a:spcBef>
                <a:spcPts val="600"/>
              </a:spcBef>
              <a:buFont typeface="Arial"/>
              <a:buChar char="•"/>
            </a:pPr>
            <a:r>
              <a:rPr sz="1400" b="0">
                <a:solidFill>
                  <a:srgbClr val="152230"/>
                </a:solidFill>
                <a:latin typeface="Gartner Sans"/>
                <a:ea typeface="Gartner Sans"/>
                <a:cs typeface="Gartner Sans"/>
              </a:rPr>
              <a:t>Tickets to provision development and test environments</a:t>
            </a:r>
          </a:p>
          <a:p>
            <a:pPr marL="171450" indent="-171450" algn="l">
              <a:spcBef>
                <a:spcPts val="600"/>
              </a:spcBef>
              <a:buFont typeface="Arial"/>
              <a:buChar char="•"/>
            </a:pPr>
            <a:r>
              <a:rPr sz="1400" b="0">
                <a:solidFill>
                  <a:srgbClr val="152230"/>
                </a:solidFill>
                <a:latin typeface="Gartner Sans"/>
                <a:ea typeface="Gartner Sans"/>
                <a:cs typeface="Gartner Sans"/>
              </a:rPr>
              <a:t>Routine, repetitive human approvals</a:t>
            </a:r>
          </a:p>
        </p:txBody>
      </p:sp>
      <p:sp>
        <p:nvSpPr>
          <p:cNvPr id="14" name="Card heading"/>
          <p:cNvSpPr/>
          <p:nvPr/>
        </p:nvSpPr>
        <p:spPr>
          <a:xfrm>
            <a:off x="8166201" y="1325880"/>
            <a:ext cx="3532632"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What stays</a:t>
            </a:r>
          </a:p>
        </p:txBody>
      </p:sp>
      <p:sp>
        <p:nvSpPr>
          <p:cNvPr id="15" name="Card body"/>
          <p:cNvSpPr/>
          <p:nvPr/>
        </p:nvSpPr>
        <p:spPr>
          <a:xfrm>
            <a:off x="8166201" y="1828800"/>
            <a:ext cx="3532632" cy="274320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400" b="0">
                <a:solidFill>
                  <a:srgbClr val="152230"/>
                </a:solidFill>
                <a:latin typeface="Gartner Sans"/>
                <a:ea typeface="Gartner Sans"/>
                <a:cs typeface="Gartner Sans"/>
              </a:rPr>
              <a:t>Iterative and continuous delivery</a:t>
            </a:r>
          </a:p>
          <a:p>
            <a:pPr marL="171450" indent="-171450" algn="l">
              <a:spcBef>
                <a:spcPts val="600"/>
              </a:spcBef>
              <a:buFont typeface="Arial"/>
              <a:buChar char="•"/>
            </a:pPr>
            <a:r>
              <a:rPr sz="1400" b="0">
                <a:solidFill>
                  <a:srgbClr val="152230"/>
                </a:solidFill>
                <a:latin typeface="Gartner Sans"/>
                <a:ea typeface="Gartner Sans"/>
                <a:cs typeface="Gartner Sans"/>
              </a:rPr>
              <a:t>Business intent, prioritisation and stakeholder feedback</a:t>
            </a:r>
          </a:p>
          <a:p>
            <a:pPr marL="171450" indent="-171450" algn="l">
              <a:spcBef>
                <a:spcPts val="600"/>
              </a:spcBef>
              <a:buFont typeface="Arial"/>
              <a:buChar char="•"/>
            </a:pPr>
            <a:r>
              <a:rPr sz="1400" b="0">
                <a:solidFill>
                  <a:srgbClr val="152230"/>
                </a:solidFill>
                <a:latin typeface="Gartner Sans"/>
                <a:ea typeface="Gartner Sans"/>
                <a:cs typeface="Gartner Sans"/>
              </a:rPr>
              <a:t>Accountability for business outcomes</a:t>
            </a:r>
          </a:p>
          <a:p>
            <a:pPr marL="171450" indent="-171450" algn="l">
              <a:spcBef>
                <a:spcPts val="600"/>
              </a:spcBef>
              <a:buFont typeface="Arial"/>
              <a:buChar char="•"/>
            </a:pPr>
            <a:r>
              <a:rPr sz="1400" b="0">
                <a:solidFill>
                  <a:srgbClr val="152230"/>
                </a:solidFill>
                <a:latin typeface="Gartner Sans"/>
                <a:ea typeface="Gartner Sans"/>
                <a:cs typeface="Gartner Sans"/>
              </a:rPr>
              <a:t>Non-negotiable quality, security and governance controls</a:t>
            </a:r>
          </a:p>
          <a:p>
            <a:pPr marL="171450" indent="-171450" algn="l">
              <a:spcBef>
                <a:spcPts val="600"/>
              </a:spcBef>
              <a:buFont typeface="Arial"/>
              <a:buChar char="•"/>
            </a:pPr>
            <a:r>
              <a:rPr sz="1400" b="0">
                <a:solidFill>
                  <a:srgbClr val="152230"/>
                </a:solidFill>
                <a:latin typeface="Gartner Sans"/>
                <a:ea typeface="Gartner Sans"/>
                <a:cs typeface="Gartner Sans"/>
              </a:rPr>
              <a:t>User empathy and change management</a:t>
            </a:r>
          </a:p>
        </p:txBody>
      </p:sp>
      <p:sp>
        <p:nvSpPr>
          <p:cNvPr id="16" name="Note"/>
          <p:cNvSpPr/>
          <p:nvPr/>
        </p:nvSpPr>
        <p:spPr>
          <a:xfrm>
            <a:off x="552297" y="4846320"/>
            <a:ext cx="11146536" cy="914400"/>
          </a:xfrm>
          <a:prstGeom prst="rect">
            <a:avLst/>
          </a:prstGeom>
          <a:solidFill>
            <a:srgbClr val="F0F7FD"/>
          </a:solidFill>
          <a:ln>
            <a:noFill/>
          </a:ln>
        </p:spPr>
        <p:txBody>
          <a:bodyPr wrap="square" lIns="228600" rIns="228600" rtlCol="0" anchor="ctr"/>
          <a:lstStyle/>
          <a:p>
            <a:pPr algn="l"/>
            <a:r>
              <a:rPr sz="1750" b="1">
                <a:solidFill>
                  <a:srgbClr val="002869"/>
                </a:solidFill>
                <a:latin typeface="Gartner Sans"/>
                <a:ea typeface="Gartner Sans"/>
                <a:cs typeface="Gartner Sans"/>
              </a:rPr>
              <a:t>Test each step. </a:t>
            </a:r>
            <a:r>
              <a:rPr sz="1750" b="0">
                <a:solidFill>
                  <a:srgbClr val="152230"/>
                </a:solidFill>
                <a:latin typeface="Gartner Sans"/>
                <a:ea typeface="Gartner Sans"/>
                <a:cs typeface="Gartner Sans"/>
              </a:rPr>
              <a:t>Ask why the process exists. Remove it if it only adds wait time. Keep the controls that improve quality, flow or risk management.</a:t>
            </a:r>
          </a:p>
        </p:txBody>
      </p:sp>
      <p:sp>
        <p:nvSpPr>
          <p:cNvPr id="17"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G00857393 (Figure 2, adapted from CBRE); G00843405 (steps to remove)</a:t>
            </a:r>
          </a:p>
        </p:txBody>
      </p:sp>
    </p:spTree>
    <p:extLst>
      <p:ext uri="{BB962C8B-B14F-4D97-AF65-F5344CB8AC3E}">
        <p14:creationId xmlns:p14="http://schemas.microsoft.com/office/powerpoint/2010/main" val="3000000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The engineer's inner loop becomes agentic</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43</a:t>
            </a:r>
          </a:p>
        </p:txBody>
      </p:sp>
      <p:sp>
        <p:nvSpPr>
          <p:cNvPr id="10" name="Number 1"/>
          <p:cNvSpPr/>
          <p:nvPr/>
        </p:nvSpPr>
        <p:spPr>
          <a:xfrm>
            <a:off x="552297" y="1727073"/>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1" name="Point 1"/>
          <p:cNvSpPr txBox="1"/>
          <p:nvPr/>
        </p:nvSpPr>
        <p:spPr>
          <a:xfrm>
            <a:off x="1027785" y="1399032"/>
            <a:ext cx="501091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People articulate intent. Agents implement and return the work.</a:t>
            </a:r>
          </a:p>
        </p:txBody>
      </p:sp>
      <p:cxnSp>
        <p:nvCxnSpPr>
          <p:cNvPr id="12" name="Divider"/>
          <p:cNvCxnSpPr/>
          <p:nvPr/>
        </p:nvCxnSpPr>
        <p:spPr>
          <a:xfrm>
            <a:off x="552297" y="2439162"/>
            <a:ext cx="5486400" cy="0"/>
          </a:xfrm>
          <a:prstGeom prst="line">
            <a:avLst/>
          </a:prstGeom>
          <a:ln w="9525">
            <a:solidFill>
              <a:srgbClr val="D0D7DF"/>
            </a:solidFill>
          </a:ln>
        </p:spPr>
      </p:cxnSp>
      <p:sp>
        <p:nvSpPr>
          <p:cNvPr id="13" name="Number 2"/>
          <p:cNvSpPr/>
          <p:nvPr/>
        </p:nvSpPr>
        <p:spPr>
          <a:xfrm>
            <a:off x="552297" y="2840355"/>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4" name="Point 2"/>
          <p:cNvSpPr txBox="1"/>
          <p:nvPr/>
        </p:nvSpPr>
        <p:spPr>
          <a:xfrm>
            <a:off x="1027785" y="2512314"/>
            <a:ext cx="501091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Agents ground themselves in a context environment of architecture rules and domain knowledge, and update it.</a:t>
            </a:r>
          </a:p>
        </p:txBody>
      </p:sp>
      <p:cxnSp>
        <p:nvCxnSpPr>
          <p:cNvPr id="15" name="Divider"/>
          <p:cNvCxnSpPr/>
          <p:nvPr/>
        </p:nvCxnSpPr>
        <p:spPr>
          <a:xfrm>
            <a:off x="552297" y="3552444"/>
            <a:ext cx="5486400" cy="0"/>
          </a:xfrm>
          <a:prstGeom prst="line">
            <a:avLst/>
          </a:prstGeom>
          <a:ln w="9525">
            <a:solidFill>
              <a:srgbClr val="D0D7DF"/>
            </a:solidFill>
          </a:ln>
        </p:spPr>
      </p:cxnSp>
      <p:sp>
        <p:nvSpPr>
          <p:cNvPr id="16" name="Number 3"/>
          <p:cNvSpPr/>
          <p:nvPr/>
        </p:nvSpPr>
        <p:spPr>
          <a:xfrm>
            <a:off x="552297" y="395363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7" name="Point 3"/>
          <p:cNvSpPr txBox="1"/>
          <p:nvPr/>
        </p:nvSpPr>
        <p:spPr>
          <a:xfrm>
            <a:off x="1027785" y="3625596"/>
            <a:ext cx="501091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People codify that context as structured, version-controlled artefacts.</a:t>
            </a:r>
          </a:p>
        </p:txBody>
      </p:sp>
      <p:cxnSp>
        <p:nvCxnSpPr>
          <p:cNvPr id="18" name="Divider"/>
          <p:cNvCxnSpPr/>
          <p:nvPr/>
        </p:nvCxnSpPr>
        <p:spPr>
          <a:xfrm>
            <a:off x="552297" y="4665726"/>
            <a:ext cx="5486400" cy="0"/>
          </a:xfrm>
          <a:prstGeom prst="line">
            <a:avLst/>
          </a:prstGeom>
          <a:ln w="9525">
            <a:solidFill>
              <a:srgbClr val="D0D7DF"/>
            </a:solidFill>
          </a:ln>
        </p:spPr>
      </p:cxnSp>
      <p:sp>
        <p:nvSpPr>
          <p:cNvPr id="19" name="Number 4"/>
          <p:cNvSpPr/>
          <p:nvPr/>
        </p:nvSpPr>
        <p:spPr>
          <a:xfrm>
            <a:off x="552297" y="5066919"/>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20" name="Point 4"/>
          <p:cNvSpPr txBox="1"/>
          <p:nvPr/>
        </p:nvSpPr>
        <p:spPr>
          <a:xfrm>
            <a:off x="1027785" y="4738878"/>
            <a:ext cx="501091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Without consistent context, agents drift. At Revvity, agents tried to move secrets and API keys into the client.</a:t>
            </a:r>
          </a:p>
        </p:txBody>
      </p:sp>
      <p:sp>
        <p:nvSpPr>
          <p:cNvPr id="21" name="Human"/>
          <p:cNvSpPr/>
          <p:nvPr/>
        </p:nvSpPr>
        <p:spPr>
          <a:xfrm>
            <a:off x="8321040" y="1600200"/>
            <a:ext cx="1828800" cy="594360"/>
          </a:xfrm>
          <a:prstGeom prst="rect">
            <a:avLst/>
          </a:prstGeom>
          <a:solidFill>
            <a:srgbClr val="002869"/>
          </a:solidFill>
          <a:ln>
            <a:noFill/>
          </a:ln>
        </p:spPr>
        <p:txBody>
          <a:bodyPr wrap="square" lIns="109728" tIns="54864" rIns="109728" bIns="54864" rtlCol="0" anchor="ctr"/>
          <a:lstStyle/>
          <a:p>
            <a:pPr algn="ctr"/>
            <a:r>
              <a:rPr sz="1750" b="1">
                <a:solidFill>
                  <a:srgbClr val="FFFFFF"/>
                </a:solidFill>
                <a:latin typeface="Gartner Sans"/>
                <a:ea typeface="Gartner Sans"/>
                <a:cs typeface="Gartner Sans"/>
              </a:rPr>
              <a:t>Human</a:t>
            </a:r>
          </a:p>
        </p:txBody>
      </p:sp>
      <p:sp>
        <p:nvSpPr>
          <p:cNvPr id="22" name="Agent"/>
          <p:cNvSpPr/>
          <p:nvPr/>
        </p:nvSpPr>
        <p:spPr>
          <a:xfrm>
            <a:off x="8321040" y="3108960"/>
            <a:ext cx="1828800" cy="594360"/>
          </a:xfrm>
          <a:prstGeom prst="rect">
            <a:avLst/>
          </a:prstGeom>
          <a:solidFill>
            <a:srgbClr val="002869"/>
          </a:solidFill>
          <a:ln>
            <a:noFill/>
          </a:ln>
        </p:spPr>
        <p:txBody>
          <a:bodyPr wrap="square" lIns="109728" tIns="54864" rIns="109728" bIns="54864" rtlCol="0" anchor="ctr"/>
          <a:lstStyle/>
          <a:p>
            <a:pPr algn="ctr"/>
            <a:r>
              <a:rPr sz="1750" b="1">
                <a:solidFill>
                  <a:srgbClr val="FFFFFF"/>
                </a:solidFill>
                <a:latin typeface="Gartner Sans"/>
                <a:ea typeface="Gartner Sans"/>
                <a:cs typeface="Gartner Sans"/>
              </a:rPr>
              <a:t>Agent</a:t>
            </a:r>
          </a:p>
        </p:txBody>
      </p:sp>
      <p:sp>
        <p:nvSpPr>
          <p:cNvPr id="23" name="Context environment"/>
          <p:cNvSpPr/>
          <p:nvPr/>
        </p:nvSpPr>
        <p:spPr>
          <a:xfrm>
            <a:off x="7863840" y="4617720"/>
            <a:ext cx="2743200" cy="1051560"/>
          </a:xfrm>
          <a:prstGeom prst="rect">
            <a:avLst/>
          </a:prstGeom>
          <a:solidFill>
            <a:srgbClr val="F0F7FD"/>
          </a:solidFill>
          <a:ln w="12700">
            <a:solidFill>
              <a:srgbClr val="002869"/>
            </a:solidFill>
          </a:ln>
        </p:spPr>
        <p:txBody>
          <a:bodyPr wrap="square" lIns="109728" tIns="54864" rIns="109728" bIns="54864" rtlCol="0" anchor="ctr"/>
          <a:lstStyle/>
          <a:p>
            <a:pPr algn="ctr"/>
            <a:r>
              <a:rPr sz="1800" b="1">
                <a:solidFill>
                  <a:srgbClr val="002869"/>
                </a:solidFill>
                <a:latin typeface="Gartner Sans"/>
                <a:ea typeface="Gartner Sans"/>
                <a:cs typeface="Gartner Sans"/>
              </a:rPr>
              <a:t>Context environment</a:t>
            </a:r>
          </a:p>
          <a:p>
            <a:pPr algn="ctr"/>
            <a:r>
              <a:rPr sz="1800" b="0">
                <a:solidFill>
                  <a:srgbClr val="152230"/>
                </a:solidFill>
                <a:latin typeface="Gartner Sans"/>
                <a:ea typeface="Gartner Sans"/>
                <a:cs typeface="Gartner Sans"/>
              </a:rPr>
              <a:t>Architecture rules</a:t>
            </a:r>
          </a:p>
          <a:p>
            <a:pPr algn="ctr"/>
            <a:r>
              <a:rPr sz="1800" b="0">
                <a:solidFill>
                  <a:srgbClr val="152230"/>
                </a:solidFill>
                <a:latin typeface="Gartner Sans"/>
                <a:ea typeface="Gartner Sans"/>
                <a:cs typeface="Gartner Sans"/>
              </a:rPr>
              <a:t>Domain knowledge</a:t>
            </a:r>
          </a:p>
        </p:txBody>
      </p:sp>
      <p:cxnSp>
        <p:nvCxnSpPr>
          <p:cNvPr id="24" name="Line"/>
          <p:cNvCxnSpPr/>
          <p:nvPr/>
        </p:nvCxnSpPr>
        <p:spPr>
          <a:xfrm>
            <a:off x="9601200" y="2240280"/>
            <a:ext cx="0" cy="822960"/>
          </a:xfrm>
          <a:prstGeom prst="line">
            <a:avLst/>
          </a:prstGeom>
          <a:ln w="25400">
            <a:solidFill>
              <a:srgbClr val="002869"/>
            </a:solidFill>
            <a:tailEnd type="triangle" w="med" len="med"/>
          </a:ln>
        </p:spPr>
      </p:cxnSp>
      <p:sp>
        <p:nvSpPr>
          <p:cNvPr id="25" name="Label"/>
          <p:cNvSpPr txBox="1"/>
          <p:nvPr/>
        </p:nvSpPr>
        <p:spPr>
          <a:xfrm>
            <a:off x="9738359" y="2505456"/>
            <a:ext cx="1463040" cy="274320"/>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Articulates intent</a:t>
            </a:r>
          </a:p>
        </p:txBody>
      </p:sp>
      <p:cxnSp>
        <p:nvCxnSpPr>
          <p:cNvPr id="26" name="Line"/>
          <p:cNvCxnSpPr/>
          <p:nvPr/>
        </p:nvCxnSpPr>
        <p:spPr>
          <a:xfrm flipV="1">
            <a:off x="8869680" y="2240280"/>
            <a:ext cx="0" cy="822960"/>
          </a:xfrm>
          <a:prstGeom prst="line">
            <a:avLst/>
          </a:prstGeom>
          <a:ln w="25400">
            <a:solidFill>
              <a:srgbClr val="002869"/>
            </a:solidFill>
            <a:tailEnd type="triangle" w="med" len="med"/>
          </a:ln>
        </p:spPr>
      </p:cxnSp>
      <p:sp>
        <p:nvSpPr>
          <p:cNvPr id="27" name="Label"/>
          <p:cNvSpPr txBox="1"/>
          <p:nvPr/>
        </p:nvSpPr>
        <p:spPr>
          <a:xfrm>
            <a:off x="7680959" y="2505456"/>
            <a:ext cx="1078992" cy="274320"/>
          </a:xfrm>
          <a:prstGeom prst="rect">
            <a:avLst/>
          </a:prstGeom>
          <a:noFill/>
        </p:spPr>
        <p:txBody>
          <a:bodyPr wrap="square" lIns="0" tIns="0" rIns="0" bIns="0" anchor="t">
            <a:spAutoFit/>
          </a:bodyPr>
          <a:lstStyle/>
          <a:p>
            <a:pPr algn="r"/>
            <a:r>
              <a:rPr sz="1550" b="0">
                <a:solidFill>
                  <a:srgbClr val="152230"/>
                </a:solidFill>
                <a:latin typeface="Gartner Sans"/>
                <a:ea typeface="Gartner Sans"/>
                <a:cs typeface="Gartner Sans"/>
              </a:rPr>
              <a:t>Implements</a:t>
            </a:r>
          </a:p>
        </p:txBody>
      </p:sp>
      <p:cxnSp>
        <p:nvCxnSpPr>
          <p:cNvPr id="28" name="Line"/>
          <p:cNvCxnSpPr/>
          <p:nvPr/>
        </p:nvCxnSpPr>
        <p:spPr>
          <a:xfrm>
            <a:off x="8869680" y="3749039"/>
            <a:ext cx="0" cy="822961"/>
          </a:xfrm>
          <a:prstGeom prst="line">
            <a:avLst/>
          </a:prstGeom>
          <a:ln w="19050">
            <a:solidFill>
              <a:srgbClr val="002869"/>
            </a:solidFill>
            <a:prstDash val="dash"/>
            <a:tailEnd type="triangle" w="med" len="med"/>
          </a:ln>
        </p:spPr>
      </p:cxnSp>
      <p:sp>
        <p:nvSpPr>
          <p:cNvPr id="29" name="Label"/>
          <p:cNvSpPr txBox="1"/>
          <p:nvPr/>
        </p:nvSpPr>
        <p:spPr>
          <a:xfrm>
            <a:off x="7680959" y="4014215"/>
            <a:ext cx="1078992" cy="274320"/>
          </a:xfrm>
          <a:prstGeom prst="rect">
            <a:avLst/>
          </a:prstGeom>
          <a:noFill/>
        </p:spPr>
        <p:txBody>
          <a:bodyPr wrap="square" lIns="0" tIns="0" rIns="0" bIns="0" anchor="t">
            <a:spAutoFit/>
          </a:bodyPr>
          <a:lstStyle/>
          <a:p>
            <a:pPr algn="r"/>
            <a:r>
              <a:rPr sz="1550" b="0">
                <a:solidFill>
                  <a:srgbClr val="152230"/>
                </a:solidFill>
                <a:latin typeface="Gartner Sans"/>
                <a:ea typeface="Gartner Sans"/>
                <a:cs typeface="Gartner Sans"/>
              </a:rPr>
              <a:t>Updates</a:t>
            </a:r>
          </a:p>
        </p:txBody>
      </p:sp>
      <p:cxnSp>
        <p:nvCxnSpPr>
          <p:cNvPr id="30" name="Line"/>
          <p:cNvCxnSpPr/>
          <p:nvPr/>
        </p:nvCxnSpPr>
        <p:spPr>
          <a:xfrm flipV="1">
            <a:off x="9601200" y="3749039"/>
            <a:ext cx="0" cy="822961"/>
          </a:xfrm>
          <a:prstGeom prst="line">
            <a:avLst/>
          </a:prstGeom>
          <a:ln w="19050">
            <a:solidFill>
              <a:srgbClr val="002869"/>
            </a:solidFill>
            <a:prstDash val="dash"/>
            <a:tailEnd type="triangle" w="med" len="med"/>
          </a:ln>
        </p:spPr>
      </p:cxnSp>
      <p:sp>
        <p:nvSpPr>
          <p:cNvPr id="31" name="Label"/>
          <p:cNvSpPr txBox="1"/>
          <p:nvPr/>
        </p:nvSpPr>
        <p:spPr>
          <a:xfrm>
            <a:off x="9738359" y="4014215"/>
            <a:ext cx="1097280" cy="274320"/>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Grounds</a:t>
            </a:r>
          </a:p>
        </p:txBody>
      </p:sp>
      <p:cxnSp>
        <p:nvCxnSpPr>
          <p:cNvPr id="32" name="Line"/>
          <p:cNvCxnSpPr/>
          <p:nvPr/>
        </p:nvCxnSpPr>
        <p:spPr>
          <a:xfrm flipH="1">
            <a:off x="7452359" y="1892807"/>
            <a:ext cx="868681" cy="0"/>
          </a:xfrm>
          <a:prstGeom prst="line">
            <a:avLst/>
          </a:prstGeom>
          <a:ln w="19050">
            <a:solidFill>
              <a:srgbClr val="002869"/>
            </a:solidFill>
            <a:prstDash val="dash"/>
          </a:ln>
        </p:spPr>
      </p:cxnSp>
      <p:cxnSp>
        <p:nvCxnSpPr>
          <p:cNvPr id="33" name="Line"/>
          <p:cNvCxnSpPr/>
          <p:nvPr/>
        </p:nvCxnSpPr>
        <p:spPr>
          <a:xfrm>
            <a:off x="7452359" y="1892807"/>
            <a:ext cx="0" cy="3246121"/>
          </a:xfrm>
          <a:prstGeom prst="line">
            <a:avLst/>
          </a:prstGeom>
          <a:ln w="19050">
            <a:solidFill>
              <a:srgbClr val="002869"/>
            </a:solidFill>
            <a:prstDash val="dash"/>
          </a:ln>
        </p:spPr>
      </p:cxnSp>
      <p:cxnSp>
        <p:nvCxnSpPr>
          <p:cNvPr id="34" name="Line"/>
          <p:cNvCxnSpPr/>
          <p:nvPr/>
        </p:nvCxnSpPr>
        <p:spPr>
          <a:xfrm>
            <a:off x="7452359" y="5138928"/>
            <a:ext cx="365761" cy="0"/>
          </a:xfrm>
          <a:prstGeom prst="line">
            <a:avLst/>
          </a:prstGeom>
          <a:ln w="19050">
            <a:solidFill>
              <a:srgbClr val="002869"/>
            </a:solidFill>
            <a:prstDash val="dash"/>
            <a:tailEnd type="triangle" w="med" len="med"/>
          </a:ln>
        </p:spPr>
      </p:cxnSp>
      <p:sp>
        <p:nvSpPr>
          <p:cNvPr id="35" name="Label"/>
          <p:cNvSpPr txBox="1"/>
          <p:nvPr/>
        </p:nvSpPr>
        <p:spPr>
          <a:xfrm>
            <a:off x="7543800" y="3273552"/>
            <a:ext cx="731520" cy="274320"/>
          </a:xfrm>
          <a:prstGeom prst="rect">
            <a:avLst/>
          </a:prstGeom>
          <a:noFill/>
        </p:spPr>
        <p:txBody>
          <a:bodyPr wrap="square" lIns="0" tIns="0" rIns="0" bIns="0" anchor="t">
            <a:spAutoFit/>
          </a:bodyPr>
          <a:lstStyle/>
          <a:p>
            <a:pPr algn="l"/>
            <a:r>
              <a:rPr sz="1500" b="0">
                <a:solidFill>
                  <a:srgbClr val="152230"/>
                </a:solidFill>
                <a:latin typeface="Gartner Sans"/>
                <a:ea typeface="Gartner Sans"/>
                <a:cs typeface="Gartner Sans"/>
              </a:rPr>
              <a:t>Codifies</a:t>
            </a:r>
          </a:p>
        </p:txBody>
      </p:sp>
      <p:sp>
        <p:nvSpPr>
          <p:cNvPr id="36"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G00850352 (Figure 2)</a:t>
            </a:r>
          </a:p>
        </p:txBody>
      </p:sp>
    </p:spTree>
    <p:extLst>
      <p:ext uri="{BB962C8B-B14F-4D97-AF65-F5344CB8AC3E}">
        <p14:creationId xmlns:p14="http://schemas.microsoft.com/office/powerpoint/2010/main" val="3000000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Work becomes asynchronous and parallel</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44</a:t>
            </a:r>
          </a:p>
        </p:txBody>
      </p:sp>
      <p:sp>
        <p:nvSpPr>
          <p:cNvPr id="10" name="Diagram heading"/>
          <p:cNvSpPr txBox="1"/>
          <p:nvPr/>
        </p:nvSpPr>
        <p:spPr>
          <a:xfrm>
            <a:off x="552297" y="1325880"/>
            <a:ext cx="6949440"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Agents work in parallel with a human in the loop</a:t>
            </a:r>
          </a:p>
        </p:txBody>
      </p:sp>
      <p:sp>
        <p:nvSpPr>
          <p:cNvPr id="11" name="Engineer start"/>
          <p:cNvSpPr/>
          <p:nvPr/>
        </p:nvSpPr>
        <p:spPr>
          <a:xfrm>
            <a:off x="552297" y="2788920"/>
            <a:ext cx="1737360" cy="1188720"/>
          </a:xfrm>
          <a:prstGeom prst="rect">
            <a:avLst/>
          </a:prstGeom>
          <a:solidFill>
            <a:srgbClr val="002869"/>
          </a:solidFill>
          <a:ln>
            <a:noFill/>
          </a:ln>
        </p:spPr>
        <p:txBody>
          <a:bodyPr wrap="square" lIns="109728" tIns="54864" rIns="109728" bIns="54864" rtlCol="0" anchor="ctr"/>
          <a:lstStyle/>
          <a:p>
            <a:pPr algn="ctr"/>
            <a:r>
              <a:rPr sz="1250" b="1">
                <a:solidFill>
                  <a:srgbClr val="FFFFFF"/>
                </a:solidFill>
                <a:latin typeface="Gartner Sans"/>
                <a:ea typeface="Gartner Sans"/>
                <a:cs typeface="Gartner Sans"/>
              </a:rPr>
              <a:t>Engineer</a:t>
            </a:r>
          </a:p>
          <a:p>
            <a:pPr algn="ctr"/>
            <a:r>
              <a:rPr sz="1250" b="0">
                <a:solidFill>
                  <a:srgbClr val="FFFFFF"/>
                </a:solidFill>
                <a:latin typeface="Gartner Sans"/>
                <a:ea typeface="Gartner Sans"/>
                <a:cs typeface="Gartner Sans"/>
              </a:rPr>
              <a:t>Articulates intent and orchestrates agents</a:t>
            </a:r>
          </a:p>
        </p:txBody>
      </p:sp>
      <p:sp>
        <p:nvSpPr>
          <p:cNvPr id="12" name="Engineer end"/>
          <p:cNvSpPr/>
          <p:nvPr/>
        </p:nvSpPr>
        <p:spPr>
          <a:xfrm>
            <a:off x="5764377" y="2788920"/>
            <a:ext cx="1737360" cy="1188720"/>
          </a:xfrm>
          <a:prstGeom prst="rect">
            <a:avLst/>
          </a:prstGeom>
          <a:solidFill>
            <a:srgbClr val="002869"/>
          </a:solidFill>
          <a:ln>
            <a:noFill/>
          </a:ln>
        </p:spPr>
        <p:txBody>
          <a:bodyPr wrap="square" lIns="109728" tIns="54864" rIns="109728" bIns="54864" rtlCol="0" anchor="ctr"/>
          <a:lstStyle/>
          <a:p>
            <a:pPr algn="ctr"/>
            <a:r>
              <a:rPr sz="1250" b="1">
                <a:solidFill>
                  <a:srgbClr val="FFFFFF"/>
                </a:solidFill>
                <a:latin typeface="Gartner Sans"/>
                <a:ea typeface="Gartner Sans"/>
                <a:cs typeface="Gartner Sans"/>
              </a:rPr>
              <a:t>Engineer</a:t>
            </a:r>
          </a:p>
          <a:p>
            <a:pPr algn="ctr"/>
            <a:r>
              <a:rPr sz="1250" b="0">
                <a:solidFill>
                  <a:srgbClr val="FFFFFF"/>
                </a:solidFill>
                <a:latin typeface="Gartner Sans"/>
                <a:ea typeface="Gartner Sans"/>
                <a:cs typeface="Gartner Sans"/>
              </a:rPr>
              <a:t>Reviews output and stays accountable</a:t>
            </a:r>
          </a:p>
        </p:txBody>
      </p:sp>
      <p:sp>
        <p:nvSpPr>
          <p:cNvPr id="13" name="Agent task 1"/>
          <p:cNvSpPr/>
          <p:nvPr/>
        </p:nvSpPr>
        <p:spPr>
          <a:xfrm>
            <a:off x="2792577" y="1783080"/>
            <a:ext cx="2468880" cy="640080"/>
          </a:xfrm>
          <a:prstGeom prst="rect">
            <a:avLst/>
          </a:prstGeom>
          <a:solidFill>
            <a:srgbClr val="F0F7FD"/>
          </a:solidFill>
          <a:ln>
            <a:noFill/>
          </a:ln>
        </p:spPr>
        <p:txBody>
          <a:bodyPr wrap="square" lIns="109728" tIns="54864" rIns="109728" bIns="54864" rtlCol="0" anchor="ctr"/>
          <a:lstStyle/>
          <a:p>
            <a:pPr algn="ctr"/>
            <a:r>
              <a:rPr sz="1450" b="1">
                <a:solidFill>
                  <a:srgbClr val="002869"/>
                </a:solidFill>
                <a:latin typeface="Gartner Sans"/>
                <a:ea typeface="Gartner Sans"/>
                <a:cs typeface="Gartner Sans"/>
              </a:rPr>
              <a:t>Automated code review</a:t>
            </a:r>
          </a:p>
        </p:txBody>
      </p:sp>
      <p:cxnSp>
        <p:nvCxnSpPr>
          <p:cNvPr id="14" name="Line"/>
          <p:cNvCxnSpPr/>
          <p:nvPr/>
        </p:nvCxnSpPr>
        <p:spPr>
          <a:xfrm flipV="1">
            <a:off x="2335377" y="2103120"/>
            <a:ext cx="411480" cy="1280160"/>
          </a:xfrm>
          <a:prstGeom prst="line">
            <a:avLst/>
          </a:prstGeom>
          <a:ln w="19050">
            <a:solidFill>
              <a:srgbClr val="002869"/>
            </a:solidFill>
            <a:tailEnd type="triangle" w="med" len="med"/>
          </a:ln>
        </p:spPr>
      </p:cxnSp>
      <p:cxnSp>
        <p:nvCxnSpPr>
          <p:cNvPr id="15" name="Line"/>
          <p:cNvCxnSpPr/>
          <p:nvPr/>
        </p:nvCxnSpPr>
        <p:spPr>
          <a:xfrm>
            <a:off x="5307177" y="2103120"/>
            <a:ext cx="411480" cy="1280160"/>
          </a:xfrm>
          <a:prstGeom prst="line">
            <a:avLst/>
          </a:prstGeom>
          <a:ln w="19050">
            <a:solidFill>
              <a:srgbClr val="002869"/>
            </a:solidFill>
            <a:tailEnd type="triangle" w="med" len="med"/>
          </a:ln>
        </p:spPr>
      </p:cxnSp>
      <p:sp>
        <p:nvSpPr>
          <p:cNvPr id="16" name="Agent task 2"/>
          <p:cNvSpPr/>
          <p:nvPr/>
        </p:nvSpPr>
        <p:spPr>
          <a:xfrm>
            <a:off x="2792577" y="2606040"/>
            <a:ext cx="2468880" cy="640080"/>
          </a:xfrm>
          <a:prstGeom prst="rect">
            <a:avLst/>
          </a:prstGeom>
          <a:solidFill>
            <a:srgbClr val="F0F7FD"/>
          </a:solidFill>
          <a:ln>
            <a:noFill/>
          </a:ln>
        </p:spPr>
        <p:txBody>
          <a:bodyPr wrap="square" lIns="109728" tIns="54864" rIns="109728" bIns="54864" rtlCol="0" anchor="ctr"/>
          <a:lstStyle/>
          <a:p>
            <a:pPr algn="ctr"/>
            <a:r>
              <a:rPr sz="1450" b="1">
                <a:solidFill>
                  <a:srgbClr val="002869"/>
                </a:solidFill>
                <a:latin typeface="Gartner Sans"/>
                <a:ea typeface="Gartner Sans"/>
                <a:cs typeface="Gartner Sans"/>
              </a:rPr>
              <a:t>Vulnerability remediation</a:t>
            </a:r>
          </a:p>
        </p:txBody>
      </p:sp>
      <p:cxnSp>
        <p:nvCxnSpPr>
          <p:cNvPr id="17" name="Line"/>
          <p:cNvCxnSpPr/>
          <p:nvPr/>
        </p:nvCxnSpPr>
        <p:spPr>
          <a:xfrm flipV="1">
            <a:off x="2335377" y="2926080"/>
            <a:ext cx="411480" cy="457200"/>
          </a:xfrm>
          <a:prstGeom prst="line">
            <a:avLst/>
          </a:prstGeom>
          <a:ln w="19050">
            <a:solidFill>
              <a:srgbClr val="002869"/>
            </a:solidFill>
            <a:tailEnd type="triangle" w="med" len="med"/>
          </a:ln>
        </p:spPr>
      </p:cxnSp>
      <p:cxnSp>
        <p:nvCxnSpPr>
          <p:cNvPr id="18" name="Line"/>
          <p:cNvCxnSpPr/>
          <p:nvPr/>
        </p:nvCxnSpPr>
        <p:spPr>
          <a:xfrm>
            <a:off x="5307177" y="2926080"/>
            <a:ext cx="411480" cy="457200"/>
          </a:xfrm>
          <a:prstGeom prst="line">
            <a:avLst/>
          </a:prstGeom>
          <a:ln w="19050">
            <a:solidFill>
              <a:srgbClr val="002869"/>
            </a:solidFill>
            <a:tailEnd type="triangle" w="med" len="med"/>
          </a:ln>
        </p:spPr>
      </p:cxnSp>
      <p:sp>
        <p:nvSpPr>
          <p:cNvPr id="19" name="Agent task 3"/>
          <p:cNvSpPr/>
          <p:nvPr/>
        </p:nvSpPr>
        <p:spPr>
          <a:xfrm>
            <a:off x="2792577" y="3429000"/>
            <a:ext cx="2468880" cy="640080"/>
          </a:xfrm>
          <a:prstGeom prst="rect">
            <a:avLst/>
          </a:prstGeom>
          <a:solidFill>
            <a:srgbClr val="F0F7FD"/>
          </a:solidFill>
          <a:ln>
            <a:noFill/>
          </a:ln>
        </p:spPr>
        <p:txBody>
          <a:bodyPr wrap="square" lIns="109728" tIns="54864" rIns="109728" bIns="54864" rtlCol="0" anchor="ctr"/>
          <a:lstStyle/>
          <a:p>
            <a:pPr algn="ctr"/>
            <a:r>
              <a:rPr sz="1450" b="1">
                <a:solidFill>
                  <a:srgbClr val="002869"/>
                </a:solidFill>
                <a:latin typeface="Gartner Sans"/>
                <a:ea typeface="Gartner Sans"/>
                <a:cs typeface="Gartner Sans"/>
              </a:rPr>
              <a:t>Bug fixes from earlier releases</a:t>
            </a:r>
          </a:p>
        </p:txBody>
      </p:sp>
      <p:cxnSp>
        <p:nvCxnSpPr>
          <p:cNvPr id="20" name="Line"/>
          <p:cNvCxnSpPr/>
          <p:nvPr/>
        </p:nvCxnSpPr>
        <p:spPr>
          <a:xfrm>
            <a:off x="2335377" y="3383280"/>
            <a:ext cx="411480" cy="365759"/>
          </a:xfrm>
          <a:prstGeom prst="line">
            <a:avLst/>
          </a:prstGeom>
          <a:ln w="19050">
            <a:solidFill>
              <a:srgbClr val="002869"/>
            </a:solidFill>
            <a:tailEnd type="triangle" w="med" len="med"/>
          </a:ln>
        </p:spPr>
      </p:cxnSp>
      <p:cxnSp>
        <p:nvCxnSpPr>
          <p:cNvPr id="21" name="Line"/>
          <p:cNvCxnSpPr/>
          <p:nvPr/>
        </p:nvCxnSpPr>
        <p:spPr>
          <a:xfrm flipV="1">
            <a:off x="5307177" y="3383280"/>
            <a:ext cx="411480" cy="365759"/>
          </a:xfrm>
          <a:prstGeom prst="line">
            <a:avLst/>
          </a:prstGeom>
          <a:ln w="19050">
            <a:solidFill>
              <a:srgbClr val="002869"/>
            </a:solidFill>
            <a:tailEnd type="triangle" w="med" len="med"/>
          </a:ln>
        </p:spPr>
      </p:cxnSp>
      <p:sp>
        <p:nvSpPr>
          <p:cNvPr id="22" name="Agent task 4"/>
          <p:cNvSpPr/>
          <p:nvPr/>
        </p:nvSpPr>
        <p:spPr>
          <a:xfrm>
            <a:off x="2792577" y="4251960"/>
            <a:ext cx="2468880" cy="640080"/>
          </a:xfrm>
          <a:prstGeom prst="rect">
            <a:avLst/>
          </a:prstGeom>
          <a:solidFill>
            <a:srgbClr val="F0F7FD"/>
          </a:solidFill>
          <a:ln>
            <a:noFill/>
          </a:ln>
        </p:spPr>
        <p:txBody>
          <a:bodyPr wrap="square" lIns="109728" tIns="54864" rIns="109728" bIns="54864" rtlCol="0" anchor="ctr"/>
          <a:lstStyle/>
          <a:p>
            <a:pPr algn="ctr"/>
            <a:r>
              <a:rPr sz="1450" b="1">
                <a:solidFill>
                  <a:srgbClr val="002869"/>
                </a:solidFill>
                <a:latin typeface="Gartner Sans"/>
                <a:ea typeface="Gartner Sans"/>
                <a:cs typeface="Gartner Sans"/>
              </a:rPr>
              <a:t>Refactoring</a:t>
            </a:r>
          </a:p>
        </p:txBody>
      </p:sp>
      <p:cxnSp>
        <p:nvCxnSpPr>
          <p:cNvPr id="23" name="Line"/>
          <p:cNvCxnSpPr/>
          <p:nvPr/>
        </p:nvCxnSpPr>
        <p:spPr>
          <a:xfrm>
            <a:off x="2335377" y="3383280"/>
            <a:ext cx="411480" cy="1188720"/>
          </a:xfrm>
          <a:prstGeom prst="line">
            <a:avLst/>
          </a:prstGeom>
          <a:ln w="19050">
            <a:solidFill>
              <a:srgbClr val="002869"/>
            </a:solidFill>
            <a:tailEnd type="triangle" w="med" len="med"/>
          </a:ln>
        </p:spPr>
      </p:cxnSp>
      <p:cxnSp>
        <p:nvCxnSpPr>
          <p:cNvPr id="24" name="Line"/>
          <p:cNvCxnSpPr/>
          <p:nvPr/>
        </p:nvCxnSpPr>
        <p:spPr>
          <a:xfrm flipV="1">
            <a:off x="5307177" y="3383280"/>
            <a:ext cx="411480" cy="1188720"/>
          </a:xfrm>
          <a:prstGeom prst="line">
            <a:avLst/>
          </a:prstGeom>
          <a:ln w="19050">
            <a:solidFill>
              <a:srgbClr val="002869"/>
            </a:solidFill>
            <a:tailEnd type="triangle" w="med" len="med"/>
          </a:ln>
        </p:spPr>
      </p:cxnSp>
      <p:sp>
        <p:nvSpPr>
          <p:cNvPr id="25" name="Label"/>
          <p:cNvSpPr txBox="1"/>
          <p:nvPr/>
        </p:nvSpPr>
        <p:spPr>
          <a:xfrm>
            <a:off x="2792577" y="5120640"/>
            <a:ext cx="2468880" cy="274320"/>
          </a:xfrm>
          <a:prstGeom prst="rect">
            <a:avLst/>
          </a:prstGeom>
          <a:noFill/>
        </p:spPr>
        <p:txBody>
          <a:bodyPr wrap="square" lIns="0" tIns="0" rIns="0" bIns="0" anchor="t">
            <a:spAutoFit/>
          </a:bodyPr>
          <a:lstStyle/>
          <a:p>
            <a:pPr algn="ctr"/>
            <a:r>
              <a:rPr sz="1450" b="0">
                <a:solidFill>
                  <a:srgbClr val="526273"/>
                </a:solidFill>
                <a:latin typeface="Gartner Sans"/>
                <a:ea typeface="Gartner Sans"/>
                <a:cs typeface="Gartner Sans"/>
              </a:rPr>
              <a:t>Agent tasks</a:t>
            </a:r>
          </a:p>
        </p:txBody>
      </p:sp>
      <p:sp>
        <p:nvSpPr>
          <p:cNvPr id="26" name="Number 1"/>
          <p:cNvSpPr/>
          <p:nvPr/>
        </p:nvSpPr>
        <p:spPr>
          <a:xfrm>
            <a:off x="8001000" y="191262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27" name="Point 1"/>
          <p:cNvSpPr txBox="1"/>
          <p:nvPr/>
        </p:nvSpPr>
        <p:spPr>
          <a:xfrm>
            <a:off x="8476488" y="1388706"/>
            <a:ext cx="3222345" cy="1358723"/>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Agentic coding tools turn AI from a code assistant into a feature builder. Multistep tasks take time, so engineers run several in parallel.</a:t>
            </a:r>
          </a:p>
        </p:txBody>
      </p:sp>
      <p:cxnSp>
        <p:nvCxnSpPr>
          <p:cNvPr id="28" name="Divider"/>
          <p:cNvCxnSpPr/>
          <p:nvPr/>
        </p:nvCxnSpPr>
        <p:spPr>
          <a:xfrm>
            <a:off x="8001000" y="2810256"/>
            <a:ext cx="3697833" cy="0"/>
          </a:xfrm>
          <a:prstGeom prst="line">
            <a:avLst/>
          </a:prstGeom>
          <a:ln w="9525">
            <a:solidFill>
              <a:srgbClr val="D0D7DF"/>
            </a:solidFill>
          </a:ln>
        </p:spPr>
      </p:cxnSp>
      <p:sp>
        <p:nvSpPr>
          <p:cNvPr id="29" name="Number 2"/>
          <p:cNvSpPr/>
          <p:nvPr/>
        </p:nvSpPr>
        <p:spPr>
          <a:xfrm>
            <a:off x="8001000" y="339699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30" name="Point 2"/>
          <p:cNvSpPr txBox="1"/>
          <p:nvPr/>
        </p:nvSpPr>
        <p:spPr>
          <a:xfrm>
            <a:off x="8476488" y="2883408"/>
            <a:ext cx="3222345" cy="1338072"/>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Agents handle maintenance in the background while people focus on feature development.</a:t>
            </a:r>
          </a:p>
        </p:txBody>
      </p:sp>
      <p:cxnSp>
        <p:nvCxnSpPr>
          <p:cNvPr id="31" name="Divider"/>
          <p:cNvCxnSpPr/>
          <p:nvPr/>
        </p:nvCxnSpPr>
        <p:spPr>
          <a:xfrm>
            <a:off x="8001000" y="4294632"/>
            <a:ext cx="3697833" cy="0"/>
          </a:xfrm>
          <a:prstGeom prst="line">
            <a:avLst/>
          </a:prstGeom>
          <a:ln w="9525">
            <a:solidFill>
              <a:srgbClr val="D0D7DF"/>
            </a:solidFill>
          </a:ln>
        </p:spPr>
      </p:cxnSp>
      <p:sp>
        <p:nvSpPr>
          <p:cNvPr id="32" name="Number 3"/>
          <p:cNvSpPr/>
          <p:nvPr/>
        </p:nvSpPr>
        <p:spPr>
          <a:xfrm>
            <a:off x="8001000" y="488137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33" name="Point 3"/>
          <p:cNvSpPr txBox="1"/>
          <p:nvPr/>
        </p:nvSpPr>
        <p:spPr>
          <a:xfrm>
            <a:off x="8476488" y="4367784"/>
            <a:ext cx="3222345" cy="1338072"/>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Agent output is not yet fully consistent or predictable, so human-in-the-loop oversight is mandatory.</a:t>
            </a:r>
          </a:p>
        </p:txBody>
      </p:sp>
      <p:sp>
        <p:nvSpPr>
          <p:cNvPr id="34"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G00843405</a:t>
            </a:r>
          </a:p>
        </p:txBody>
      </p:sp>
    </p:spTree>
    <p:extLst>
      <p:ext uri="{BB962C8B-B14F-4D97-AF65-F5344CB8AC3E}">
        <p14:creationId xmlns:p14="http://schemas.microsoft.com/office/powerpoint/2010/main" val="30000000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Roles compress and teams get smaller</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45</a:t>
            </a:r>
          </a:p>
        </p:txBody>
      </p:sp>
      <p:graphicFrame>
        <p:nvGraphicFramePr>
          <p:cNvPr id="10" name="Table"/>
          <p:cNvGraphicFramePr>
            <a:graphicFrameLocks noGrp="1"/>
          </p:cNvGraphicFramePr>
          <p:nvPr/>
        </p:nvGraphicFramePr>
        <p:xfrm>
          <a:off x="552297" y="1325880"/>
          <a:ext cx="11146536" cy="3017518"/>
        </p:xfrm>
        <a:graphic>
          <a:graphicData uri="http://schemas.openxmlformats.org/drawingml/2006/table">
            <a:tbl>
              <a:tblPr>
                <a:tableStyleId>{2D5ABB26-0587-4C30-8999-92F81FD0307C}</a:tableStyleId>
              </a:tblPr>
              <a:tblGrid>
                <a:gridCol w="30175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5660136">
                  <a:extLst>
                    <a:ext uri="{9D8B030D-6E8A-4147-A177-3AD203B41FA5}">
                      <a16:colId xmlns:a16="http://schemas.microsoft.com/office/drawing/2014/main" val="20002"/>
                    </a:ext>
                  </a:extLst>
                </a:gridCol>
              </a:tblGrid>
              <a:tr h="384048">
                <a:tc>
                  <a:txBody>
                    <a:bodyPr/>
                    <a:lstStyle/>
                    <a:p>
                      <a:pPr algn="l"/>
                      <a:r>
                        <a:rPr sz="1400" b="1">
                          <a:solidFill>
                            <a:srgbClr val="FFFFFF"/>
                          </a:solidFill>
                          <a:latin typeface="Gartner Sans"/>
                          <a:ea typeface="Gartner Sans"/>
                          <a:cs typeface="Gartner Sans"/>
                        </a:rPr>
                        <a:t>Agile team roles</a:t>
                      </a:r>
                    </a:p>
                  </a:txBody>
                  <a:tcPr marL="137160" marR="137160" anchor="ctr">
                    <a:solidFill>
                      <a:srgbClr val="002869"/>
                    </a:solidFill>
                  </a:tcPr>
                </a:tc>
                <a:tc>
                  <a:txBody>
                    <a:bodyPr/>
                    <a:lstStyle/>
                    <a:p>
                      <a:pPr algn="l"/>
                      <a:r>
                        <a:rPr sz="1400" b="1">
                          <a:solidFill>
                            <a:srgbClr val="FFFFFF"/>
                          </a:solidFill>
                          <a:latin typeface="Gartner Sans"/>
                          <a:ea typeface="Gartner Sans"/>
                          <a:cs typeface="Gartner Sans"/>
                        </a:rPr>
                        <a:t>AI-native team role</a:t>
                      </a:r>
                    </a:p>
                  </a:txBody>
                  <a:tcPr marL="137160" marR="137160" anchor="ctr">
                    <a:solidFill>
                      <a:srgbClr val="002869"/>
                    </a:solidFill>
                  </a:tcPr>
                </a:tc>
                <a:tc>
                  <a:txBody>
                    <a:bodyPr/>
                    <a:lstStyle/>
                    <a:p>
                      <a:pPr algn="l"/>
                      <a:r>
                        <a:rPr sz="1400" b="1">
                          <a:solidFill>
                            <a:srgbClr val="FFFFFF"/>
                          </a:solidFill>
                          <a:latin typeface="Gartner Sans"/>
                          <a:ea typeface="Gartner Sans"/>
                          <a:cs typeface="Gartner Sans"/>
                        </a:rPr>
                        <a:t>Responsibilities</a:t>
                      </a:r>
                    </a:p>
                  </a:txBody>
                  <a:tcPr marL="137160" marR="137160" anchor="ctr">
                    <a:solidFill>
                      <a:srgbClr val="002869"/>
                    </a:solidFill>
                  </a:tcPr>
                </a:tc>
                <a:extLst>
                  <a:ext uri="{0D108BD9-81ED-4DB2-BD59-A6C34878D82A}">
                    <a16:rowId xmlns:a16="http://schemas.microsoft.com/office/drawing/2014/main" val="10000"/>
                  </a:ext>
                </a:extLst>
              </a:tr>
              <a:tr h="526694">
                <a:tc>
                  <a:txBody>
                    <a:bodyPr/>
                    <a:lstStyle/>
                    <a:p>
                      <a:pPr algn="l"/>
                      <a:r>
                        <a:rPr sz="1400" b="0">
                          <a:solidFill>
                            <a:srgbClr val="152230"/>
                          </a:solidFill>
                          <a:latin typeface="Gartner Sans"/>
                          <a:ea typeface="Gartner Sans"/>
                          <a:cs typeface="Gartner Sans"/>
                        </a:rPr>
                        <a:t>UX Researcher, UX Designer</a:t>
                      </a:r>
                    </a:p>
                  </a:txBody>
                  <a:tcPr marL="137160" marR="137160" anchor="ctr">
                    <a:lnB w="9525">
                      <a:solidFill>
                        <a:srgbClr val="D0D7DF"/>
                      </a:solidFill>
                    </a:lnB>
                    <a:solidFill>
                      <a:srgbClr val="FFFFFF"/>
                    </a:solidFill>
                  </a:tcPr>
                </a:tc>
                <a:tc>
                  <a:txBody>
                    <a:bodyPr/>
                    <a:lstStyle/>
                    <a:p>
                      <a:pPr algn="l"/>
                      <a:r>
                        <a:rPr sz="1400" b="1">
                          <a:solidFill>
                            <a:srgbClr val="152230"/>
                          </a:solidFill>
                          <a:latin typeface="Gartner Sans"/>
                          <a:ea typeface="Gartner Sans"/>
                          <a:cs typeface="Gartner Sans"/>
                        </a:rPr>
                        <a:t>Product Designer</a:t>
                      </a:r>
                    </a:p>
                  </a:txBody>
                  <a:tcPr marL="137160" marR="137160" anchor="ctr">
                    <a:lnB w="9525">
                      <a:solidFill>
                        <a:srgbClr val="D0D7DF"/>
                      </a:solidFill>
                    </a:lnB>
                    <a:solidFill>
                      <a:srgbClr val="F0F7FD"/>
                    </a:solidFill>
                  </a:tcPr>
                </a:tc>
                <a:tc>
                  <a:txBody>
                    <a:bodyPr/>
                    <a:lstStyle/>
                    <a:p>
                      <a:pPr algn="l"/>
                      <a:r>
                        <a:rPr sz="1400" b="0">
                          <a:solidFill>
                            <a:srgbClr val="152230"/>
                          </a:solidFill>
                          <a:latin typeface="Gartner Sans"/>
                          <a:ea typeface="Gartner Sans"/>
                          <a:cs typeface="Gartner Sans"/>
                        </a:rPr>
                        <a:t>Defines user journeys and workflows. Provides user context to guide AI-generated design. Validates usability against user needs.</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526694">
                <a:tc>
                  <a:txBody>
                    <a:bodyPr/>
                    <a:lstStyle/>
                    <a:p>
                      <a:pPr algn="l"/>
                      <a:r>
                        <a:rPr sz="1400" b="0">
                          <a:solidFill>
                            <a:srgbClr val="152230"/>
                          </a:solidFill>
                          <a:latin typeface="Gartner Sans"/>
                          <a:ea typeface="Gartner Sans"/>
                          <a:cs typeface="Gartner Sans"/>
                        </a:rPr>
                        <a:t>Product Manager, Solution Architect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400" b="1">
                          <a:solidFill>
                            <a:srgbClr val="152230"/>
                          </a:solidFill>
                          <a:latin typeface="Gartner Sans"/>
                          <a:ea typeface="Gartner Sans"/>
                          <a:cs typeface="Gartner Sans"/>
                        </a:rPr>
                        <a:t>Product Architect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400" b="0">
                          <a:solidFill>
                            <a:srgbClr val="152230"/>
                          </a:solidFill>
                          <a:latin typeface="Gartner Sans"/>
                          <a:ea typeface="Gartner Sans"/>
                          <a:cs typeface="Gartner Sans"/>
                        </a:rPr>
                        <a:t>Owns business goals and priorities. Defines system architecture and design. Translates needs into technical blueprints.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526694">
                <a:tc>
                  <a:txBody>
                    <a:bodyPr/>
                    <a:lstStyle/>
                    <a:p>
                      <a:pPr algn="l"/>
                      <a:r>
                        <a:rPr sz="1400" b="0">
                          <a:solidFill>
                            <a:srgbClr val="152230"/>
                          </a:solidFill>
                          <a:latin typeface="Gartner Sans"/>
                          <a:ea typeface="Gartner Sans"/>
                          <a:cs typeface="Gartner Sans"/>
                        </a:rPr>
                        <a:t>Product Owner, Software Engineer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400" b="1">
                          <a:solidFill>
                            <a:srgbClr val="152230"/>
                          </a:solidFill>
                          <a:latin typeface="Gartner Sans"/>
                          <a:ea typeface="Gartner Sans"/>
                          <a:cs typeface="Gartner Sans"/>
                        </a:rPr>
                        <a:t>Product Engineer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400" b="0">
                          <a:solidFill>
                            <a:srgbClr val="152230"/>
                          </a:solidFill>
                          <a:latin typeface="Gartner Sans"/>
                          <a:ea typeface="Gartner Sans"/>
                          <a:cs typeface="Gartner Sans"/>
                        </a:rPr>
                        <a:t>Translates business intent into executable logic. Orchestrates AI agents. Reviews and validates AI-generated outputs.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3"/>
                  </a:ext>
                </a:extLst>
              </a:tr>
              <a:tr h="526694">
                <a:tc>
                  <a:txBody>
                    <a:bodyPr/>
                    <a:lstStyle/>
                    <a:p>
                      <a:pPr algn="l"/>
                      <a:r>
                        <a:rPr sz="1400" b="0">
                          <a:solidFill>
                            <a:srgbClr val="152230"/>
                          </a:solidFill>
                          <a:latin typeface="Gartner Sans"/>
                          <a:ea typeface="Gartner Sans"/>
                          <a:cs typeface="Gartner Sans"/>
                        </a:rPr>
                        <a:t>Quality Engineer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400" b="1">
                          <a:solidFill>
                            <a:srgbClr val="152230"/>
                          </a:solidFill>
                          <a:latin typeface="Gartner Sans"/>
                          <a:ea typeface="Gartner Sans"/>
                          <a:cs typeface="Gartner Sans"/>
                        </a:rPr>
                        <a:t>Quality and Context Engineer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400" b="0">
                          <a:solidFill>
                            <a:srgbClr val="152230"/>
                          </a:solidFill>
                          <a:latin typeface="Gartner Sans"/>
                          <a:ea typeface="Gartner Sans"/>
                          <a:cs typeface="Gartner Sans"/>
                        </a:rPr>
                        <a:t>Enforces test-driven development. Ensures the quality of data and inputs to AI systems. Validates AI-generated outputs for reliability.</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4"/>
                  </a:ext>
                </a:extLst>
              </a:tr>
              <a:tr h="526694">
                <a:tc>
                  <a:txBody>
                    <a:bodyPr/>
                    <a:lstStyle/>
                    <a:p>
                      <a:pPr algn="l"/>
                      <a:r>
                        <a:rPr sz="1400" b="0">
                          <a:solidFill>
                            <a:srgbClr val="152230"/>
                          </a:solidFill>
                          <a:latin typeface="Gartner Sans"/>
                          <a:ea typeface="Gartner Sans"/>
                          <a:cs typeface="Gartner Sans"/>
                        </a:rPr>
                        <a:t>Scrum Master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400" b="1">
                          <a:solidFill>
                            <a:srgbClr val="152230"/>
                          </a:solidFill>
                          <a:latin typeface="Gartner Sans"/>
                          <a:ea typeface="Gartner Sans"/>
                          <a:cs typeface="Gartner Sans"/>
                        </a:rPr>
                        <a:t>Scrum Master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400" b="0">
                          <a:solidFill>
                            <a:srgbClr val="152230"/>
                          </a:solidFill>
                          <a:latin typeface="Gartner Sans"/>
                          <a:ea typeface="Gartner Sans"/>
                          <a:cs typeface="Gartner Sans"/>
                        </a:rPr>
                        <a:t>Manages cross-team dependencies. Tracks delivery risks and keeps the team aligned.</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5"/>
                  </a:ext>
                </a:extLst>
              </a:tr>
            </a:tbl>
          </a:graphicData>
        </a:graphic>
      </p:graphicFrame>
      <p:sp>
        <p:nvSpPr>
          <p:cNvPr id="11" name="Number 1"/>
          <p:cNvSpPr/>
          <p:nvPr/>
        </p:nvSpPr>
        <p:spPr>
          <a:xfrm>
            <a:off x="552297" y="468172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2" name="Point 1"/>
          <p:cNvSpPr txBox="1"/>
          <p:nvPr/>
        </p:nvSpPr>
        <p:spPr>
          <a:xfrm>
            <a:off x="991209" y="4700016"/>
            <a:ext cx="2141982" cy="1158911"/>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CBRE moved from teams of 8 to 9 people with strict role boundaries to tiny teams of 3 to 4 people with AI agents.</a:t>
            </a:r>
          </a:p>
        </p:txBody>
      </p:sp>
      <p:sp>
        <p:nvSpPr>
          <p:cNvPr id="13" name="Number 2"/>
          <p:cNvSpPr/>
          <p:nvPr/>
        </p:nvSpPr>
        <p:spPr>
          <a:xfrm>
            <a:off x="3407511" y="468172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4" name="Point 2"/>
          <p:cNvSpPr txBox="1"/>
          <p:nvPr/>
        </p:nvSpPr>
        <p:spPr>
          <a:xfrm>
            <a:off x="3846423" y="4700016"/>
            <a:ext cx="2141982" cy="1158911"/>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Role compression is uneven. Some roles merge, some expand and others become lighter or shared.</a:t>
            </a:r>
          </a:p>
        </p:txBody>
      </p:sp>
      <p:sp>
        <p:nvSpPr>
          <p:cNvPr id="15" name="Number 3"/>
          <p:cNvSpPr/>
          <p:nvPr/>
        </p:nvSpPr>
        <p:spPr>
          <a:xfrm>
            <a:off x="6262725" y="468172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6" name="Point 3"/>
          <p:cNvSpPr txBox="1"/>
          <p:nvPr/>
        </p:nvSpPr>
        <p:spPr>
          <a:xfrm>
            <a:off x="6701637" y="4700016"/>
            <a:ext cx="2141982" cy="1097280"/>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Tiny teams need strong platform support, clear outcome ownership and enough talent density.</a:t>
            </a:r>
          </a:p>
        </p:txBody>
      </p:sp>
      <p:sp>
        <p:nvSpPr>
          <p:cNvPr id="17" name="Number 4"/>
          <p:cNvSpPr/>
          <p:nvPr/>
        </p:nvSpPr>
        <p:spPr>
          <a:xfrm>
            <a:off x="9117939" y="468172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18" name="Point 4"/>
          <p:cNvSpPr txBox="1"/>
          <p:nvPr/>
        </p:nvSpPr>
        <p:spPr>
          <a:xfrm>
            <a:off x="9556851" y="4700016"/>
            <a:ext cx="2141982" cy="1097280"/>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Expect trade-offs: less team cohesion and more cross-team dependency management.</a:t>
            </a:r>
          </a:p>
        </p:txBody>
      </p:sp>
      <p:sp>
        <p:nvSpPr>
          <p:cNvPr id="19"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G00857393 (Figures 4 and 5, adapted from CBRE)</a:t>
            </a:r>
          </a:p>
        </p:txBody>
      </p:sp>
    </p:spTree>
    <p:extLst>
      <p:ext uri="{BB962C8B-B14F-4D97-AF65-F5344CB8AC3E}">
        <p14:creationId xmlns:p14="http://schemas.microsoft.com/office/powerpoint/2010/main" val="30000000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The direction is a zero-friction SDLC</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46</a:t>
            </a:r>
          </a:p>
        </p:txBody>
      </p:sp>
      <p:sp>
        <p:nvSpPr>
          <p:cNvPr id="10" name="Label"/>
          <p:cNvSpPr txBox="1"/>
          <p:nvPr/>
        </p:nvSpPr>
        <p:spPr>
          <a:xfrm>
            <a:off x="552297" y="1325880"/>
            <a:ext cx="2194560" cy="457200"/>
          </a:xfrm>
          <a:prstGeom prst="rect">
            <a:avLst/>
          </a:prstGeom>
          <a:noFill/>
        </p:spPr>
        <p:txBody>
          <a:bodyPr wrap="square" lIns="0" tIns="0" rIns="0" bIns="0" anchor="t">
            <a:spAutoFit/>
          </a:bodyPr>
          <a:lstStyle/>
          <a:p>
            <a:pPr algn="l"/>
            <a:r>
              <a:rPr sz="1400" b="1">
                <a:solidFill>
                  <a:srgbClr val="002869"/>
                </a:solidFill>
                <a:latin typeface="Gartner Sans"/>
                <a:ea typeface="Gartner Sans"/>
                <a:cs typeface="Gartner Sans"/>
              </a:rPr>
              <a:t>Outer loop: intent</a:t>
            </a:r>
          </a:p>
          <a:p>
            <a:pPr algn="l"/>
            <a:r>
              <a:rPr sz="1400" b="0">
                <a:solidFill>
                  <a:srgbClr val="526273"/>
                </a:solidFill>
                <a:latin typeface="Gartner Sans"/>
                <a:ea typeface="Gartner Sans"/>
                <a:cs typeface="Gartner Sans"/>
              </a:rPr>
              <a:t>Human-driven, declarative</a:t>
            </a:r>
          </a:p>
        </p:txBody>
      </p:sp>
      <p:sp>
        <p:nvSpPr>
          <p:cNvPr id="11" name="Label"/>
          <p:cNvSpPr txBox="1"/>
          <p:nvPr/>
        </p:nvSpPr>
        <p:spPr>
          <a:xfrm>
            <a:off x="3167481" y="1325880"/>
            <a:ext cx="4206240" cy="479549"/>
          </a:xfrm>
          <a:prstGeom prst="rect">
            <a:avLst/>
          </a:prstGeom>
          <a:noFill/>
        </p:spPr>
        <p:txBody>
          <a:bodyPr wrap="square" lIns="0" tIns="0" rIns="0" bIns="0" anchor="t">
            <a:spAutoFit/>
          </a:bodyPr>
          <a:lstStyle/>
          <a:p>
            <a:pPr algn="l"/>
            <a:r>
              <a:rPr sz="1500" b="1">
                <a:solidFill>
                  <a:srgbClr val="002869"/>
                </a:solidFill>
                <a:latin typeface="Gartner Sans"/>
                <a:ea typeface="Gartner Sans"/>
                <a:cs typeface="Gartner Sans"/>
              </a:rPr>
              <a:t>Inner loop: implementation</a:t>
            </a:r>
          </a:p>
          <a:p>
            <a:pPr algn="l"/>
            <a:r>
              <a:rPr sz="1500" b="0">
                <a:solidFill>
                  <a:srgbClr val="526273"/>
                </a:solidFill>
                <a:latin typeface="Gartner Sans"/>
                <a:ea typeface="Gartner Sans"/>
                <a:cs typeface="Gartner Sans"/>
              </a:rPr>
              <a:t>Agent-driven, platform-supported</a:t>
            </a:r>
          </a:p>
        </p:txBody>
      </p:sp>
      <p:sp>
        <p:nvSpPr>
          <p:cNvPr id="12" name="Intent"/>
          <p:cNvSpPr/>
          <p:nvPr/>
        </p:nvSpPr>
        <p:spPr>
          <a:xfrm>
            <a:off x="552297" y="1874519"/>
            <a:ext cx="2194560" cy="1188720"/>
          </a:xfrm>
          <a:prstGeom prst="rect">
            <a:avLst/>
          </a:prstGeom>
          <a:solidFill>
            <a:srgbClr val="F0F7FD"/>
          </a:solidFill>
          <a:ln>
            <a:noFill/>
          </a:ln>
        </p:spPr>
        <p:txBody>
          <a:bodyPr wrap="square" lIns="109728" tIns="54864" rIns="109728" bIns="54864" rtlCol="0" anchor="ctr"/>
          <a:lstStyle/>
          <a:p>
            <a:pPr algn="ctr"/>
            <a:r>
              <a:rPr sz="1500" b="1">
                <a:solidFill>
                  <a:srgbClr val="002869"/>
                </a:solidFill>
                <a:latin typeface="Gartner Sans"/>
                <a:ea typeface="Gartner Sans"/>
                <a:cs typeface="Gartner Sans"/>
              </a:rPr>
              <a:t>People specify intent</a:t>
            </a:r>
          </a:p>
        </p:txBody>
      </p:sp>
      <p:sp>
        <p:nvSpPr>
          <p:cNvPr id="13" name="Agents"/>
          <p:cNvSpPr/>
          <p:nvPr/>
        </p:nvSpPr>
        <p:spPr>
          <a:xfrm>
            <a:off x="3167481" y="1874519"/>
            <a:ext cx="4206240" cy="1188720"/>
          </a:xfrm>
          <a:prstGeom prst="rect">
            <a:avLst/>
          </a:prstGeom>
          <a:solidFill>
            <a:srgbClr val="FFFFFF"/>
          </a:solidFill>
          <a:ln w="19050">
            <a:solidFill>
              <a:srgbClr val="002869"/>
            </a:solidFill>
          </a:ln>
        </p:spPr>
        <p:txBody>
          <a:bodyPr rtlCol="0" anchor="ctr"/>
          <a:lstStyle/>
          <a:p>
            <a:pPr algn="ctr"/>
            <a:endParaRPr/>
          </a:p>
        </p:txBody>
      </p:sp>
      <p:sp>
        <p:nvSpPr>
          <p:cNvPr id="14" name="Agents heading"/>
          <p:cNvSpPr txBox="1"/>
          <p:nvPr/>
        </p:nvSpPr>
        <p:spPr>
          <a:xfrm>
            <a:off x="3167481" y="1938528"/>
            <a:ext cx="4206240" cy="274320"/>
          </a:xfrm>
          <a:prstGeom prst="rect">
            <a:avLst/>
          </a:prstGeom>
          <a:noFill/>
        </p:spPr>
        <p:txBody>
          <a:bodyPr wrap="square" lIns="0" tIns="0" rIns="0" bIns="0" anchor="t">
            <a:spAutoFit/>
          </a:bodyPr>
          <a:lstStyle/>
          <a:p>
            <a:pPr algn="ctr"/>
            <a:r>
              <a:rPr sz="1550" b="1">
                <a:solidFill>
                  <a:srgbClr val="002869"/>
                </a:solidFill>
                <a:latin typeface="Gartner Sans"/>
                <a:ea typeface="Gartner Sans"/>
                <a:cs typeface="Gartner Sans"/>
              </a:rPr>
              <a:t>System of AI agents</a:t>
            </a:r>
          </a:p>
        </p:txBody>
      </p:sp>
      <p:sp>
        <p:nvSpPr>
          <p:cNvPr id="15" name="Observe"/>
          <p:cNvSpPr/>
          <p:nvPr/>
        </p:nvSpPr>
        <p:spPr>
          <a:xfrm>
            <a:off x="3350361" y="2359152"/>
            <a:ext cx="896112" cy="502920"/>
          </a:xfrm>
          <a:prstGeom prst="rect">
            <a:avLst/>
          </a:prstGeom>
          <a:solidFill>
            <a:srgbClr val="F0F7FD"/>
          </a:solidFill>
          <a:ln>
            <a:noFill/>
          </a:ln>
        </p:spPr>
        <p:txBody>
          <a:bodyPr wrap="square" lIns="0" tIns="0" rIns="0" bIns="0" rtlCol="0" anchor="ctr"/>
          <a:lstStyle/>
          <a:p>
            <a:pPr algn="ctr"/>
            <a:r>
              <a:rPr sz="1650" b="0">
                <a:solidFill>
                  <a:srgbClr val="152230"/>
                </a:solidFill>
                <a:latin typeface="Gartner Sans"/>
                <a:ea typeface="Gartner Sans"/>
                <a:cs typeface="Gartner Sans"/>
              </a:rPr>
              <a:t>Observe</a:t>
            </a:r>
          </a:p>
        </p:txBody>
      </p:sp>
      <p:sp>
        <p:nvSpPr>
          <p:cNvPr id="16" name="Orient"/>
          <p:cNvSpPr/>
          <p:nvPr/>
        </p:nvSpPr>
        <p:spPr>
          <a:xfrm>
            <a:off x="4328769" y="2359152"/>
            <a:ext cx="896112" cy="502920"/>
          </a:xfrm>
          <a:prstGeom prst="rect">
            <a:avLst/>
          </a:prstGeom>
          <a:solidFill>
            <a:srgbClr val="F0F7FD"/>
          </a:solidFill>
          <a:ln>
            <a:noFill/>
          </a:ln>
        </p:spPr>
        <p:txBody>
          <a:bodyPr wrap="square" lIns="0" tIns="0" rIns="0" bIns="0" rtlCol="0" anchor="ctr"/>
          <a:lstStyle/>
          <a:p>
            <a:pPr algn="ctr"/>
            <a:r>
              <a:rPr sz="1650" b="0">
                <a:solidFill>
                  <a:srgbClr val="152230"/>
                </a:solidFill>
                <a:latin typeface="Gartner Sans"/>
                <a:ea typeface="Gartner Sans"/>
                <a:cs typeface="Gartner Sans"/>
              </a:rPr>
              <a:t>Orient</a:t>
            </a:r>
          </a:p>
        </p:txBody>
      </p:sp>
      <p:sp>
        <p:nvSpPr>
          <p:cNvPr id="17" name="Decide"/>
          <p:cNvSpPr/>
          <p:nvPr/>
        </p:nvSpPr>
        <p:spPr>
          <a:xfrm>
            <a:off x="5307177" y="2359152"/>
            <a:ext cx="896112" cy="502920"/>
          </a:xfrm>
          <a:prstGeom prst="rect">
            <a:avLst/>
          </a:prstGeom>
          <a:solidFill>
            <a:srgbClr val="F0F7FD"/>
          </a:solidFill>
          <a:ln>
            <a:noFill/>
          </a:ln>
        </p:spPr>
        <p:txBody>
          <a:bodyPr wrap="square" lIns="0" tIns="0" rIns="0" bIns="0" rtlCol="0" anchor="ctr"/>
          <a:lstStyle/>
          <a:p>
            <a:pPr algn="ctr"/>
            <a:r>
              <a:rPr sz="1650" b="0">
                <a:solidFill>
                  <a:srgbClr val="152230"/>
                </a:solidFill>
                <a:latin typeface="Gartner Sans"/>
                <a:ea typeface="Gartner Sans"/>
                <a:cs typeface="Gartner Sans"/>
              </a:rPr>
              <a:t>Decide</a:t>
            </a:r>
          </a:p>
        </p:txBody>
      </p:sp>
      <p:sp>
        <p:nvSpPr>
          <p:cNvPr id="18" name="Act"/>
          <p:cNvSpPr/>
          <p:nvPr/>
        </p:nvSpPr>
        <p:spPr>
          <a:xfrm>
            <a:off x="6285585" y="2359152"/>
            <a:ext cx="896112" cy="502920"/>
          </a:xfrm>
          <a:prstGeom prst="rect">
            <a:avLst/>
          </a:prstGeom>
          <a:solidFill>
            <a:srgbClr val="F0F7FD"/>
          </a:solidFill>
          <a:ln>
            <a:noFill/>
          </a:ln>
        </p:spPr>
        <p:txBody>
          <a:bodyPr wrap="square" lIns="0" tIns="0" rIns="0" bIns="0" rtlCol="0" anchor="ctr"/>
          <a:lstStyle/>
          <a:p>
            <a:pPr algn="ctr"/>
            <a:r>
              <a:rPr sz="1650" b="0">
                <a:solidFill>
                  <a:srgbClr val="152230"/>
                </a:solidFill>
                <a:latin typeface="Gartner Sans"/>
                <a:ea typeface="Gartner Sans"/>
                <a:cs typeface="Gartner Sans"/>
              </a:rPr>
              <a:t>Act</a:t>
            </a:r>
          </a:p>
        </p:txBody>
      </p:sp>
      <p:sp>
        <p:nvSpPr>
          <p:cNvPr id="19" name="Environment"/>
          <p:cNvSpPr/>
          <p:nvPr/>
        </p:nvSpPr>
        <p:spPr>
          <a:xfrm>
            <a:off x="7794345" y="1874519"/>
            <a:ext cx="1737360" cy="1188720"/>
          </a:xfrm>
          <a:prstGeom prst="rect">
            <a:avLst/>
          </a:prstGeom>
          <a:solidFill>
            <a:srgbClr val="F0F7FD"/>
          </a:solidFill>
          <a:ln>
            <a:noFill/>
          </a:ln>
        </p:spPr>
        <p:txBody>
          <a:bodyPr wrap="square" lIns="109728" tIns="54864" rIns="109728" bIns="54864" rtlCol="0" anchor="ctr"/>
          <a:lstStyle/>
          <a:p>
            <a:pPr algn="ctr"/>
            <a:r>
              <a:rPr sz="1550" b="1">
                <a:solidFill>
                  <a:srgbClr val="002869"/>
                </a:solidFill>
                <a:latin typeface="Gartner Sans"/>
                <a:ea typeface="Gartner Sans"/>
                <a:cs typeface="Gartner Sans"/>
              </a:rPr>
              <a:t>Environment</a:t>
            </a:r>
          </a:p>
        </p:txBody>
      </p:sp>
      <p:sp>
        <p:nvSpPr>
          <p:cNvPr id="20" name="Outcome"/>
          <p:cNvSpPr/>
          <p:nvPr/>
        </p:nvSpPr>
        <p:spPr>
          <a:xfrm>
            <a:off x="9952329" y="1874519"/>
            <a:ext cx="1746504" cy="1188720"/>
          </a:xfrm>
          <a:prstGeom prst="rect">
            <a:avLst/>
          </a:prstGeom>
          <a:solidFill>
            <a:srgbClr val="002869"/>
          </a:solidFill>
          <a:ln>
            <a:noFill/>
          </a:ln>
        </p:spPr>
        <p:txBody>
          <a:bodyPr wrap="square" lIns="109728" tIns="54864" rIns="109728" bIns="54864" rtlCol="0" anchor="ctr"/>
          <a:lstStyle/>
          <a:p>
            <a:pPr algn="ctr"/>
            <a:r>
              <a:rPr sz="1350" b="1">
                <a:solidFill>
                  <a:srgbClr val="FFFFFF"/>
                </a:solidFill>
                <a:latin typeface="Gartner Sans"/>
                <a:ea typeface="Gartner Sans"/>
                <a:cs typeface="Gartner Sans"/>
              </a:rPr>
              <a:t>Software outcome</a:t>
            </a:r>
          </a:p>
        </p:txBody>
      </p:sp>
      <p:cxnSp>
        <p:nvCxnSpPr>
          <p:cNvPr id="21" name="Line"/>
          <p:cNvCxnSpPr/>
          <p:nvPr/>
        </p:nvCxnSpPr>
        <p:spPr>
          <a:xfrm>
            <a:off x="2792577" y="2468880"/>
            <a:ext cx="329184" cy="0"/>
          </a:xfrm>
          <a:prstGeom prst="line">
            <a:avLst/>
          </a:prstGeom>
          <a:ln w="25400">
            <a:solidFill>
              <a:srgbClr val="002869"/>
            </a:solidFill>
            <a:tailEnd type="triangle" w="med" len="med"/>
          </a:ln>
        </p:spPr>
      </p:cxnSp>
      <p:cxnSp>
        <p:nvCxnSpPr>
          <p:cNvPr id="22" name="Line"/>
          <p:cNvCxnSpPr/>
          <p:nvPr/>
        </p:nvCxnSpPr>
        <p:spPr>
          <a:xfrm>
            <a:off x="7419441" y="2468880"/>
            <a:ext cx="329184" cy="0"/>
          </a:xfrm>
          <a:prstGeom prst="line">
            <a:avLst/>
          </a:prstGeom>
          <a:ln w="25400">
            <a:solidFill>
              <a:srgbClr val="002869"/>
            </a:solidFill>
            <a:tailEnd type="triangle" w="med" len="med"/>
          </a:ln>
        </p:spPr>
      </p:cxnSp>
      <p:cxnSp>
        <p:nvCxnSpPr>
          <p:cNvPr id="23" name="Line"/>
          <p:cNvCxnSpPr/>
          <p:nvPr/>
        </p:nvCxnSpPr>
        <p:spPr>
          <a:xfrm>
            <a:off x="9577425" y="2468880"/>
            <a:ext cx="329184" cy="0"/>
          </a:xfrm>
          <a:prstGeom prst="line">
            <a:avLst/>
          </a:prstGeom>
          <a:ln w="25400">
            <a:solidFill>
              <a:srgbClr val="002869"/>
            </a:solidFill>
            <a:tailEnd type="triangle" w="med" len="med"/>
          </a:ln>
        </p:spPr>
      </p:cxnSp>
      <p:sp>
        <p:nvSpPr>
          <p:cNvPr id="24" name="Governance"/>
          <p:cNvSpPr/>
          <p:nvPr/>
        </p:nvSpPr>
        <p:spPr>
          <a:xfrm>
            <a:off x="552297" y="3200400"/>
            <a:ext cx="11146536" cy="365760"/>
          </a:xfrm>
          <a:prstGeom prst="rect">
            <a:avLst/>
          </a:prstGeom>
          <a:solidFill>
            <a:srgbClr val="E6E9ED"/>
          </a:solidFill>
          <a:ln>
            <a:noFill/>
          </a:ln>
        </p:spPr>
        <p:txBody>
          <a:bodyPr wrap="square" lIns="109728" tIns="54864" rIns="109728" bIns="54864" rtlCol="0" anchor="ctr"/>
          <a:lstStyle/>
          <a:p>
            <a:pPr algn="ctr"/>
            <a:r>
              <a:rPr sz="1550" b="1">
                <a:solidFill>
                  <a:srgbClr val="152230"/>
                </a:solidFill>
                <a:latin typeface="Gartner Sans"/>
                <a:ea typeface="Gartner Sans"/>
                <a:cs typeface="Gartner Sans"/>
              </a:rPr>
              <a:t>Governance</a:t>
            </a:r>
          </a:p>
        </p:txBody>
      </p:sp>
      <p:cxnSp>
        <p:nvCxnSpPr>
          <p:cNvPr id="25" name="Line"/>
          <p:cNvCxnSpPr/>
          <p:nvPr/>
        </p:nvCxnSpPr>
        <p:spPr>
          <a:xfrm>
            <a:off x="552297" y="3886200"/>
            <a:ext cx="11146536" cy="0"/>
          </a:xfrm>
          <a:prstGeom prst="line">
            <a:avLst/>
          </a:prstGeom>
          <a:ln w="9525">
            <a:solidFill>
              <a:srgbClr val="D0D7DF"/>
            </a:solidFill>
          </a:ln>
        </p:spPr>
      </p:cxnSp>
      <p:sp>
        <p:nvSpPr>
          <p:cNvPr id="26" name="Number 1"/>
          <p:cNvSpPr/>
          <p:nvPr/>
        </p:nvSpPr>
        <p:spPr>
          <a:xfrm>
            <a:off x="552297" y="411480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27" name="Point 1"/>
          <p:cNvSpPr txBox="1"/>
          <p:nvPr/>
        </p:nvSpPr>
        <p:spPr>
          <a:xfrm>
            <a:off x="991209" y="4133087"/>
            <a:ext cx="3093720" cy="1645920"/>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People specify intent. That includes the success metrics, business assumptions and validation criteria, not only the requirements.</a:t>
            </a:r>
          </a:p>
        </p:txBody>
      </p:sp>
      <p:sp>
        <p:nvSpPr>
          <p:cNvPr id="28" name="Number 2"/>
          <p:cNvSpPr/>
          <p:nvPr/>
        </p:nvSpPr>
        <p:spPr>
          <a:xfrm>
            <a:off x="4359249" y="411480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29" name="Point 2"/>
          <p:cNvSpPr txBox="1"/>
          <p:nvPr/>
        </p:nvSpPr>
        <p:spPr>
          <a:xfrm>
            <a:off x="4798161" y="4133087"/>
            <a:ext cx="3093720" cy="1645920"/>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Agents generate code, run tests, fix defects and refine prototypes within architectural, compliance and security constraints.</a:t>
            </a:r>
          </a:p>
        </p:txBody>
      </p:sp>
      <p:sp>
        <p:nvSpPr>
          <p:cNvPr id="30" name="Number 3"/>
          <p:cNvSpPr/>
          <p:nvPr/>
        </p:nvSpPr>
        <p:spPr>
          <a:xfrm>
            <a:off x="8166201" y="411480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31" name="Point 3"/>
          <p:cNvSpPr txBox="1"/>
          <p:nvPr/>
        </p:nvSpPr>
        <p:spPr>
          <a:xfrm>
            <a:off x="8605113" y="4133087"/>
            <a:ext cx="3093720" cy="1645920"/>
          </a:xfrm>
          <a:prstGeom prst="rect">
            <a:avLst/>
          </a:prstGeom>
          <a:noFill/>
        </p:spPr>
        <p:txBody>
          <a:bodyPr wrap="square" lIns="0" tIns="0" rIns="0" bIns="0" anchor="t">
            <a:spAutoFit/>
          </a:bodyPr>
          <a:lstStyle/>
          <a:p>
            <a:pPr algn="l"/>
            <a:r>
              <a:rPr sz="1650" b="0">
                <a:solidFill>
                  <a:srgbClr val="152230"/>
                </a:solidFill>
                <a:latin typeface="Gartner Sans"/>
                <a:ea typeface="Gartner Sans"/>
                <a:cs typeface="Gartner Sans"/>
              </a:rPr>
              <a:t>Gartner describes "AI dark factories" with an agentic intake gate that validates requirements and a human verification gate before production.</a:t>
            </a:r>
          </a:p>
        </p:txBody>
      </p:sp>
      <p:sp>
        <p:nvSpPr>
          <p:cNvPr id="32"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G00856957 (Figure 3 and points 1 and 2); G00858441 (point 3)</a:t>
            </a:r>
          </a:p>
        </p:txBody>
      </p:sp>
    </p:spTree>
    <p:extLst>
      <p:ext uri="{BB962C8B-B14F-4D97-AF65-F5344CB8AC3E}">
        <p14:creationId xmlns:p14="http://schemas.microsoft.com/office/powerpoint/2010/main" val="3000000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title"/>
          <p:cNvSpPr txBox="1"/>
          <p:nvPr/>
        </p:nvSpPr>
        <p:spPr>
          <a:xfrm>
            <a:off x="1856231" y="2240280"/>
            <a:ext cx="6309360" cy="1371600"/>
          </a:xfrm>
          <a:prstGeom prst="rect">
            <a:avLst/>
          </a:prstGeom>
          <a:noFill/>
        </p:spPr>
        <p:txBody>
          <a:bodyPr wrap="square" lIns="0" tIns="0" rIns="0" bIns="0" anchor="ctr">
            <a:spAutoFit/>
          </a:bodyPr>
          <a:lstStyle/>
          <a:p>
            <a:pPr algn="l"/>
            <a:r>
              <a:rPr sz="3400" b="0">
                <a:solidFill>
                  <a:srgbClr val="FFFFFF"/>
                </a:solidFill>
                <a:latin typeface="Gartner Sans"/>
                <a:ea typeface="Gartner Sans"/>
                <a:cs typeface="Gartner Sans"/>
              </a:rPr>
              <a:t>How to adopt AI and redesign your SDLC</a:t>
            </a:r>
          </a:p>
        </p:txBody>
      </p:sp>
      <p:sp>
        <p:nvSpPr>
          <p:cNvPr id="3" name="Section subtitle"/>
          <p:cNvSpPr txBox="1"/>
          <p:nvPr/>
        </p:nvSpPr>
        <p:spPr>
          <a:xfrm>
            <a:off x="1856231" y="3657600"/>
            <a:ext cx="6309360" cy="640080"/>
          </a:xfrm>
          <a:prstGeom prst="rect">
            <a:avLst/>
          </a:prstGeom>
          <a:noFill/>
        </p:spPr>
        <p:txBody>
          <a:bodyPr wrap="square" lIns="0" tIns="0" rIns="0" bIns="0" anchor="t">
            <a:spAutoFit/>
          </a:bodyPr>
          <a:lstStyle/>
          <a:p>
            <a:pPr algn="l"/>
            <a:r>
              <a:rPr sz="1800" b="0">
                <a:solidFill>
                  <a:srgbClr val="FFFFFF"/>
                </a:solidFill>
                <a:latin typeface="Gartner Sans"/>
                <a:ea typeface="Gartner Sans"/>
                <a:cs typeface="Gartner Sans"/>
              </a:rPr>
              <a:t>From first use cases to a redesigned, governed delivery flow</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Adoption follows four steps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48</a:t>
            </a:r>
          </a:p>
        </p:txBody>
      </p:sp>
      <p:sp>
        <p:nvSpPr>
          <p:cNvPr id="10" name="Step 1"/>
          <p:cNvSpPr/>
          <p:nvPr/>
        </p:nvSpPr>
        <p:spPr>
          <a:xfrm>
            <a:off x="552297" y="1783080"/>
            <a:ext cx="2932938" cy="822960"/>
          </a:xfrm>
          <a:prstGeom prst="homePlate">
            <a:avLst/>
          </a:prstGeom>
          <a:solidFill>
            <a:srgbClr val="002869"/>
          </a:solidFill>
          <a:ln>
            <a:noFill/>
          </a:ln>
        </p:spPr>
        <p:txBody>
          <a:bodyPr wrap="square" lIns="320040" tIns="0" rIns="320040" bIns="0" rtlCol="0" anchor="ctr"/>
          <a:lstStyle/>
          <a:p>
            <a:pPr algn="ctr"/>
            <a:r>
              <a:rPr sz="1500" b="1">
                <a:solidFill>
                  <a:srgbClr val="FFFFFF"/>
                </a:solidFill>
                <a:latin typeface="Gartner Sans"/>
                <a:ea typeface="Gartner Sans"/>
                <a:cs typeface="Gartner Sans"/>
              </a:rPr>
              <a:t>1  Get grounded</a:t>
            </a:r>
          </a:p>
        </p:txBody>
      </p:sp>
      <p:sp>
        <p:nvSpPr>
          <p:cNvPr id="11" name="Step 1 detail"/>
          <p:cNvSpPr txBox="1"/>
          <p:nvPr/>
        </p:nvSpPr>
        <p:spPr>
          <a:xfrm>
            <a:off x="689457" y="2834639"/>
            <a:ext cx="2375153" cy="2377440"/>
          </a:xfrm>
          <a:prstGeom prst="rect">
            <a:avLst/>
          </a:prstGeom>
          <a:noFill/>
        </p:spPr>
        <p:txBody>
          <a:bodyPr wrap="square" lIns="0" tIns="0" rIns="0" bIns="0" anchor="t">
            <a:spAutoFit/>
          </a:bodyPr>
          <a:lstStyle/>
          <a:p>
            <a:pPr algn="l"/>
            <a:r>
              <a:rPr sz="1750" b="0">
                <a:solidFill>
                  <a:srgbClr val="152230"/>
                </a:solidFill>
                <a:latin typeface="Gartner Sans"/>
                <a:ea typeface="Gartner Sans"/>
                <a:cs typeface="Gartner Sans"/>
              </a:rPr>
              <a:t>Set realistic expectations. Identify and prioritise use cases. Select tools. Define the skills developers need.</a:t>
            </a:r>
          </a:p>
        </p:txBody>
      </p:sp>
      <p:sp>
        <p:nvSpPr>
          <p:cNvPr id="12" name="Step 2"/>
          <p:cNvSpPr/>
          <p:nvPr/>
        </p:nvSpPr>
        <p:spPr>
          <a:xfrm>
            <a:off x="3338931" y="1783080"/>
            <a:ext cx="2932938" cy="822960"/>
          </a:xfrm>
          <a:prstGeom prst="chevron">
            <a:avLst/>
          </a:prstGeom>
          <a:solidFill>
            <a:srgbClr val="002869"/>
          </a:solidFill>
          <a:ln>
            <a:noFill/>
          </a:ln>
        </p:spPr>
        <p:txBody>
          <a:bodyPr wrap="square" lIns="320040" tIns="0" rIns="320040" bIns="0" rtlCol="0" anchor="ctr"/>
          <a:lstStyle/>
          <a:p>
            <a:pPr algn="ctr"/>
            <a:r>
              <a:rPr sz="1500" b="1">
                <a:solidFill>
                  <a:srgbClr val="FFFFFF"/>
                </a:solidFill>
                <a:latin typeface="Gartner Sans"/>
                <a:ea typeface="Gartner Sans"/>
                <a:cs typeface="Gartner Sans"/>
              </a:rPr>
              <a:t>2  Define value</a:t>
            </a:r>
          </a:p>
        </p:txBody>
      </p:sp>
      <p:sp>
        <p:nvSpPr>
          <p:cNvPr id="13" name="Step 2 detail"/>
          <p:cNvSpPr txBox="1"/>
          <p:nvPr/>
        </p:nvSpPr>
        <p:spPr>
          <a:xfrm>
            <a:off x="3476091" y="2834639"/>
            <a:ext cx="2375153" cy="2377440"/>
          </a:xfrm>
          <a:prstGeom prst="rect">
            <a:avLst/>
          </a:prstGeom>
          <a:noFill/>
        </p:spPr>
        <p:txBody>
          <a:bodyPr wrap="square" lIns="0" tIns="0" rIns="0" bIns="0" anchor="t">
            <a:spAutoFit/>
          </a:bodyPr>
          <a:lstStyle/>
          <a:p>
            <a:pPr algn="l"/>
            <a:r>
              <a:rPr sz="1750" b="0">
                <a:solidFill>
                  <a:srgbClr val="152230"/>
                </a:solidFill>
                <a:latin typeface="Gartner Sans"/>
                <a:ea typeface="Gartner Sans"/>
                <a:cs typeface="Gartner Sans"/>
              </a:rPr>
              <a:t>Agree expectations between developers and executives. Win over hesitant developers. Plan team composition and costs.</a:t>
            </a:r>
          </a:p>
        </p:txBody>
      </p:sp>
      <p:sp>
        <p:nvSpPr>
          <p:cNvPr id="14" name="Step 3"/>
          <p:cNvSpPr/>
          <p:nvPr/>
        </p:nvSpPr>
        <p:spPr>
          <a:xfrm>
            <a:off x="6125565" y="1783080"/>
            <a:ext cx="2932938" cy="822960"/>
          </a:xfrm>
          <a:prstGeom prst="chevron">
            <a:avLst/>
          </a:prstGeom>
          <a:solidFill>
            <a:srgbClr val="002869"/>
          </a:solidFill>
          <a:ln>
            <a:noFill/>
          </a:ln>
        </p:spPr>
        <p:txBody>
          <a:bodyPr wrap="square" lIns="320040" tIns="0" rIns="320040" bIns="0" rtlCol="0" anchor="ctr"/>
          <a:lstStyle/>
          <a:p>
            <a:pPr algn="ctr"/>
            <a:r>
              <a:rPr sz="1500" b="1">
                <a:solidFill>
                  <a:srgbClr val="FFFFFF"/>
                </a:solidFill>
                <a:latin typeface="Gartner Sans"/>
                <a:ea typeface="Gartner Sans"/>
                <a:cs typeface="Gartner Sans"/>
              </a:rPr>
              <a:t>3  Implement</a:t>
            </a:r>
          </a:p>
        </p:txBody>
      </p:sp>
      <p:sp>
        <p:nvSpPr>
          <p:cNvPr id="15" name="Step 3 detail"/>
          <p:cNvSpPr txBox="1"/>
          <p:nvPr/>
        </p:nvSpPr>
        <p:spPr>
          <a:xfrm>
            <a:off x="6262725" y="2834639"/>
            <a:ext cx="2375153" cy="2377440"/>
          </a:xfrm>
          <a:prstGeom prst="rect">
            <a:avLst/>
          </a:prstGeom>
          <a:noFill/>
        </p:spPr>
        <p:txBody>
          <a:bodyPr wrap="square" lIns="0" tIns="0" rIns="0" bIns="0" anchor="t">
            <a:spAutoFit/>
          </a:bodyPr>
          <a:lstStyle/>
          <a:p>
            <a:pPr algn="l"/>
            <a:r>
              <a:rPr sz="1750" b="0">
                <a:solidFill>
                  <a:srgbClr val="152230"/>
                </a:solidFill>
                <a:latin typeface="Gartner Sans"/>
                <a:ea typeface="Gartner Sans"/>
                <a:cs typeface="Gartner Sans"/>
              </a:rPr>
              <a:t>Manage security, governance and compliance risks. Protect quality. Integrate tools through MCP, APIs and CLIs.</a:t>
            </a:r>
          </a:p>
        </p:txBody>
      </p:sp>
      <p:sp>
        <p:nvSpPr>
          <p:cNvPr id="16" name="Step 4"/>
          <p:cNvSpPr/>
          <p:nvPr/>
        </p:nvSpPr>
        <p:spPr>
          <a:xfrm>
            <a:off x="8912199" y="1783080"/>
            <a:ext cx="2786634" cy="822960"/>
          </a:xfrm>
          <a:prstGeom prst="chevron">
            <a:avLst/>
          </a:prstGeom>
          <a:solidFill>
            <a:srgbClr val="002869"/>
          </a:solidFill>
          <a:ln>
            <a:noFill/>
          </a:ln>
        </p:spPr>
        <p:txBody>
          <a:bodyPr wrap="square" lIns="320040" tIns="0" rIns="320040" bIns="0" rtlCol="0" anchor="ctr"/>
          <a:lstStyle/>
          <a:p>
            <a:pPr algn="ctr"/>
            <a:r>
              <a:rPr sz="1500" b="1">
                <a:solidFill>
                  <a:srgbClr val="FFFFFF"/>
                </a:solidFill>
                <a:latin typeface="Gartner Sans"/>
                <a:ea typeface="Gartner Sans"/>
                <a:cs typeface="Gartner Sans"/>
              </a:rPr>
              <a:t>4  Measure and scale</a:t>
            </a:r>
          </a:p>
        </p:txBody>
      </p:sp>
      <p:sp>
        <p:nvSpPr>
          <p:cNvPr id="17" name="Step 4 detail"/>
          <p:cNvSpPr txBox="1"/>
          <p:nvPr/>
        </p:nvSpPr>
        <p:spPr>
          <a:xfrm>
            <a:off x="9049359" y="2834639"/>
            <a:ext cx="2375153" cy="2377440"/>
          </a:xfrm>
          <a:prstGeom prst="rect">
            <a:avLst/>
          </a:prstGeom>
          <a:noFill/>
        </p:spPr>
        <p:txBody>
          <a:bodyPr wrap="square" lIns="0" tIns="0" rIns="0" bIns="0" anchor="t">
            <a:spAutoFit/>
          </a:bodyPr>
          <a:lstStyle/>
          <a:p>
            <a:pPr algn="l"/>
            <a:r>
              <a:rPr sz="1750" b="0">
                <a:solidFill>
                  <a:srgbClr val="152230"/>
                </a:solidFill>
                <a:latin typeface="Gartner Sans"/>
                <a:ea typeface="Gartner Sans"/>
                <a:cs typeface="Gartner Sans"/>
              </a:rPr>
              <a:t>Check adoption and success against baselines. Extend AI beyond coding to the rest of the SDLC.</a:t>
            </a:r>
          </a:p>
        </p:txBody>
      </p:sp>
      <p:sp>
        <p:nvSpPr>
          <p:cNvPr id="18"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G00844726</a:t>
            </a:r>
          </a:p>
        </p:txBody>
      </p:sp>
    </p:spTree>
    <p:extLst>
      <p:ext uri="{BB962C8B-B14F-4D97-AF65-F5344CB8AC3E}">
        <p14:creationId xmlns:p14="http://schemas.microsoft.com/office/powerpoint/2010/main" val="33010291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Set realistic expectations first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49</a:t>
            </a:r>
          </a:p>
        </p:txBody>
      </p:sp>
      <p:sp>
        <p:nvSpPr>
          <p:cNvPr id="10" name="Stat"/>
          <p:cNvSpPr/>
          <p:nvPr/>
        </p:nvSpPr>
        <p:spPr>
          <a:xfrm>
            <a:off x="552297" y="1325880"/>
            <a:ext cx="2580894" cy="2240280"/>
          </a:xfrm>
          <a:prstGeom prst="rect">
            <a:avLst/>
          </a:prstGeom>
          <a:solidFill>
            <a:srgbClr val="F0F7FD"/>
          </a:solidFill>
          <a:ln>
            <a:noFill/>
          </a:ln>
        </p:spPr>
        <p:txBody>
          <a:bodyPr rtlCol="0" anchor="ctr"/>
          <a:lstStyle/>
          <a:p>
            <a:pPr algn="ctr"/>
            <a:endParaRPr/>
          </a:p>
        </p:txBody>
      </p:sp>
      <p:sp>
        <p:nvSpPr>
          <p:cNvPr id="11" name="Stat value"/>
          <p:cNvSpPr txBox="1"/>
          <p:nvPr/>
        </p:nvSpPr>
        <p:spPr>
          <a:xfrm>
            <a:off x="753465" y="1435607"/>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64%</a:t>
            </a:r>
          </a:p>
        </p:txBody>
      </p:sp>
      <p:sp>
        <p:nvSpPr>
          <p:cNvPr id="12" name="Stat label"/>
          <p:cNvSpPr txBox="1"/>
          <p:nvPr/>
        </p:nvSpPr>
        <p:spPr>
          <a:xfrm>
            <a:off x="753465" y="2221991"/>
            <a:ext cx="2178558" cy="1325880"/>
          </a:xfrm>
          <a:prstGeom prst="rect">
            <a:avLst/>
          </a:prstGeom>
          <a:noFill/>
        </p:spPr>
        <p:txBody>
          <a:bodyPr wrap="square" lIns="0" tIns="0" rIns="0" bIns="0" anchor="t">
            <a:spAutoFit/>
          </a:bodyPr>
          <a:lstStyle/>
          <a:p>
            <a:pPr algn="l"/>
            <a:r>
              <a:rPr sz="1350" b="0">
                <a:solidFill>
                  <a:srgbClr val="152230"/>
                </a:solidFill>
                <a:latin typeface="Gartner Sans"/>
                <a:ea typeface="Gartner Sans"/>
                <a:cs typeface="Gartner Sans"/>
              </a:rPr>
              <a:t>Teams using AI that report less time spent on engineering tasks</a:t>
            </a:r>
          </a:p>
        </p:txBody>
      </p:sp>
      <p:sp>
        <p:nvSpPr>
          <p:cNvPr id="13" name="Stat"/>
          <p:cNvSpPr/>
          <p:nvPr/>
        </p:nvSpPr>
        <p:spPr>
          <a:xfrm>
            <a:off x="3407511" y="1325880"/>
            <a:ext cx="2580894" cy="2240280"/>
          </a:xfrm>
          <a:prstGeom prst="rect">
            <a:avLst/>
          </a:prstGeom>
          <a:solidFill>
            <a:srgbClr val="F0F7FD"/>
          </a:solidFill>
          <a:ln>
            <a:noFill/>
          </a:ln>
        </p:spPr>
        <p:txBody>
          <a:bodyPr rtlCol="0" anchor="ctr"/>
          <a:lstStyle/>
          <a:p>
            <a:pPr algn="ctr"/>
            <a:endParaRPr/>
          </a:p>
        </p:txBody>
      </p:sp>
      <p:sp>
        <p:nvSpPr>
          <p:cNvPr id="14" name="Stat value"/>
          <p:cNvSpPr txBox="1"/>
          <p:nvPr/>
        </p:nvSpPr>
        <p:spPr>
          <a:xfrm>
            <a:off x="3608679" y="1435607"/>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61%</a:t>
            </a:r>
          </a:p>
        </p:txBody>
      </p:sp>
      <p:sp>
        <p:nvSpPr>
          <p:cNvPr id="15" name="Stat label"/>
          <p:cNvSpPr txBox="1"/>
          <p:nvPr/>
        </p:nvSpPr>
        <p:spPr>
          <a:xfrm>
            <a:off x="3608679" y="2221991"/>
            <a:ext cx="2178558" cy="1325880"/>
          </a:xfrm>
          <a:prstGeom prst="rect">
            <a:avLst/>
          </a:prstGeom>
          <a:noFill/>
        </p:spPr>
        <p:txBody>
          <a:bodyPr wrap="square" lIns="0" tIns="0" rIns="0" bIns="0" anchor="t">
            <a:spAutoFit/>
          </a:bodyPr>
          <a:lstStyle/>
          <a:p>
            <a:pPr algn="l"/>
            <a:r>
              <a:rPr sz="1350" b="0">
                <a:solidFill>
                  <a:srgbClr val="152230"/>
                </a:solidFill>
                <a:latin typeface="Gartner Sans"/>
                <a:ea typeface="Gartner Sans"/>
                <a:cs typeface="Gartner Sans"/>
              </a:rPr>
              <a:t>Teams that see faster code reviews</a:t>
            </a:r>
          </a:p>
        </p:txBody>
      </p:sp>
      <p:sp>
        <p:nvSpPr>
          <p:cNvPr id="16" name="Stat"/>
          <p:cNvSpPr/>
          <p:nvPr/>
        </p:nvSpPr>
        <p:spPr>
          <a:xfrm>
            <a:off x="6262725" y="1325880"/>
            <a:ext cx="2580894" cy="2240280"/>
          </a:xfrm>
          <a:prstGeom prst="rect">
            <a:avLst/>
          </a:prstGeom>
          <a:solidFill>
            <a:srgbClr val="F0F7FD"/>
          </a:solidFill>
          <a:ln>
            <a:noFill/>
          </a:ln>
        </p:spPr>
        <p:txBody>
          <a:bodyPr rtlCol="0" anchor="ctr"/>
          <a:lstStyle/>
          <a:p>
            <a:pPr algn="ctr"/>
            <a:endParaRPr/>
          </a:p>
        </p:txBody>
      </p:sp>
      <p:sp>
        <p:nvSpPr>
          <p:cNvPr id="17" name="Stat value"/>
          <p:cNvSpPr txBox="1"/>
          <p:nvPr/>
        </p:nvSpPr>
        <p:spPr>
          <a:xfrm>
            <a:off x="6463893" y="1435607"/>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51%</a:t>
            </a:r>
          </a:p>
        </p:txBody>
      </p:sp>
      <p:sp>
        <p:nvSpPr>
          <p:cNvPr id="18" name="Stat label"/>
          <p:cNvSpPr txBox="1"/>
          <p:nvPr/>
        </p:nvSpPr>
        <p:spPr>
          <a:xfrm>
            <a:off x="6463893" y="2221991"/>
            <a:ext cx="2178558" cy="1325880"/>
          </a:xfrm>
          <a:prstGeom prst="rect">
            <a:avLst/>
          </a:prstGeom>
          <a:noFill/>
        </p:spPr>
        <p:txBody>
          <a:bodyPr wrap="square" lIns="0" tIns="0" rIns="0" bIns="0" anchor="t">
            <a:spAutoFit/>
          </a:bodyPr>
          <a:lstStyle/>
          <a:p>
            <a:pPr algn="l"/>
            <a:r>
              <a:rPr sz="1350" b="0">
                <a:solidFill>
                  <a:srgbClr val="152230"/>
                </a:solidFill>
                <a:latin typeface="Gartner Sans"/>
                <a:ea typeface="Gartner Sans"/>
                <a:cs typeface="Gartner Sans"/>
              </a:rPr>
              <a:t>Teams that see notably faster speed to market for new features</a:t>
            </a:r>
          </a:p>
        </p:txBody>
      </p:sp>
      <p:sp>
        <p:nvSpPr>
          <p:cNvPr id="19" name="Stat"/>
          <p:cNvSpPr/>
          <p:nvPr/>
        </p:nvSpPr>
        <p:spPr>
          <a:xfrm>
            <a:off x="9117939" y="1325880"/>
            <a:ext cx="2580894" cy="2240280"/>
          </a:xfrm>
          <a:prstGeom prst="rect">
            <a:avLst/>
          </a:prstGeom>
          <a:solidFill>
            <a:srgbClr val="F0F7FD"/>
          </a:solidFill>
          <a:ln>
            <a:noFill/>
          </a:ln>
        </p:spPr>
        <p:txBody>
          <a:bodyPr rtlCol="0" anchor="ctr"/>
          <a:lstStyle/>
          <a:p>
            <a:pPr algn="ctr"/>
            <a:endParaRPr/>
          </a:p>
        </p:txBody>
      </p:sp>
      <p:sp>
        <p:nvSpPr>
          <p:cNvPr id="20" name="Stat value"/>
          <p:cNvSpPr txBox="1"/>
          <p:nvPr/>
        </p:nvSpPr>
        <p:spPr>
          <a:xfrm>
            <a:off x="9319107" y="1435607"/>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0%</a:t>
            </a:r>
          </a:p>
        </p:txBody>
      </p:sp>
      <p:sp>
        <p:nvSpPr>
          <p:cNvPr id="21" name="Stat label"/>
          <p:cNvSpPr txBox="1"/>
          <p:nvPr/>
        </p:nvSpPr>
        <p:spPr>
          <a:xfrm>
            <a:off x="9319107" y="2221991"/>
            <a:ext cx="2178558" cy="1325880"/>
          </a:xfrm>
          <a:prstGeom prst="rect">
            <a:avLst/>
          </a:prstGeom>
          <a:noFill/>
        </p:spPr>
        <p:txBody>
          <a:bodyPr wrap="square" lIns="0" tIns="0" rIns="0" bIns="0" anchor="t">
            <a:spAutoFit/>
          </a:bodyPr>
          <a:lstStyle/>
          <a:p>
            <a:pPr algn="l"/>
            <a:r>
              <a:rPr sz="1350" b="0">
                <a:solidFill>
                  <a:srgbClr val="152230"/>
                </a:solidFill>
                <a:latin typeface="Gartner Sans"/>
                <a:ea typeface="Gartner Sans"/>
                <a:cs typeface="Gartner Sans"/>
              </a:rPr>
              <a:t>Engineering leaders who agree with the 43% of developers who believe they exceed speed-to-market expectations</a:t>
            </a:r>
          </a:p>
        </p:txBody>
      </p:sp>
      <p:sp>
        <p:nvSpPr>
          <p:cNvPr id="22" name="Number 1"/>
          <p:cNvSpPr/>
          <p:nvPr/>
        </p:nvSpPr>
        <p:spPr>
          <a:xfrm>
            <a:off x="552297" y="4135374"/>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23" name="Point 1"/>
          <p:cNvSpPr txBox="1"/>
          <p:nvPr/>
        </p:nvSpPr>
        <p:spPr>
          <a:xfrm>
            <a:off x="1027785" y="3867912"/>
            <a:ext cx="4869179" cy="845819"/>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Start with general-purpose AI tools, then add specialised tools in phases.</a:t>
            </a:r>
          </a:p>
        </p:txBody>
      </p:sp>
      <p:cxnSp>
        <p:nvCxnSpPr>
          <p:cNvPr id="24" name="Divider"/>
          <p:cNvCxnSpPr/>
          <p:nvPr/>
        </p:nvCxnSpPr>
        <p:spPr>
          <a:xfrm>
            <a:off x="552297" y="4786884"/>
            <a:ext cx="5344668" cy="0"/>
          </a:xfrm>
          <a:prstGeom prst="line">
            <a:avLst/>
          </a:prstGeom>
          <a:ln w="9525">
            <a:solidFill>
              <a:srgbClr val="D0D7DF"/>
            </a:solidFill>
          </a:ln>
        </p:spPr>
      </p:cxnSp>
      <p:sp>
        <p:nvSpPr>
          <p:cNvPr id="25" name="Number 3"/>
          <p:cNvSpPr/>
          <p:nvPr/>
        </p:nvSpPr>
        <p:spPr>
          <a:xfrm>
            <a:off x="552297" y="512749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26" name="Point 2"/>
          <p:cNvSpPr txBox="1"/>
          <p:nvPr/>
        </p:nvSpPr>
        <p:spPr>
          <a:xfrm>
            <a:off x="1027785" y="4860036"/>
            <a:ext cx="4869179" cy="845819"/>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Manage vendor relationships, so that marketing claims do not set the expectations.</a:t>
            </a:r>
          </a:p>
        </p:txBody>
      </p:sp>
      <p:sp>
        <p:nvSpPr>
          <p:cNvPr id="27" name="Number 2"/>
          <p:cNvSpPr/>
          <p:nvPr/>
        </p:nvSpPr>
        <p:spPr>
          <a:xfrm>
            <a:off x="6354165" y="4135374"/>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28" name="Point 2"/>
          <p:cNvSpPr txBox="1"/>
          <p:nvPr/>
        </p:nvSpPr>
        <p:spPr>
          <a:xfrm>
            <a:off x="6829653" y="3867912"/>
            <a:ext cx="4869179" cy="845819"/>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Invest in change management and upskilling.</a:t>
            </a:r>
          </a:p>
        </p:txBody>
      </p:sp>
      <p:cxnSp>
        <p:nvCxnSpPr>
          <p:cNvPr id="29" name="Divider"/>
          <p:cNvCxnSpPr/>
          <p:nvPr/>
        </p:nvCxnSpPr>
        <p:spPr>
          <a:xfrm>
            <a:off x="6354165" y="4786884"/>
            <a:ext cx="5344668" cy="0"/>
          </a:xfrm>
          <a:prstGeom prst="line">
            <a:avLst/>
          </a:prstGeom>
          <a:ln w="9525">
            <a:solidFill>
              <a:srgbClr val="D0D7DF"/>
            </a:solidFill>
          </a:ln>
        </p:spPr>
      </p:cxnSp>
      <p:sp>
        <p:nvSpPr>
          <p:cNvPr id="30" name="Number 4"/>
          <p:cNvSpPr/>
          <p:nvPr/>
        </p:nvSpPr>
        <p:spPr>
          <a:xfrm>
            <a:off x="6354165" y="512749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31" name="Point 3"/>
          <p:cNvSpPr txBox="1"/>
          <p:nvPr/>
        </p:nvSpPr>
        <p:spPr>
          <a:xfrm>
            <a:off x="6829653" y="4860036"/>
            <a:ext cx="4869179" cy="845819"/>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Focus on high-value, low-efficiency parts of the SDLC.</a:t>
            </a:r>
          </a:p>
        </p:txBody>
      </p:sp>
      <p:sp>
        <p:nvSpPr>
          <p:cNvPr id="32"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G00844726</a:t>
            </a:r>
          </a:p>
        </p:txBody>
      </p:sp>
    </p:spTree>
    <p:extLst>
      <p:ext uri="{BB962C8B-B14F-4D97-AF65-F5344CB8AC3E}">
        <p14:creationId xmlns:p14="http://schemas.microsoft.com/office/powerpoint/2010/main" val="3144827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Map the value stream before redesigning</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50</a:t>
            </a:r>
          </a:p>
        </p:txBody>
      </p:sp>
      <p:sp>
        <p:nvSpPr>
          <p:cNvPr id="10" name="Number 1"/>
          <p:cNvSpPr/>
          <p:nvPr/>
        </p:nvSpPr>
        <p:spPr>
          <a:xfrm>
            <a:off x="552297" y="1727073"/>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1" name="Point 1"/>
          <p:cNvSpPr txBox="1"/>
          <p:nvPr/>
        </p:nvSpPr>
        <p:spPr>
          <a:xfrm>
            <a:off x="1027785" y="1399032"/>
            <a:ext cx="592531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Measure lead time, cycle time, wait time and defect escape to find where AI-accelerated work still sits idle.</a:t>
            </a:r>
          </a:p>
        </p:txBody>
      </p:sp>
      <p:cxnSp>
        <p:nvCxnSpPr>
          <p:cNvPr id="12" name="Divider"/>
          <p:cNvCxnSpPr/>
          <p:nvPr/>
        </p:nvCxnSpPr>
        <p:spPr>
          <a:xfrm>
            <a:off x="552297" y="2439162"/>
            <a:ext cx="6400800" cy="0"/>
          </a:xfrm>
          <a:prstGeom prst="line">
            <a:avLst/>
          </a:prstGeom>
          <a:ln w="9525">
            <a:solidFill>
              <a:srgbClr val="D0D7DF"/>
            </a:solidFill>
          </a:ln>
        </p:spPr>
      </p:cxnSp>
      <p:sp>
        <p:nvSpPr>
          <p:cNvPr id="13" name="Number 2"/>
          <p:cNvSpPr/>
          <p:nvPr/>
        </p:nvSpPr>
        <p:spPr>
          <a:xfrm>
            <a:off x="552297" y="2840355"/>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4" name="Point 2"/>
          <p:cNvSpPr txBox="1"/>
          <p:nvPr/>
        </p:nvSpPr>
        <p:spPr>
          <a:xfrm>
            <a:off x="1027785" y="2512314"/>
            <a:ext cx="592531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Look at handoffs between teams and at the inner loops within each phase.</a:t>
            </a:r>
          </a:p>
        </p:txBody>
      </p:sp>
      <p:cxnSp>
        <p:nvCxnSpPr>
          <p:cNvPr id="15" name="Divider"/>
          <p:cNvCxnSpPr/>
          <p:nvPr/>
        </p:nvCxnSpPr>
        <p:spPr>
          <a:xfrm>
            <a:off x="552297" y="3552444"/>
            <a:ext cx="6400800" cy="0"/>
          </a:xfrm>
          <a:prstGeom prst="line">
            <a:avLst/>
          </a:prstGeom>
          <a:ln w="9525">
            <a:solidFill>
              <a:srgbClr val="D0D7DF"/>
            </a:solidFill>
          </a:ln>
        </p:spPr>
      </p:cxnSp>
      <p:sp>
        <p:nvSpPr>
          <p:cNvPr id="16" name="Number 3"/>
          <p:cNvSpPr/>
          <p:nvPr/>
        </p:nvSpPr>
        <p:spPr>
          <a:xfrm>
            <a:off x="552297" y="395363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7" name="Point 3"/>
          <p:cNvSpPr txBox="1"/>
          <p:nvPr/>
        </p:nvSpPr>
        <p:spPr>
          <a:xfrm>
            <a:off x="1027785" y="3625596"/>
            <a:ext cx="592531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Put basic automation in place first: continuous integration, static code analysis and automated deployment.</a:t>
            </a:r>
          </a:p>
        </p:txBody>
      </p:sp>
      <p:cxnSp>
        <p:nvCxnSpPr>
          <p:cNvPr id="18" name="Divider"/>
          <p:cNvCxnSpPr/>
          <p:nvPr/>
        </p:nvCxnSpPr>
        <p:spPr>
          <a:xfrm>
            <a:off x="552297" y="4665726"/>
            <a:ext cx="6400800" cy="0"/>
          </a:xfrm>
          <a:prstGeom prst="line">
            <a:avLst/>
          </a:prstGeom>
          <a:ln w="9525">
            <a:solidFill>
              <a:srgbClr val="D0D7DF"/>
            </a:solidFill>
          </a:ln>
        </p:spPr>
      </p:cxnSp>
      <p:sp>
        <p:nvSpPr>
          <p:cNvPr id="19" name="Number 4"/>
          <p:cNvSpPr/>
          <p:nvPr/>
        </p:nvSpPr>
        <p:spPr>
          <a:xfrm>
            <a:off x="552297" y="5066919"/>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20" name="Point 4"/>
          <p:cNvSpPr txBox="1"/>
          <p:nvPr/>
        </p:nvSpPr>
        <p:spPr>
          <a:xfrm>
            <a:off x="1027785" y="4738878"/>
            <a:ext cx="592531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AI is not the answer to every blocker. CBRE found that an existing observability tool solved slow error monitoring better than a new AI tool.</a:t>
            </a:r>
          </a:p>
        </p:txBody>
      </p:sp>
      <p:sp>
        <p:nvSpPr>
          <p:cNvPr id="21" name="Card heading"/>
          <p:cNvSpPr/>
          <p:nvPr/>
        </p:nvSpPr>
        <p:spPr>
          <a:xfrm>
            <a:off x="7498079" y="1325880"/>
            <a:ext cx="4200753"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Where mismatches appear</a:t>
            </a:r>
          </a:p>
        </p:txBody>
      </p:sp>
      <p:sp>
        <p:nvSpPr>
          <p:cNvPr id="22" name="Card body"/>
          <p:cNvSpPr/>
          <p:nvPr/>
        </p:nvSpPr>
        <p:spPr>
          <a:xfrm>
            <a:off x="7498079" y="1828800"/>
            <a:ext cx="4200753" cy="210312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750" b="0">
                <a:solidFill>
                  <a:srgbClr val="152230"/>
                </a:solidFill>
                <a:latin typeface="Gartner Sans"/>
                <a:ea typeface="Gartner Sans"/>
                <a:cs typeface="Gartner Sans"/>
              </a:rPr>
              <a:t>At role boundaries</a:t>
            </a:r>
          </a:p>
          <a:p>
            <a:pPr marL="171450" indent="-171450" algn="l">
              <a:spcBef>
                <a:spcPts val="800"/>
              </a:spcBef>
              <a:buFont typeface="Arial"/>
              <a:buChar char="•"/>
            </a:pPr>
            <a:r>
              <a:rPr sz="1750" b="0">
                <a:solidFill>
                  <a:srgbClr val="152230"/>
                </a:solidFill>
                <a:latin typeface="Gartner Sans"/>
                <a:ea typeface="Gartner Sans"/>
                <a:cs typeface="Gartner Sans"/>
              </a:rPr>
              <a:t>Between phases of work</a:t>
            </a:r>
          </a:p>
          <a:p>
            <a:pPr marL="171450" indent="-171450" algn="l">
              <a:spcBef>
                <a:spcPts val="800"/>
              </a:spcBef>
              <a:buFont typeface="Arial"/>
              <a:buChar char="•"/>
            </a:pPr>
            <a:r>
              <a:rPr sz="1750" b="0">
                <a:solidFill>
                  <a:srgbClr val="152230"/>
                </a:solidFill>
                <a:latin typeface="Gartner Sans"/>
                <a:ea typeface="Gartner Sans"/>
                <a:cs typeface="Gartner Sans"/>
              </a:rPr>
              <a:t>In metrics that no longer reflect how value moves through an AI-augmented workflow</a:t>
            </a:r>
          </a:p>
        </p:txBody>
      </p:sp>
      <p:sp>
        <p:nvSpPr>
          <p:cNvPr id="23" name="Goal"/>
          <p:cNvSpPr/>
          <p:nvPr/>
        </p:nvSpPr>
        <p:spPr>
          <a:xfrm>
            <a:off x="7498079" y="4206240"/>
            <a:ext cx="4200753" cy="1554480"/>
          </a:xfrm>
          <a:prstGeom prst="rect">
            <a:avLst/>
          </a:prstGeom>
          <a:solidFill>
            <a:srgbClr val="F0F7FD"/>
          </a:solidFill>
          <a:ln>
            <a:noFill/>
          </a:ln>
        </p:spPr>
        <p:txBody>
          <a:bodyPr wrap="square" lIns="228600" rIns="182880" rtlCol="0" anchor="ctr"/>
          <a:lstStyle/>
          <a:p>
            <a:pPr algn="l"/>
            <a:r>
              <a:rPr sz="1750" b="1">
                <a:solidFill>
                  <a:srgbClr val="002869"/>
                </a:solidFill>
                <a:latin typeface="Gartner Sans"/>
                <a:ea typeface="Gartner Sans"/>
                <a:cs typeface="Gartner Sans"/>
              </a:rPr>
              <a:t>The goal </a:t>
            </a:r>
            <a:r>
              <a:rPr sz="1750" b="0">
                <a:solidFill>
                  <a:srgbClr val="152230"/>
                </a:solidFill>
                <a:latin typeface="Gartner Sans"/>
                <a:ea typeface="Gartner Sans"/>
                <a:cs typeface="Gartner Sans"/>
              </a:rPr>
              <a:t>is to remove the slowest steps without compromising quality, flow or governance.</a:t>
            </a:r>
          </a:p>
        </p:txBody>
      </p:sp>
      <p:sp>
        <p:nvSpPr>
          <p:cNvPr id="24"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G00857393 (point 1 and the panel); G00843405 (points 2 to 4)</a:t>
            </a:r>
          </a:p>
        </p:txBody>
      </p:sp>
    </p:spTree>
    <p:extLst>
      <p:ext uri="{BB962C8B-B14F-4D97-AF65-F5344CB8AC3E}">
        <p14:creationId xmlns:p14="http://schemas.microsoft.com/office/powerpoint/2010/main" val="239896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Identify and prioritise use cases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51</a:t>
            </a:r>
          </a:p>
        </p:txBody>
      </p:sp>
      <p:sp>
        <p:nvSpPr>
          <p:cNvPr id="10" name="Number 1"/>
          <p:cNvSpPr/>
          <p:nvPr/>
        </p:nvSpPr>
        <p:spPr>
          <a:xfrm>
            <a:off x="552297" y="170383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1" name="Point 1"/>
          <p:cNvSpPr txBox="1"/>
          <p:nvPr/>
        </p:nvSpPr>
        <p:spPr>
          <a:xfrm>
            <a:off x="1027785" y="1399032"/>
            <a:ext cx="4869179" cy="920496"/>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Map all phases of the SDLC and identify the inefficiencies.</a:t>
            </a:r>
          </a:p>
        </p:txBody>
      </p:sp>
      <p:cxnSp>
        <p:nvCxnSpPr>
          <p:cNvPr id="12" name="Divider"/>
          <p:cNvCxnSpPr/>
          <p:nvPr/>
        </p:nvCxnSpPr>
        <p:spPr>
          <a:xfrm>
            <a:off x="552297" y="2392680"/>
            <a:ext cx="5344668" cy="0"/>
          </a:xfrm>
          <a:prstGeom prst="line">
            <a:avLst/>
          </a:prstGeom>
          <a:ln w="9525">
            <a:solidFill>
              <a:srgbClr val="D0D7DF"/>
            </a:solidFill>
          </a:ln>
        </p:spPr>
      </p:cxnSp>
      <p:sp>
        <p:nvSpPr>
          <p:cNvPr id="13" name="Number 2"/>
          <p:cNvSpPr/>
          <p:nvPr/>
        </p:nvSpPr>
        <p:spPr>
          <a:xfrm>
            <a:off x="552297" y="277063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4" name="Point 2"/>
          <p:cNvSpPr txBox="1"/>
          <p:nvPr/>
        </p:nvSpPr>
        <p:spPr>
          <a:xfrm>
            <a:off x="1027785" y="2465832"/>
            <a:ext cx="4869179" cy="920496"/>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Use targeted surveys and data collection to find specific pain points.</a:t>
            </a:r>
          </a:p>
        </p:txBody>
      </p:sp>
      <p:cxnSp>
        <p:nvCxnSpPr>
          <p:cNvPr id="15" name="Divider"/>
          <p:cNvCxnSpPr/>
          <p:nvPr/>
        </p:nvCxnSpPr>
        <p:spPr>
          <a:xfrm>
            <a:off x="552297" y="3459480"/>
            <a:ext cx="5344668" cy="0"/>
          </a:xfrm>
          <a:prstGeom prst="line">
            <a:avLst/>
          </a:prstGeom>
          <a:ln w="9525">
            <a:solidFill>
              <a:srgbClr val="D0D7DF"/>
            </a:solidFill>
          </a:ln>
        </p:spPr>
      </p:cxnSp>
      <p:sp>
        <p:nvSpPr>
          <p:cNvPr id="16" name="Number 3"/>
          <p:cNvSpPr/>
          <p:nvPr/>
        </p:nvSpPr>
        <p:spPr>
          <a:xfrm>
            <a:off x="552297" y="3837431"/>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7" name="Point 3"/>
          <p:cNvSpPr txBox="1"/>
          <p:nvPr/>
        </p:nvSpPr>
        <p:spPr>
          <a:xfrm>
            <a:off x="1027785" y="3532632"/>
            <a:ext cx="4869179" cy="920496"/>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Assess technical viability and business value with established frameworks.</a:t>
            </a:r>
          </a:p>
        </p:txBody>
      </p:sp>
      <p:sp>
        <p:nvSpPr>
          <p:cNvPr id="18" name="Number 4"/>
          <p:cNvSpPr/>
          <p:nvPr/>
        </p:nvSpPr>
        <p:spPr>
          <a:xfrm>
            <a:off x="6354165" y="170383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19" name="Point 4"/>
          <p:cNvSpPr txBox="1"/>
          <p:nvPr/>
        </p:nvSpPr>
        <p:spPr>
          <a:xfrm>
            <a:off x="6829653" y="1399032"/>
            <a:ext cx="4869179" cy="920496"/>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Prioritise use cases with transformational benefit, not only incremental gains.</a:t>
            </a:r>
          </a:p>
        </p:txBody>
      </p:sp>
      <p:cxnSp>
        <p:nvCxnSpPr>
          <p:cNvPr id="20" name="Divider"/>
          <p:cNvCxnSpPr/>
          <p:nvPr/>
        </p:nvCxnSpPr>
        <p:spPr>
          <a:xfrm>
            <a:off x="6354165" y="2392680"/>
            <a:ext cx="5344668" cy="0"/>
          </a:xfrm>
          <a:prstGeom prst="line">
            <a:avLst/>
          </a:prstGeom>
          <a:ln w="9525">
            <a:solidFill>
              <a:srgbClr val="D0D7DF"/>
            </a:solidFill>
          </a:ln>
        </p:spPr>
      </p:cxnSp>
      <p:sp>
        <p:nvSpPr>
          <p:cNvPr id="21" name="Number 5"/>
          <p:cNvSpPr/>
          <p:nvPr/>
        </p:nvSpPr>
        <p:spPr>
          <a:xfrm>
            <a:off x="6354165" y="277063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5</a:t>
            </a:r>
          </a:p>
        </p:txBody>
      </p:sp>
      <p:sp>
        <p:nvSpPr>
          <p:cNvPr id="22" name="Point 5"/>
          <p:cNvSpPr txBox="1"/>
          <p:nvPr/>
        </p:nvSpPr>
        <p:spPr>
          <a:xfrm>
            <a:off x="6829653" y="2465832"/>
            <a:ext cx="4869179" cy="920496"/>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Build an AI-centric culture and the skills that teams need.</a:t>
            </a:r>
          </a:p>
        </p:txBody>
      </p:sp>
      <p:cxnSp>
        <p:nvCxnSpPr>
          <p:cNvPr id="23" name="Divider"/>
          <p:cNvCxnSpPr/>
          <p:nvPr/>
        </p:nvCxnSpPr>
        <p:spPr>
          <a:xfrm>
            <a:off x="6354165" y="3459480"/>
            <a:ext cx="5344668" cy="0"/>
          </a:xfrm>
          <a:prstGeom prst="line">
            <a:avLst/>
          </a:prstGeom>
          <a:ln w="9525">
            <a:solidFill>
              <a:srgbClr val="D0D7DF"/>
            </a:solidFill>
          </a:ln>
        </p:spPr>
      </p:cxnSp>
      <p:sp>
        <p:nvSpPr>
          <p:cNvPr id="24" name="Number 6"/>
          <p:cNvSpPr/>
          <p:nvPr/>
        </p:nvSpPr>
        <p:spPr>
          <a:xfrm>
            <a:off x="6354165" y="3837431"/>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6</a:t>
            </a:r>
          </a:p>
        </p:txBody>
      </p:sp>
      <p:sp>
        <p:nvSpPr>
          <p:cNvPr id="25" name="Point 6"/>
          <p:cNvSpPr txBox="1"/>
          <p:nvPr/>
        </p:nvSpPr>
        <p:spPr>
          <a:xfrm>
            <a:off x="6829653" y="3532632"/>
            <a:ext cx="4869179" cy="920496"/>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Involve security, legal and procurement, so that governance, compliance and cost are aligned.</a:t>
            </a:r>
          </a:p>
        </p:txBody>
      </p:sp>
      <p:sp>
        <p:nvSpPr>
          <p:cNvPr id="26" name="Note"/>
          <p:cNvSpPr/>
          <p:nvPr/>
        </p:nvSpPr>
        <p:spPr>
          <a:xfrm>
            <a:off x="552297" y="4754880"/>
            <a:ext cx="11146536" cy="1005840"/>
          </a:xfrm>
          <a:prstGeom prst="rect">
            <a:avLst/>
          </a:prstGeom>
          <a:solidFill>
            <a:srgbClr val="F0F7FD"/>
          </a:solidFill>
          <a:ln>
            <a:noFill/>
          </a:ln>
        </p:spPr>
        <p:txBody>
          <a:bodyPr wrap="square" lIns="228600" rIns="228600" rtlCol="0" anchor="ctr"/>
          <a:lstStyle/>
          <a:p>
            <a:pPr algn="l"/>
            <a:r>
              <a:rPr sz="1750" b="1">
                <a:solidFill>
                  <a:srgbClr val="002869"/>
                </a:solidFill>
                <a:latin typeface="Gartner Sans"/>
                <a:ea typeface="Gartner Sans"/>
                <a:cs typeface="Gartner Sans"/>
              </a:rPr>
              <a:t>Look beyond coding. </a:t>
            </a:r>
            <a:r>
              <a:rPr sz="1750" b="0">
                <a:solidFill>
                  <a:srgbClr val="152230"/>
                </a:solidFill>
                <a:latin typeface="Gartner Sans"/>
                <a:ea typeface="Gartner Sans"/>
                <a:cs typeface="Gartner Sans"/>
              </a:rPr>
              <a:t>Fewer than half of organisations use AI upstream (requirements, ideation, design, user stories) or downstream (code review, deployment, monitoring).</a:t>
            </a:r>
          </a:p>
        </p:txBody>
      </p:sp>
      <p:sp>
        <p:nvSpPr>
          <p:cNvPr id="27"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G00844726 (points 1 to 6); G00843405 (note)</a:t>
            </a:r>
          </a:p>
        </p:txBody>
      </p:sp>
      <p:sp>
        <p:nvSpPr>
          <p:cNvPr id="3" name="Rectangle 2">
            <a:extLst>
              <a:ext uri="{FF2B5EF4-FFF2-40B4-BE49-F238E27FC236}">
                <a16:creationId xmlns:a16="http://schemas.microsoft.com/office/drawing/2014/main" id="{0BF29B7F-BBC2-B170-D2B5-8267BBD007AA}"/>
              </a:ext>
            </a:extLst>
          </p:cNvPr>
          <p:cNvSpPr/>
          <p:nvPr/>
        </p:nvSpPr>
        <p:spPr>
          <a:xfrm>
            <a:off x="365760" y="1597152"/>
            <a:ext cx="5705856" cy="560832"/>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351FC86D-482B-7068-B45F-762BA643F6A5}"/>
              </a:ext>
            </a:extLst>
          </p:cNvPr>
          <p:cNvSpPr/>
          <p:nvPr/>
        </p:nvSpPr>
        <p:spPr>
          <a:xfrm>
            <a:off x="6211824" y="1591056"/>
            <a:ext cx="5705856" cy="560832"/>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EEBE3713-98BC-96D3-9191-FA96B98BF7B2}"/>
              </a:ext>
            </a:extLst>
          </p:cNvPr>
          <p:cNvSpPr/>
          <p:nvPr/>
        </p:nvSpPr>
        <p:spPr>
          <a:xfrm>
            <a:off x="402336" y="3681984"/>
            <a:ext cx="5705856" cy="560832"/>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532D7DC-B98C-9814-A0DD-2AB388ACB009}"/>
              </a:ext>
            </a:extLst>
          </p:cNvPr>
          <p:cNvSpPr/>
          <p:nvPr/>
        </p:nvSpPr>
        <p:spPr>
          <a:xfrm>
            <a:off x="6199632" y="2639568"/>
            <a:ext cx="5705856" cy="560832"/>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ED6BC519-0353-8218-7CEC-E165BA0419C6}"/>
              </a:ext>
            </a:extLst>
          </p:cNvPr>
          <p:cNvSpPr/>
          <p:nvPr/>
        </p:nvSpPr>
        <p:spPr>
          <a:xfrm>
            <a:off x="359664" y="2651760"/>
            <a:ext cx="5705856" cy="560832"/>
          </a:xfrm>
          <a:prstGeom prst="rect">
            <a:avLst/>
          </a:prstGeom>
          <a:noFill/>
          <a:ln w="38100">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82116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Select tools through controlled pilots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52</a:t>
            </a:r>
          </a:p>
        </p:txBody>
      </p:sp>
      <p:sp>
        <p:nvSpPr>
          <p:cNvPr id="10" name="Use cases and KPIs"/>
          <p:cNvSpPr/>
          <p:nvPr/>
        </p:nvSpPr>
        <p:spPr>
          <a:xfrm>
            <a:off x="552297" y="1325880"/>
            <a:ext cx="3532632" cy="2057400"/>
          </a:xfrm>
          <a:prstGeom prst="rect">
            <a:avLst/>
          </a:prstGeom>
          <a:solidFill>
            <a:srgbClr val="F0F7FD"/>
          </a:solidFill>
          <a:ln>
            <a:noFill/>
          </a:ln>
        </p:spPr>
        <p:txBody>
          <a:bodyPr rtlCol="0" anchor="ctr"/>
          <a:lstStyle/>
          <a:p>
            <a:pPr algn="ctr"/>
            <a:endParaRPr/>
          </a:p>
        </p:txBody>
      </p:sp>
      <p:sp>
        <p:nvSpPr>
          <p:cNvPr id="11" name="Number 1"/>
          <p:cNvSpPr/>
          <p:nvPr/>
        </p:nvSpPr>
        <p:spPr>
          <a:xfrm>
            <a:off x="780897" y="1527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2" name="Use cases and KPIs text"/>
          <p:cNvSpPr txBox="1"/>
          <p:nvPr/>
        </p:nvSpPr>
        <p:spPr>
          <a:xfrm>
            <a:off x="1256385" y="1472184"/>
            <a:ext cx="2618232"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Use cases and KPIs</a:t>
            </a:r>
          </a:p>
          <a:p>
            <a:pPr algn="l">
              <a:spcBef>
                <a:spcPts val="500"/>
              </a:spcBef>
            </a:pPr>
            <a:r>
              <a:rPr sz="1750" b="0">
                <a:solidFill>
                  <a:srgbClr val="152230"/>
                </a:solidFill>
                <a:latin typeface="Gartner Sans"/>
                <a:ea typeface="Gartner Sans"/>
                <a:cs typeface="Gartner Sans"/>
              </a:rPr>
              <a:t>Define precise use cases and KPIs. Choose tools that cover several SDLC phases.</a:t>
            </a:r>
          </a:p>
        </p:txBody>
      </p:sp>
      <p:sp>
        <p:nvSpPr>
          <p:cNvPr id="13" name="Evaluation team"/>
          <p:cNvSpPr/>
          <p:nvPr/>
        </p:nvSpPr>
        <p:spPr>
          <a:xfrm>
            <a:off x="4359249" y="1325880"/>
            <a:ext cx="3532632" cy="2057400"/>
          </a:xfrm>
          <a:prstGeom prst="rect">
            <a:avLst/>
          </a:prstGeom>
          <a:solidFill>
            <a:srgbClr val="F0F7FD"/>
          </a:solidFill>
          <a:ln>
            <a:noFill/>
          </a:ln>
        </p:spPr>
        <p:txBody>
          <a:bodyPr rtlCol="0" anchor="ctr"/>
          <a:lstStyle/>
          <a:p>
            <a:pPr algn="ctr"/>
            <a:endParaRPr/>
          </a:p>
        </p:txBody>
      </p:sp>
      <p:sp>
        <p:nvSpPr>
          <p:cNvPr id="14" name="Number 2"/>
          <p:cNvSpPr/>
          <p:nvPr/>
        </p:nvSpPr>
        <p:spPr>
          <a:xfrm>
            <a:off x="4587849" y="1527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5" name="Evaluation team text"/>
          <p:cNvSpPr txBox="1"/>
          <p:nvPr/>
        </p:nvSpPr>
        <p:spPr>
          <a:xfrm>
            <a:off x="5063337" y="1472184"/>
            <a:ext cx="2618232"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Evaluation team</a:t>
            </a:r>
          </a:p>
          <a:p>
            <a:pPr algn="l">
              <a:spcBef>
                <a:spcPts val="500"/>
              </a:spcBef>
            </a:pPr>
            <a:r>
              <a:rPr sz="1750" b="0">
                <a:solidFill>
                  <a:srgbClr val="152230"/>
                </a:solidFill>
                <a:latin typeface="Gartner Sans"/>
                <a:ea typeface="Gartner Sans"/>
                <a:cs typeface="Gartner Sans"/>
              </a:rPr>
              <a:t>Include technical, business and operational stakeholders.</a:t>
            </a:r>
          </a:p>
        </p:txBody>
      </p:sp>
      <p:sp>
        <p:nvSpPr>
          <p:cNvPr id="16" name="Evaluation criteria"/>
          <p:cNvSpPr/>
          <p:nvPr/>
        </p:nvSpPr>
        <p:spPr>
          <a:xfrm>
            <a:off x="8166201" y="1325880"/>
            <a:ext cx="3532632" cy="2057400"/>
          </a:xfrm>
          <a:prstGeom prst="rect">
            <a:avLst/>
          </a:prstGeom>
          <a:solidFill>
            <a:srgbClr val="F0F7FD"/>
          </a:solidFill>
          <a:ln>
            <a:noFill/>
          </a:ln>
        </p:spPr>
        <p:txBody>
          <a:bodyPr rtlCol="0" anchor="ctr"/>
          <a:lstStyle/>
          <a:p>
            <a:pPr algn="ctr"/>
            <a:endParaRPr/>
          </a:p>
        </p:txBody>
      </p:sp>
      <p:sp>
        <p:nvSpPr>
          <p:cNvPr id="17" name="Number 3"/>
          <p:cNvSpPr/>
          <p:nvPr/>
        </p:nvSpPr>
        <p:spPr>
          <a:xfrm>
            <a:off x="8394801" y="1527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8" name="Evaluation criteria text"/>
          <p:cNvSpPr txBox="1"/>
          <p:nvPr/>
        </p:nvSpPr>
        <p:spPr>
          <a:xfrm>
            <a:off x="8870289" y="1472184"/>
            <a:ext cx="2618232"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Evaluation criteria</a:t>
            </a:r>
          </a:p>
          <a:p>
            <a:pPr algn="l">
              <a:spcBef>
                <a:spcPts val="500"/>
              </a:spcBef>
            </a:pPr>
            <a:r>
              <a:rPr sz="1750" b="0">
                <a:solidFill>
                  <a:srgbClr val="152230"/>
                </a:solidFill>
                <a:latin typeface="Gartner Sans"/>
                <a:ea typeface="Gartner Sans"/>
                <a:cs typeface="Gartner Sans"/>
              </a:rPr>
              <a:t>SDLC coverage, productivity impact, change effort, vendor credibility, compliance and cost.</a:t>
            </a:r>
          </a:p>
        </p:txBody>
      </p:sp>
      <p:sp>
        <p:nvSpPr>
          <p:cNvPr id="19" name="Controlled pilots"/>
          <p:cNvSpPr/>
          <p:nvPr/>
        </p:nvSpPr>
        <p:spPr>
          <a:xfrm>
            <a:off x="552297" y="3657600"/>
            <a:ext cx="3532632" cy="2057400"/>
          </a:xfrm>
          <a:prstGeom prst="rect">
            <a:avLst/>
          </a:prstGeom>
          <a:solidFill>
            <a:srgbClr val="F0F7FD"/>
          </a:solidFill>
          <a:ln>
            <a:noFill/>
          </a:ln>
        </p:spPr>
        <p:txBody>
          <a:bodyPr rtlCol="0" anchor="ctr"/>
          <a:lstStyle/>
          <a:p>
            <a:pPr algn="ctr"/>
            <a:endParaRPr/>
          </a:p>
        </p:txBody>
      </p:sp>
      <p:sp>
        <p:nvSpPr>
          <p:cNvPr id="20" name="Number 4"/>
          <p:cNvSpPr/>
          <p:nvPr/>
        </p:nvSpPr>
        <p:spPr>
          <a:xfrm>
            <a:off x="780897" y="385876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21" name="Controlled pilots text"/>
          <p:cNvSpPr txBox="1"/>
          <p:nvPr/>
        </p:nvSpPr>
        <p:spPr>
          <a:xfrm>
            <a:off x="1256385" y="3803904"/>
            <a:ext cx="2618232"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Controlled pilots</a:t>
            </a:r>
          </a:p>
          <a:p>
            <a:pPr algn="l">
              <a:spcBef>
                <a:spcPts val="500"/>
              </a:spcBef>
            </a:pPr>
            <a:r>
              <a:rPr sz="1750" b="0">
                <a:solidFill>
                  <a:srgbClr val="152230"/>
                </a:solidFill>
                <a:latin typeface="Gartner Sans"/>
                <a:ea typeface="Gartner Sans"/>
                <a:cs typeface="Gartner Sans"/>
              </a:rPr>
              <a:t>Validate tools in real workflows and gather developer feedback.</a:t>
            </a:r>
          </a:p>
        </p:txBody>
      </p:sp>
      <p:sp>
        <p:nvSpPr>
          <p:cNvPr id="22" name="Vendor partnership"/>
          <p:cNvSpPr/>
          <p:nvPr/>
        </p:nvSpPr>
        <p:spPr>
          <a:xfrm>
            <a:off x="4359249" y="3657600"/>
            <a:ext cx="3532632" cy="2057400"/>
          </a:xfrm>
          <a:prstGeom prst="rect">
            <a:avLst/>
          </a:prstGeom>
          <a:solidFill>
            <a:srgbClr val="F0F7FD"/>
          </a:solidFill>
          <a:ln>
            <a:noFill/>
          </a:ln>
        </p:spPr>
        <p:txBody>
          <a:bodyPr rtlCol="0" anchor="ctr"/>
          <a:lstStyle/>
          <a:p>
            <a:pPr algn="ctr"/>
            <a:endParaRPr/>
          </a:p>
        </p:txBody>
      </p:sp>
      <p:sp>
        <p:nvSpPr>
          <p:cNvPr id="23" name="Number 5"/>
          <p:cNvSpPr/>
          <p:nvPr/>
        </p:nvSpPr>
        <p:spPr>
          <a:xfrm>
            <a:off x="4587849" y="385876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5</a:t>
            </a:r>
          </a:p>
        </p:txBody>
      </p:sp>
      <p:sp>
        <p:nvSpPr>
          <p:cNvPr id="24" name="Vendor partnership text"/>
          <p:cNvSpPr txBox="1"/>
          <p:nvPr/>
        </p:nvSpPr>
        <p:spPr>
          <a:xfrm>
            <a:off x="5063337" y="3803904"/>
            <a:ext cx="2618232"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Vendor partnership</a:t>
            </a:r>
          </a:p>
          <a:p>
            <a:pPr algn="l">
              <a:spcBef>
                <a:spcPts val="500"/>
              </a:spcBef>
            </a:pPr>
            <a:r>
              <a:rPr sz="1750" b="0">
                <a:solidFill>
                  <a:srgbClr val="152230"/>
                </a:solidFill>
                <a:latin typeface="Gartner Sans"/>
                <a:ea typeface="Gartner Sans"/>
                <a:cs typeface="Gartner Sans"/>
              </a:rPr>
              <a:t>Look for transparency, support, integration and fit with the technology roadmap.</a:t>
            </a:r>
          </a:p>
        </p:txBody>
      </p:sp>
      <p:sp>
        <p:nvSpPr>
          <p:cNvPr id="25" name="Compliance and return"/>
          <p:cNvSpPr/>
          <p:nvPr/>
        </p:nvSpPr>
        <p:spPr>
          <a:xfrm>
            <a:off x="8166201" y="3657600"/>
            <a:ext cx="3532632" cy="2057400"/>
          </a:xfrm>
          <a:prstGeom prst="rect">
            <a:avLst/>
          </a:prstGeom>
          <a:solidFill>
            <a:srgbClr val="F0F7FD"/>
          </a:solidFill>
          <a:ln>
            <a:noFill/>
          </a:ln>
        </p:spPr>
        <p:txBody>
          <a:bodyPr rtlCol="0" anchor="ctr"/>
          <a:lstStyle/>
          <a:p>
            <a:pPr algn="ctr"/>
            <a:endParaRPr/>
          </a:p>
        </p:txBody>
      </p:sp>
      <p:sp>
        <p:nvSpPr>
          <p:cNvPr id="26" name="Number 6"/>
          <p:cNvSpPr/>
          <p:nvPr/>
        </p:nvSpPr>
        <p:spPr>
          <a:xfrm>
            <a:off x="8394801" y="385876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6</a:t>
            </a:r>
          </a:p>
        </p:txBody>
      </p:sp>
      <p:sp>
        <p:nvSpPr>
          <p:cNvPr id="27" name="Compliance and return text"/>
          <p:cNvSpPr txBox="1"/>
          <p:nvPr/>
        </p:nvSpPr>
        <p:spPr>
          <a:xfrm>
            <a:off x="8870289" y="3803904"/>
            <a:ext cx="2618232"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Compliance and return</a:t>
            </a:r>
          </a:p>
          <a:p>
            <a:pPr algn="l">
              <a:spcBef>
                <a:spcPts val="500"/>
              </a:spcBef>
            </a:pPr>
            <a:r>
              <a:rPr sz="1750" b="0">
                <a:solidFill>
                  <a:srgbClr val="152230"/>
                </a:solidFill>
                <a:latin typeface="Gartner Sans"/>
                <a:ea typeface="Gartner Sans"/>
                <a:cs typeface="Gartner Sans"/>
              </a:rPr>
              <a:t>Check data quality, security and risk requirements, and the cost justification.</a:t>
            </a:r>
          </a:p>
        </p:txBody>
      </p:sp>
      <p:sp>
        <p:nvSpPr>
          <p:cNvPr id="28"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G00844726</a:t>
            </a:r>
          </a:p>
        </p:txBody>
      </p:sp>
    </p:spTree>
    <p:extLst>
      <p:ext uri="{BB962C8B-B14F-4D97-AF65-F5344CB8AC3E}">
        <p14:creationId xmlns:p14="http://schemas.microsoft.com/office/powerpoint/2010/main" val="40979705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Build three foundations before scaling</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53</a:t>
            </a:r>
          </a:p>
        </p:txBody>
      </p:sp>
      <p:sp>
        <p:nvSpPr>
          <p:cNvPr id="10" name="Context engineering heading"/>
          <p:cNvSpPr/>
          <p:nvPr/>
        </p:nvSpPr>
        <p:spPr>
          <a:xfrm>
            <a:off x="552297" y="1325880"/>
            <a:ext cx="3532632" cy="548640"/>
          </a:xfrm>
          <a:prstGeom prst="rect">
            <a:avLst/>
          </a:prstGeom>
          <a:solidFill>
            <a:srgbClr val="002869"/>
          </a:solidFill>
          <a:ln>
            <a:noFill/>
          </a:ln>
        </p:spPr>
        <p:txBody>
          <a:bodyPr wrap="square" lIns="228600" tIns="0" rIns="228600" bIns="0" rtlCol="0" anchor="ctr"/>
          <a:lstStyle/>
          <a:p>
            <a:pPr algn="l"/>
            <a:r>
              <a:rPr sz="1800" b="1">
                <a:solidFill>
                  <a:srgbClr val="FFFFFF"/>
                </a:solidFill>
                <a:latin typeface="Gartner Sans"/>
                <a:ea typeface="Gartner Sans"/>
                <a:cs typeface="Gartner Sans"/>
              </a:rPr>
              <a:t>1  Context engineering</a:t>
            </a:r>
          </a:p>
        </p:txBody>
      </p:sp>
      <p:sp>
        <p:nvSpPr>
          <p:cNvPr id="11" name="Context engineering body"/>
          <p:cNvSpPr/>
          <p:nvPr/>
        </p:nvSpPr>
        <p:spPr>
          <a:xfrm>
            <a:off x="552297" y="1874519"/>
            <a:ext cx="3532632" cy="2331720"/>
          </a:xfrm>
          <a:prstGeom prst="rect">
            <a:avLst/>
          </a:prstGeom>
          <a:solidFill>
            <a:srgbClr val="F0F7FD"/>
          </a:solidFill>
          <a:ln>
            <a:noFill/>
          </a:ln>
        </p:spPr>
        <p:txBody>
          <a:bodyPr wrap="square" lIns="228600" tIns="201168" rIns="228600" bIns="137160" rtlCol="0" anchor="t"/>
          <a:lstStyle/>
          <a:p>
            <a:pPr algn="l"/>
            <a:r>
              <a:rPr sz="1550" b="0">
                <a:solidFill>
                  <a:srgbClr val="152230"/>
                </a:solidFill>
                <a:latin typeface="Gartner Sans"/>
                <a:ea typeface="Gartner Sans"/>
                <a:cs typeface="Gartner Sans"/>
              </a:rPr>
              <a:t>Keep architectural rules, coding standards and policy constraints as structured, version-controlled artefacts with clear owners. Keep them current and usable by engineers and AI tools.</a:t>
            </a:r>
          </a:p>
        </p:txBody>
      </p:sp>
      <p:sp>
        <p:nvSpPr>
          <p:cNvPr id="12" name="Platform engineering heading"/>
          <p:cNvSpPr/>
          <p:nvPr/>
        </p:nvSpPr>
        <p:spPr>
          <a:xfrm>
            <a:off x="4359249" y="1325880"/>
            <a:ext cx="3532632" cy="548640"/>
          </a:xfrm>
          <a:prstGeom prst="rect">
            <a:avLst/>
          </a:prstGeom>
          <a:solidFill>
            <a:srgbClr val="002869"/>
          </a:solidFill>
          <a:ln>
            <a:noFill/>
          </a:ln>
        </p:spPr>
        <p:txBody>
          <a:bodyPr wrap="square" lIns="228600" tIns="0" rIns="228600" bIns="0" rtlCol="0" anchor="ctr"/>
          <a:lstStyle/>
          <a:p>
            <a:pPr algn="l"/>
            <a:r>
              <a:rPr sz="1800" b="1">
                <a:solidFill>
                  <a:srgbClr val="FFFFFF"/>
                </a:solidFill>
                <a:latin typeface="Gartner Sans"/>
                <a:ea typeface="Gartner Sans"/>
                <a:cs typeface="Gartner Sans"/>
              </a:rPr>
              <a:t>2  Platform engineering</a:t>
            </a:r>
          </a:p>
        </p:txBody>
      </p:sp>
      <p:sp>
        <p:nvSpPr>
          <p:cNvPr id="13" name="Platform engineering body"/>
          <p:cNvSpPr/>
          <p:nvPr/>
        </p:nvSpPr>
        <p:spPr>
          <a:xfrm>
            <a:off x="4359249" y="1874519"/>
            <a:ext cx="3532632" cy="2331720"/>
          </a:xfrm>
          <a:prstGeom prst="rect">
            <a:avLst/>
          </a:prstGeom>
          <a:solidFill>
            <a:srgbClr val="F0F7FD"/>
          </a:solidFill>
          <a:ln>
            <a:noFill/>
          </a:ln>
        </p:spPr>
        <p:txBody>
          <a:bodyPr wrap="square" lIns="228600" tIns="201168" rIns="228600" bIns="137160" rtlCol="0" anchor="t"/>
          <a:lstStyle/>
          <a:p>
            <a:pPr algn="l"/>
            <a:r>
              <a:rPr sz="1550" b="0">
                <a:solidFill>
                  <a:srgbClr val="152230"/>
                </a:solidFill>
                <a:latin typeface="Gartner Sans"/>
                <a:ea typeface="Gartner Sans"/>
                <a:cs typeface="Gartner Sans"/>
              </a:rPr>
              <a:t>Scale AI through paved roads that embed validation, guardrails and security controls by default. Enforcement moves from individual developers to platform teams.</a:t>
            </a:r>
          </a:p>
        </p:txBody>
      </p:sp>
      <p:sp>
        <p:nvSpPr>
          <p:cNvPr id="14" name="Workflows and roles heading"/>
          <p:cNvSpPr/>
          <p:nvPr/>
        </p:nvSpPr>
        <p:spPr>
          <a:xfrm>
            <a:off x="8166201" y="1325880"/>
            <a:ext cx="3532632" cy="548640"/>
          </a:xfrm>
          <a:prstGeom prst="rect">
            <a:avLst/>
          </a:prstGeom>
          <a:solidFill>
            <a:srgbClr val="002869"/>
          </a:solidFill>
          <a:ln>
            <a:noFill/>
          </a:ln>
        </p:spPr>
        <p:txBody>
          <a:bodyPr wrap="square" lIns="228600" tIns="0" rIns="228600" bIns="0" rtlCol="0" anchor="ctr"/>
          <a:lstStyle/>
          <a:p>
            <a:pPr algn="l"/>
            <a:r>
              <a:rPr sz="1800" b="1">
                <a:solidFill>
                  <a:srgbClr val="FFFFFF"/>
                </a:solidFill>
                <a:latin typeface="Gartner Sans"/>
                <a:ea typeface="Gartner Sans"/>
                <a:cs typeface="Gartner Sans"/>
              </a:rPr>
              <a:t>3  Workflows and roles</a:t>
            </a:r>
          </a:p>
        </p:txBody>
      </p:sp>
      <p:sp>
        <p:nvSpPr>
          <p:cNvPr id="15" name="Workflows and roles body"/>
          <p:cNvSpPr/>
          <p:nvPr/>
        </p:nvSpPr>
        <p:spPr>
          <a:xfrm>
            <a:off x="8166201" y="1874519"/>
            <a:ext cx="3532632" cy="2331720"/>
          </a:xfrm>
          <a:prstGeom prst="rect">
            <a:avLst/>
          </a:prstGeom>
          <a:solidFill>
            <a:srgbClr val="F0F7FD"/>
          </a:solidFill>
          <a:ln>
            <a:noFill/>
          </a:ln>
        </p:spPr>
        <p:txBody>
          <a:bodyPr wrap="square" lIns="228600" tIns="201168" rIns="228600" bIns="137160" rtlCol="0" anchor="t"/>
          <a:lstStyle/>
          <a:p>
            <a:pPr algn="l"/>
            <a:r>
              <a:rPr sz="1550" b="0">
                <a:solidFill>
                  <a:srgbClr val="152230"/>
                </a:solidFill>
                <a:latin typeface="Gartner Sans"/>
                <a:ea typeface="Gartner Sans"/>
                <a:cs typeface="Gartner Sans"/>
              </a:rPr>
              <a:t>Adapt continuously as constraints move: apply AI, assess how constraints shift, then adjust roles and accountability. Expand autonomy only once variance, rework and coordination overhead decline.</a:t>
            </a:r>
          </a:p>
        </p:txBody>
      </p:sp>
      <p:sp>
        <p:nvSpPr>
          <p:cNvPr id="16" name="Note"/>
          <p:cNvSpPr/>
          <p:nvPr/>
        </p:nvSpPr>
        <p:spPr>
          <a:xfrm>
            <a:off x="552297" y="4434840"/>
            <a:ext cx="11146536" cy="1325880"/>
          </a:xfrm>
          <a:prstGeom prst="rect">
            <a:avLst/>
          </a:prstGeom>
          <a:solidFill>
            <a:srgbClr val="FFF3EB"/>
          </a:solidFill>
          <a:ln w="12700">
            <a:solidFill>
              <a:srgbClr val="C8460A"/>
            </a:solidFill>
          </a:ln>
        </p:spPr>
        <p:txBody>
          <a:bodyPr wrap="square" lIns="228600" rIns="228600" rtlCol="0" anchor="ctr"/>
          <a:lstStyle/>
          <a:p>
            <a:pPr algn="l"/>
            <a:r>
              <a:rPr sz="1800" b="1">
                <a:solidFill>
                  <a:srgbClr val="152230"/>
                </a:solidFill>
                <a:latin typeface="Gartner Sans"/>
                <a:ea typeface="Gartner Sans"/>
                <a:cs typeface="Gartner Sans"/>
              </a:rPr>
              <a:t>Cautions: </a:t>
            </a:r>
            <a:r>
              <a:rPr sz="1800" b="0">
                <a:solidFill>
                  <a:srgbClr val="152230"/>
                </a:solidFill>
                <a:latin typeface="Gartner Sans"/>
                <a:ea typeface="Gartner Sans"/>
                <a:cs typeface="Gartner Sans"/>
              </a:rPr>
              <a:t>early success can mislead, because expert engineers compensate by hand for what is missing. Individual review cannot keep pace as agent output grows. Do not redesign workflows up front, and do not leave change until after rollout.</a:t>
            </a:r>
          </a:p>
        </p:txBody>
      </p:sp>
      <p:sp>
        <p:nvSpPr>
          <p:cNvPr id="17"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G00850352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Implement the redesign in three phases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54</a:t>
            </a:r>
          </a:p>
        </p:txBody>
      </p:sp>
      <p:sp>
        <p:nvSpPr>
          <p:cNvPr id="10" name="Column 1 heading"/>
          <p:cNvSpPr/>
          <p:nvPr/>
        </p:nvSpPr>
        <p:spPr>
          <a:xfrm>
            <a:off x="552297" y="1325880"/>
            <a:ext cx="3532632" cy="777240"/>
          </a:xfrm>
          <a:prstGeom prst="rect">
            <a:avLst/>
          </a:prstGeom>
          <a:solidFill>
            <a:srgbClr val="002869"/>
          </a:solidFill>
          <a:ln>
            <a:noFill/>
          </a:ln>
        </p:spPr>
        <p:txBody>
          <a:bodyPr wrap="square" lIns="137160" tIns="0" bIns="0" rtlCol="0" anchor="ctr"/>
          <a:lstStyle/>
          <a:p>
            <a:pPr algn="l"/>
            <a:r>
              <a:rPr sz="1750" b="1">
                <a:solidFill>
                  <a:srgbClr val="FFFFFF"/>
                </a:solidFill>
                <a:latin typeface="Gartner Sans"/>
                <a:ea typeface="Gartner Sans"/>
                <a:cs typeface="Gartner Sans"/>
              </a:rPr>
              <a:t>Phase 1: resolve constraints</a:t>
            </a:r>
          </a:p>
        </p:txBody>
      </p:sp>
      <p:sp>
        <p:nvSpPr>
          <p:cNvPr id="11" name="Column 1 items"/>
          <p:cNvSpPr/>
          <p:nvPr/>
        </p:nvSpPr>
        <p:spPr>
          <a:xfrm>
            <a:off x="552297" y="2103120"/>
            <a:ext cx="3532632" cy="3291840"/>
          </a:xfrm>
          <a:prstGeom prst="rect">
            <a:avLst/>
          </a:prstGeom>
          <a:solidFill>
            <a:srgbClr val="F0F7FD"/>
          </a:solidFill>
          <a:ln>
            <a:noFill/>
          </a:ln>
        </p:spPr>
        <p:txBody>
          <a:bodyPr wrap="square" lIns="137160" tIns="128016" rtlCol="0" anchor="t"/>
          <a:lstStyle/>
          <a:p>
            <a:pPr marL="171450" indent="-171450" algn="l">
              <a:buFont typeface="Arial"/>
              <a:buChar char="•"/>
            </a:pPr>
            <a:r>
              <a:rPr sz="1750" b="0">
                <a:solidFill>
                  <a:srgbClr val="152230"/>
                </a:solidFill>
                <a:latin typeface="Gartner Sans"/>
                <a:ea typeface="Gartner Sans"/>
                <a:cs typeface="Gartner Sans"/>
              </a:rPr>
              <a:t>Map the software delivery value stream</a:t>
            </a:r>
          </a:p>
          <a:p>
            <a:pPr marL="171450" indent="-171450" algn="l">
              <a:spcBef>
                <a:spcPts val="400"/>
              </a:spcBef>
              <a:buFont typeface="Arial"/>
              <a:buChar char="•"/>
            </a:pPr>
            <a:r>
              <a:rPr sz="1750" b="0">
                <a:solidFill>
                  <a:srgbClr val="152230"/>
                </a:solidFill>
                <a:latin typeface="Gartner Sans"/>
                <a:ea typeface="Gartner Sans"/>
                <a:cs typeface="Gartner Sans"/>
              </a:rPr>
              <a:t>Resolve bottlenecks with AI and with non-AI automation</a:t>
            </a:r>
          </a:p>
          <a:p>
            <a:pPr marL="171450" indent="-171450" algn="l">
              <a:spcBef>
                <a:spcPts val="400"/>
              </a:spcBef>
              <a:buFont typeface="Arial"/>
              <a:buChar char="•"/>
            </a:pPr>
            <a:r>
              <a:rPr sz="1750" b="0">
                <a:solidFill>
                  <a:srgbClr val="152230"/>
                </a:solidFill>
                <a:latin typeface="Gartner Sans"/>
                <a:ea typeface="Gartner Sans"/>
                <a:cs typeface="Gartner Sans"/>
              </a:rPr>
              <a:t>Improve the experience of all roles, not only developers</a:t>
            </a:r>
          </a:p>
          <a:p>
            <a:pPr marL="171450" indent="-171450" algn="l">
              <a:spcBef>
                <a:spcPts val="400"/>
              </a:spcBef>
              <a:buFont typeface="Arial"/>
              <a:buChar char="•"/>
            </a:pPr>
            <a:r>
              <a:rPr sz="1750" b="0">
                <a:solidFill>
                  <a:srgbClr val="152230"/>
                </a:solidFill>
                <a:latin typeface="Gartner Sans"/>
                <a:ea typeface="Gartner Sans"/>
                <a:cs typeface="Gartner Sans"/>
              </a:rPr>
              <a:t>Establish internal developer platforms for consistency and scale</a:t>
            </a:r>
          </a:p>
        </p:txBody>
      </p:sp>
      <p:sp>
        <p:nvSpPr>
          <p:cNvPr id="12" name="Column 2 heading"/>
          <p:cNvSpPr/>
          <p:nvPr/>
        </p:nvSpPr>
        <p:spPr>
          <a:xfrm>
            <a:off x="4359249" y="1325880"/>
            <a:ext cx="3532632" cy="777240"/>
          </a:xfrm>
          <a:prstGeom prst="rect">
            <a:avLst/>
          </a:prstGeom>
          <a:solidFill>
            <a:srgbClr val="002869"/>
          </a:solidFill>
          <a:ln>
            <a:noFill/>
          </a:ln>
        </p:spPr>
        <p:txBody>
          <a:bodyPr wrap="square" lIns="137160" tIns="0" bIns="0" rtlCol="0" anchor="ctr"/>
          <a:lstStyle/>
          <a:p>
            <a:pPr algn="l"/>
            <a:r>
              <a:rPr sz="1750" b="1">
                <a:solidFill>
                  <a:srgbClr val="FFFFFF"/>
                </a:solidFill>
                <a:latin typeface="Gartner Sans"/>
                <a:ea typeface="Gartner Sans"/>
                <a:cs typeface="Gartner Sans"/>
              </a:rPr>
              <a:t>Phase 2: reimagine with asynchronous workflows</a:t>
            </a:r>
          </a:p>
        </p:txBody>
      </p:sp>
      <p:sp>
        <p:nvSpPr>
          <p:cNvPr id="13" name="Column 2 items"/>
          <p:cNvSpPr/>
          <p:nvPr/>
        </p:nvSpPr>
        <p:spPr>
          <a:xfrm>
            <a:off x="4359249" y="2103120"/>
            <a:ext cx="3532632" cy="3291840"/>
          </a:xfrm>
          <a:prstGeom prst="rect">
            <a:avLst/>
          </a:prstGeom>
          <a:solidFill>
            <a:srgbClr val="F0F7FD"/>
          </a:solidFill>
          <a:ln>
            <a:noFill/>
          </a:ln>
        </p:spPr>
        <p:txBody>
          <a:bodyPr wrap="square" lIns="137160" tIns="128016" rtlCol="0" anchor="t"/>
          <a:lstStyle/>
          <a:p>
            <a:pPr marL="171450" indent="-171450" algn="l">
              <a:buFont typeface="Arial"/>
              <a:buChar char="•"/>
            </a:pPr>
            <a:r>
              <a:rPr sz="1750" b="0">
                <a:solidFill>
                  <a:srgbClr val="152230"/>
                </a:solidFill>
                <a:latin typeface="Gartner Sans"/>
                <a:ea typeface="Gartner Sans"/>
                <a:cs typeface="Gartner Sans"/>
              </a:rPr>
              <a:t>Run tasks in parallel using asynchronous agents</a:t>
            </a:r>
          </a:p>
          <a:p>
            <a:pPr marL="171450" indent="-171450" algn="l">
              <a:spcBef>
                <a:spcPts val="400"/>
              </a:spcBef>
              <a:buFont typeface="Arial"/>
              <a:buChar char="•"/>
            </a:pPr>
            <a:r>
              <a:rPr sz="1750" b="0">
                <a:solidFill>
                  <a:srgbClr val="152230"/>
                </a:solidFill>
                <a:latin typeface="Gartner Sans"/>
                <a:ea typeface="Gartner Sans"/>
                <a:cs typeface="Gartner Sans"/>
              </a:rPr>
              <a:t>Decide which steps to remove and which to keep</a:t>
            </a:r>
          </a:p>
          <a:p>
            <a:pPr marL="171450" indent="-171450" algn="l">
              <a:spcBef>
                <a:spcPts val="400"/>
              </a:spcBef>
              <a:buFont typeface="Arial"/>
              <a:buChar char="•"/>
            </a:pPr>
            <a:r>
              <a:rPr sz="1750" b="0">
                <a:solidFill>
                  <a:srgbClr val="152230"/>
                </a:solidFill>
                <a:latin typeface="Gartner Sans"/>
                <a:ea typeface="Gartner Sans"/>
                <a:cs typeface="Gartner Sans"/>
              </a:rPr>
              <a:t>Extend the platform to govern, monitor and control agents</a:t>
            </a:r>
          </a:p>
        </p:txBody>
      </p:sp>
      <p:sp>
        <p:nvSpPr>
          <p:cNvPr id="14" name="Column 3 heading"/>
          <p:cNvSpPr/>
          <p:nvPr/>
        </p:nvSpPr>
        <p:spPr>
          <a:xfrm>
            <a:off x="8166201" y="1325880"/>
            <a:ext cx="3532632" cy="777240"/>
          </a:xfrm>
          <a:prstGeom prst="rect">
            <a:avLst/>
          </a:prstGeom>
          <a:solidFill>
            <a:srgbClr val="002869"/>
          </a:solidFill>
          <a:ln>
            <a:noFill/>
          </a:ln>
        </p:spPr>
        <p:txBody>
          <a:bodyPr wrap="square" lIns="137160" tIns="0" bIns="0" rtlCol="0" anchor="ctr"/>
          <a:lstStyle/>
          <a:p>
            <a:pPr algn="l"/>
            <a:r>
              <a:rPr sz="1750" b="1">
                <a:solidFill>
                  <a:srgbClr val="FFFFFF"/>
                </a:solidFill>
                <a:latin typeface="Gartner Sans"/>
                <a:ea typeface="Gartner Sans"/>
                <a:cs typeface="Gartner Sans"/>
              </a:rPr>
              <a:t>Phase 3: realise a zero-friction SDLC</a:t>
            </a:r>
          </a:p>
        </p:txBody>
      </p:sp>
      <p:sp>
        <p:nvSpPr>
          <p:cNvPr id="15" name="Column 3 items"/>
          <p:cNvSpPr/>
          <p:nvPr/>
        </p:nvSpPr>
        <p:spPr>
          <a:xfrm>
            <a:off x="8166201" y="2103120"/>
            <a:ext cx="3532632" cy="3291840"/>
          </a:xfrm>
          <a:prstGeom prst="rect">
            <a:avLst/>
          </a:prstGeom>
          <a:solidFill>
            <a:srgbClr val="F0F7FD"/>
          </a:solidFill>
          <a:ln>
            <a:noFill/>
          </a:ln>
        </p:spPr>
        <p:txBody>
          <a:bodyPr wrap="square" lIns="137160" tIns="128016" rtlCol="0" anchor="t"/>
          <a:lstStyle/>
          <a:p>
            <a:pPr marL="171450" indent="-171450" algn="l">
              <a:buFont typeface="Arial"/>
              <a:buChar char="•"/>
            </a:pPr>
            <a:r>
              <a:rPr sz="1750" b="0">
                <a:solidFill>
                  <a:srgbClr val="152230"/>
                </a:solidFill>
                <a:latin typeface="Gartner Sans"/>
                <a:ea typeface="Gartner Sans"/>
                <a:cs typeface="Gartner Sans"/>
              </a:rPr>
              <a:t>Implement autonomous self-improvement loops and address the pitfalls</a:t>
            </a:r>
          </a:p>
          <a:p>
            <a:pPr marL="171450" indent="-171450" algn="l">
              <a:spcBef>
                <a:spcPts val="400"/>
              </a:spcBef>
              <a:buFont typeface="Arial"/>
              <a:buChar char="•"/>
            </a:pPr>
            <a:r>
              <a:rPr sz="1750" b="0">
                <a:solidFill>
                  <a:srgbClr val="152230"/>
                </a:solidFill>
                <a:latin typeface="Gartner Sans"/>
                <a:ea typeface="Gartner Sans"/>
                <a:cs typeface="Gartner Sans"/>
              </a:rPr>
              <a:t>Expand platform support for autonomous delivery and operations</a:t>
            </a:r>
          </a:p>
          <a:p>
            <a:pPr marL="171450" indent="-171450" algn="l">
              <a:spcBef>
                <a:spcPts val="400"/>
              </a:spcBef>
              <a:buFont typeface="Arial"/>
              <a:buChar char="•"/>
            </a:pPr>
            <a:r>
              <a:rPr sz="1750" b="0">
                <a:solidFill>
                  <a:srgbClr val="152230"/>
                </a:solidFill>
                <a:latin typeface="Gartner Sans"/>
                <a:ea typeface="Gartner Sans"/>
                <a:cs typeface="Gartner Sans"/>
              </a:rPr>
              <a:t>Set human oversight by business criticality, acceptable risk and architectural complexity</a:t>
            </a:r>
          </a:p>
        </p:txBody>
      </p:sp>
      <p:sp>
        <p:nvSpPr>
          <p:cNvPr id="16"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G00843405</a:t>
            </a:r>
          </a:p>
        </p:txBody>
      </p:sp>
    </p:spTree>
    <p:extLst>
      <p:ext uri="{BB962C8B-B14F-4D97-AF65-F5344CB8AC3E}">
        <p14:creationId xmlns:p14="http://schemas.microsoft.com/office/powerpoint/2010/main" val="17247930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Manage quality, risk and cost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55</a:t>
            </a:r>
          </a:p>
        </p:txBody>
      </p:sp>
      <p:sp>
        <p:nvSpPr>
          <p:cNvPr id="10" name="Column 1 heading"/>
          <p:cNvSpPr/>
          <p:nvPr/>
        </p:nvSpPr>
        <p:spPr>
          <a:xfrm>
            <a:off x="552297" y="1325880"/>
            <a:ext cx="3532632" cy="502920"/>
          </a:xfrm>
          <a:prstGeom prst="rect">
            <a:avLst/>
          </a:prstGeom>
          <a:solidFill>
            <a:srgbClr val="002869"/>
          </a:solidFill>
          <a:ln>
            <a:noFill/>
          </a:ln>
        </p:spPr>
        <p:txBody>
          <a:bodyPr wrap="square" lIns="137160" tIns="0" bIns="0" rtlCol="0" anchor="ctr"/>
          <a:lstStyle/>
          <a:p>
            <a:pPr algn="l"/>
            <a:r>
              <a:rPr sz="1750" b="1">
                <a:solidFill>
                  <a:srgbClr val="FFFFFF"/>
                </a:solidFill>
                <a:latin typeface="Gartner Sans"/>
                <a:ea typeface="Gartner Sans"/>
                <a:cs typeface="Gartner Sans"/>
              </a:rPr>
              <a:t>Quality</a:t>
            </a:r>
          </a:p>
        </p:txBody>
      </p:sp>
      <p:sp>
        <p:nvSpPr>
          <p:cNvPr id="11" name="Column 1 items"/>
          <p:cNvSpPr/>
          <p:nvPr/>
        </p:nvSpPr>
        <p:spPr>
          <a:xfrm>
            <a:off x="552297" y="1828800"/>
            <a:ext cx="3532632" cy="3246120"/>
          </a:xfrm>
          <a:prstGeom prst="rect">
            <a:avLst/>
          </a:prstGeom>
          <a:solidFill>
            <a:srgbClr val="F0F7FD"/>
          </a:solidFill>
          <a:ln>
            <a:noFill/>
          </a:ln>
        </p:spPr>
        <p:txBody>
          <a:bodyPr wrap="square" lIns="137160" tIns="128016" rtlCol="0" anchor="t"/>
          <a:lstStyle/>
          <a:p>
            <a:pPr marL="171450" indent="-171450" algn="l">
              <a:buFont typeface="Arial"/>
              <a:buChar char="•"/>
            </a:pPr>
            <a:r>
              <a:rPr sz="1650" b="0">
                <a:solidFill>
                  <a:srgbClr val="152230"/>
                </a:solidFill>
                <a:latin typeface="Gartner Sans"/>
                <a:ea typeface="Gartner Sans"/>
                <a:cs typeface="Gartner Sans"/>
              </a:rPr>
              <a:t>Keep mandatory human oversight and code review</a:t>
            </a:r>
          </a:p>
          <a:p>
            <a:pPr marL="171450" indent="-171450" algn="l">
              <a:spcBef>
                <a:spcPts val="400"/>
              </a:spcBef>
              <a:buFont typeface="Arial"/>
              <a:buChar char="•"/>
            </a:pPr>
            <a:r>
              <a:rPr sz="1650" b="0">
                <a:solidFill>
                  <a:srgbClr val="152230"/>
                </a:solidFill>
                <a:latin typeface="Gartner Sans"/>
                <a:ea typeface="Gartner Sans"/>
                <a:cs typeface="Gartner Sans"/>
              </a:rPr>
              <a:t>Add AI code review and security scanning to continuous integration</a:t>
            </a:r>
          </a:p>
          <a:p>
            <a:pPr marL="171450" indent="-171450" algn="l">
              <a:spcBef>
                <a:spcPts val="400"/>
              </a:spcBef>
              <a:buFont typeface="Arial"/>
              <a:buChar char="•"/>
            </a:pPr>
            <a:r>
              <a:rPr sz="1650" b="0">
                <a:solidFill>
                  <a:srgbClr val="152230"/>
                </a:solidFill>
                <a:latin typeface="Gartner Sans"/>
                <a:ea typeface="Gartner Sans"/>
                <a:cs typeface="Gartner Sans"/>
              </a:rPr>
              <a:t>Automate testing and track quality metrics</a:t>
            </a:r>
          </a:p>
          <a:p>
            <a:pPr marL="171450" indent="-171450" algn="l">
              <a:spcBef>
                <a:spcPts val="400"/>
              </a:spcBef>
              <a:buFont typeface="Arial"/>
              <a:buChar char="•"/>
            </a:pPr>
            <a:r>
              <a:rPr sz="1650" b="0">
                <a:solidFill>
                  <a:srgbClr val="152230"/>
                </a:solidFill>
                <a:latin typeface="Gartner Sans"/>
                <a:ea typeface="Gartner Sans"/>
                <a:cs typeface="Gartner Sans"/>
              </a:rPr>
              <a:t>Restrict vibe coding to low-risk uses</a:t>
            </a:r>
          </a:p>
        </p:txBody>
      </p:sp>
      <p:sp>
        <p:nvSpPr>
          <p:cNvPr id="12" name="Column 2 heading"/>
          <p:cNvSpPr/>
          <p:nvPr/>
        </p:nvSpPr>
        <p:spPr>
          <a:xfrm>
            <a:off x="4359249" y="1325880"/>
            <a:ext cx="3532632" cy="502920"/>
          </a:xfrm>
          <a:prstGeom prst="rect">
            <a:avLst/>
          </a:prstGeom>
          <a:solidFill>
            <a:srgbClr val="002869"/>
          </a:solidFill>
          <a:ln>
            <a:noFill/>
          </a:ln>
        </p:spPr>
        <p:txBody>
          <a:bodyPr wrap="square" lIns="137160" tIns="0" bIns="0" rtlCol="0" anchor="ctr"/>
          <a:lstStyle/>
          <a:p>
            <a:pPr algn="l"/>
            <a:r>
              <a:rPr sz="1750" b="1">
                <a:solidFill>
                  <a:srgbClr val="FFFFFF"/>
                </a:solidFill>
                <a:latin typeface="Gartner Sans"/>
                <a:ea typeface="Gartner Sans"/>
                <a:cs typeface="Gartner Sans"/>
              </a:rPr>
              <a:t>Security and governance</a:t>
            </a:r>
          </a:p>
        </p:txBody>
      </p:sp>
      <p:sp>
        <p:nvSpPr>
          <p:cNvPr id="13" name="Column 2 items"/>
          <p:cNvSpPr/>
          <p:nvPr/>
        </p:nvSpPr>
        <p:spPr>
          <a:xfrm>
            <a:off x="4359249" y="1828800"/>
            <a:ext cx="3532632" cy="3246120"/>
          </a:xfrm>
          <a:prstGeom prst="rect">
            <a:avLst/>
          </a:prstGeom>
          <a:solidFill>
            <a:srgbClr val="F0F7FD"/>
          </a:solidFill>
          <a:ln>
            <a:noFill/>
          </a:ln>
        </p:spPr>
        <p:txBody>
          <a:bodyPr wrap="square" lIns="137160" tIns="128016" rtlCol="0" anchor="t"/>
          <a:lstStyle/>
          <a:p>
            <a:pPr marL="171450" indent="-171450" algn="l">
              <a:buFont typeface="Arial"/>
              <a:buChar char="•"/>
            </a:pPr>
            <a:r>
              <a:rPr sz="1650" b="0">
                <a:solidFill>
                  <a:srgbClr val="152230"/>
                </a:solidFill>
                <a:latin typeface="Gartner Sans"/>
                <a:ea typeface="Gartner Sans"/>
                <a:cs typeface="Gartner Sans"/>
              </a:rPr>
              <a:t>Set documented governance with cross-functional oversight</a:t>
            </a:r>
          </a:p>
          <a:p>
            <a:pPr marL="171450" indent="-171450" algn="l">
              <a:spcBef>
                <a:spcPts val="400"/>
              </a:spcBef>
              <a:buFont typeface="Arial"/>
              <a:buChar char="•"/>
            </a:pPr>
            <a:r>
              <a:rPr sz="1650" b="0">
                <a:solidFill>
                  <a:srgbClr val="152230"/>
                </a:solidFill>
                <a:latin typeface="Gartner Sans"/>
                <a:ea typeface="Gartner Sans"/>
                <a:cs typeface="Gartner Sans"/>
              </a:rPr>
              <a:t>Secure the software supply chain with layered controls</a:t>
            </a:r>
          </a:p>
          <a:p>
            <a:pPr marL="171450" indent="-171450" algn="l">
              <a:spcBef>
                <a:spcPts val="400"/>
              </a:spcBef>
              <a:buFont typeface="Arial"/>
              <a:buChar char="•"/>
            </a:pPr>
            <a:r>
              <a:rPr sz="1650" b="0">
                <a:solidFill>
                  <a:srgbClr val="152230"/>
                </a:solidFill>
                <a:latin typeface="Gartner Sans"/>
                <a:ea typeface="Gartner Sans"/>
                <a:cs typeface="Gartner Sans"/>
              </a:rPr>
              <a:t>Automate policy enforcement, and review after deployment</a:t>
            </a:r>
          </a:p>
          <a:p>
            <a:pPr marL="171450" indent="-171450" algn="l">
              <a:spcBef>
                <a:spcPts val="400"/>
              </a:spcBef>
              <a:buFont typeface="Arial"/>
              <a:buChar char="•"/>
            </a:pPr>
            <a:r>
              <a:rPr sz="1650" b="0">
                <a:solidFill>
                  <a:srgbClr val="152230"/>
                </a:solidFill>
                <a:latin typeface="Gartner Sans"/>
                <a:ea typeface="Gartner Sans"/>
                <a:cs typeface="Gartner Sans"/>
              </a:rPr>
              <a:t>Evaluate vendors rigorously and pilot gradually</a:t>
            </a:r>
          </a:p>
        </p:txBody>
      </p:sp>
      <p:sp>
        <p:nvSpPr>
          <p:cNvPr id="14" name="Column 3 heading"/>
          <p:cNvSpPr/>
          <p:nvPr/>
        </p:nvSpPr>
        <p:spPr>
          <a:xfrm>
            <a:off x="8166201" y="1325880"/>
            <a:ext cx="3532632" cy="502920"/>
          </a:xfrm>
          <a:prstGeom prst="rect">
            <a:avLst/>
          </a:prstGeom>
          <a:solidFill>
            <a:srgbClr val="002869"/>
          </a:solidFill>
          <a:ln>
            <a:noFill/>
          </a:ln>
        </p:spPr>
        <p:txBody>
          <a:bodyPr wrap="square" lIns="137160" tIns="0" bIns="0" rtlCol="0" anchor="ctr"/>
          <a:lstStyle/>
          <a:p>
            <a:pPr algn="l"/>
            <a:r>
              <a:rPr sz="1750" b="1">
                <a:solidFill>
                  <a:srgbClr val="FFFFFF"/>
                </a:solidFill>
                <a:latin typeface="Gartner Sans"/>
                <a:ea typeface="Gartner Sans"/>
                <a:cs typeface="Gartner Sans"/>
              </a:rPr>
              <a:t>Cost</a:t>
            </a:r>
          </a:p>
        </p:txBody>
      </p:sp>
      <p:sp>
        <p:nvSpPr>
          <p:cNvPr id="15" name="Column 3 items"/>
          <p:cNvSpPr/>
          <p:nvPr/>
        </p:nvSpPr>
        <p:spPr>
          <a:xfrm>
            <a:off x="8166201" y="1828800"/>
            <a:ext cx="3532632" cy="3246120"/>
          </a:xfrm>
          <a:prstGeom prst="rect">
            <a:avLst/>
          </a:prstGeom>
          <a:solidFill>
            <a:srgbClr val="F0F7FD"/>
          </a:solidFill>
          <a:ln>
            <a:noFill/>
          </a:ln>
        </p:spPr>
        <p:txBody>
          <a:bodyPr wrap="square" lIns="137160" tIns="128016" rtlCol="0" anchor="t"/>
          <a:lstStyle/>
          <a:p>
            <a:pPr marL="171450" indent="-171450" algn="l">
              <a:buFont typeface="Arial"/>
              <a:buChar char="•"/>
            </a:pPr>
            <a:r>
              <a:rPr sz="1650" b="0">
                <a:solidFill>
                  <a:srgbClr val="152230"/>
                </a:solidFill>
                <a:latin typeface="Gartner Sans"/>
                <a:ea typeface="Gartner Sans"/>
                <a:cs typeface="Gartner Sans"/>
              </a:rPr>
              <a:t>Start-up: licences, integration, infrastructure upgrades and initial training</a:t>
            </a:r>
          </a:p>
          <a:p>
            <a:pPr marL="171450" indent="-171450" algn="l">
              <a:spcBef>
                <a:spcPts val="400"/>
              </a:spcBef>
              <a:buFont typeface="Arial"/>
              <a:buChar char="•"/>
            </a:pPr>
            <a:r>
              <a:rPr sz="1650" b="0">
                <a:solidFill>
                  <a:srgbClr val="152230"/>
                </a:solidFill>
                <a:latin typeface="Gartner Sans"/>
                <a:ea typeface="Gartner Sans"/>
                <a:cs typeface="Gartner Sans"/>
              </a:rPr>
              <a:t>Recurring: subscriptions, cloud compute, maintenance, continuing training and compliance</a:t>
            </a:r>
          </a:p>
          <a:p>
            <a:pPr marL="171450" indent="-171450" algn="l">
              <a:spcBef>
                <a:spcPts val="400"/>
              </a:spcBef>
              <a:buFont typeface="Arial"/>
              <a:buChar char="•"/>
            </a:pPr>
            <a:r>
              <a:rPr sz="1650" b="0">
                <a:solidFill>
                  <a:srgbClr val="152230"/>
                </a:solidFill>
                <a:latin typeface="Gartner Sans"/>
                <a:ea typeface="Gartner Sans"/>
                <a:cs typeface="Gartner Sans"/>
              </a:rPr>
              <a:t>Token spend: 7% of organisations report more than $2,000 per developer per month</a:t>
            </a:r>
          </a:p>
        </p:txBody>
      </p:sp>
      <p:sp>
        <p:nvSpPr>
          <p:cNvPr id="16" name="Note"/>
          <p:cNvSpPr/>
          <p:nvPr/>
        </p:nvSpPr>
        <p:spPr>
          <a:xfrm>
            <a:off x="552297" y="5257800"/>
            <a:ext cx="11146536" cy="54864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Aim: </a:t>
            </a:r>
            <a:r>
              <a:rPr sz="1800" b="0">
                <a:solidFill>
                  <a:srgbClr val="152230"/>
                </a:solidFill>
                <a:latin typeface="Gartner Sans"/>
                <a:ea typeface="Gartner Sans"/>
                <a:cs typeface="Gartner Sans"/>
              </a:rPr>
              <a:t>AI output that stays trustworthy, compliant and in line with architectural standards.</a:t>
            </a:r>
          </a:p>
        </p:txBody>
      </p:sp>
      <p:sp>
        <p:nvSpPr>
          <p:cNvPr id="17"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G00844726 (quality, security, governance and cost categories); G00858441 (token spend)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Example flow: how AI helps from discovery to hand-off</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56</a:t>
            </a:r>
          </a:p>
        </p:txBody>
      </p:sp>
      <p:sp>
        <p:nvSpPr>
          <p:cNvPr id="22" name="Step 1"/>
          <p:cNvSpPr/>
          <p:nvPr/>
        </p:nvSpPr>
        <p:spPr>
          <a:xfrm>
            <a:off x="552297" y="1325880"/>
            <a:ext cx="2320747" cy="777240"/>
          </a:xfrm>
          <a:prstGeom prst="homePlate">
            <a:avLst>
              <a:gd name="adj" fmla="val 28000"/>
            </a:avLst>
          </a:prstGeom>
          <a:solidFill>
            <a:srgbClr val="002869"/>
          </a:solidFill>
          <a:ln>
            <a:noFill/>
          </a:ln>
        </p:spPr>
        <p:txBody>
          <a:bodyPr wrap="square" lIns="73152" tIns="0" rIns="73152" bIns="0" rtlCol="0" anchor="ctr"/>
          <a:lstStyle/>
          <a:p>
            <a:pPr algn="ctr"/>
            <a:r>
              <a:rPr sz="1300" b="1">
                <a:solidFill>
                  <a:srgbClr val="FFFFFF"/>
                </a:solidFill>
                <a:latin typeface="Gartner Sans"/>
                <a:ea typeface="Gartner Sans"/>
                <a:cs typeface="Gartner Sans"/>
              </a:rPr>
              <a:t>1  Discovery</a:t>
            </a:r>
          </a:p>
        </p:txBody>
      </p:sp>
      <p:sp>
        <p:nvSpPr>
          <p:cNvPr id="23" name="Step 2"/>
          <p:cNvSpPr/>
          <p:nvPr/>
        </p:nvSpPr>
        <p:spPr>
          <a:xfrm>
            <a:off x="2781604" y="1325880"/>
            <a:ext cx="2320747" cy="777240"/>
          </a:xfrm>
          <a:prstGeom prst="chevron">
            <a:avLst>
              <a:gd name="adj" fmla="val 28000"/>
            </a:avLst>
          </a:prstGeom>
          <a:solidFill>
            <a:srgbClr val="002869"/>
          </a:solidFill>
          <a:ln>
            <a:noFill/>
          </a:ln>
        </p:spPr>
        <p:txBody>
          <a:bodyPr wrap="square" lIns="73152" tIns="0" rIns="73152" bIns="0" rtlCol="0" anchor="ctr"/>
          <a:lstStyle/>
          <a:p>
            <a:pPr algn="ctr"/>
            <a:r>
              <a:rPr sz="1300" b="1">
                <a:solidFill>
                  <a:srgbClr val="FFFFFF"/>
                </a:solidFill>
                <a:latin typeface="Gartner Sans"/>
                <a:ea typeface="Gartner Sans"/>
                <a:cs typeface="Gartner Sans"/>
              </a:rPr>
              <a:t>2  Story development</a:t>
            </a:r>
          </a:p>
        </p:txBody>
      </p:sp>
      <p:sp>
        <p:nvSpPr>
          <p:cNvPr id="24" name="Step 3"/>
          <p:cNvSpPr/>
          <p:nvPr/>
        </p:nvSpPr>
        <p:spPr>
          <a:xfrm>
            <a:off x="5010912" y="1325880"/>
            <a:ext cx="2320747" cy="777240"/>
          </a:xfrm>
          <a:prstGeom prst="chevron">
            <a:avLst>
              <a:gd name="adj" fmla="val 28000"/>
            </a:avLst>
          </a:prstGeom>
          <a:solidFill>
            <a:srgbClr val="002869"/>
          </a:solidFill>
          <a:ln>
            <a:noFill/>
          </a:ln>
        </p:spPr>
        <p:txBody>
          <a:bodyPr wrap="square" lIns="73152" tIns="0" rIns="73152" bIns="0" rtlCol="0" anchor="ctr"/>
          <a:lstStyle/>
          <a:p>
            <a:pPr algn="ctr"/>
            <a:r>
              <a:rPr sz="1300" b="1">
                <a:solidFill>
                  <a:srgbClr val="FFFFFF"/>
                </a:solidFill>
                <a:latin typeface="Gartner Sans"/>
                <a:ea typeface="Gartner Sans"/>
                <a:cs typeface="Gartner Sans"/>
              </a:rPr>
              <a:t>3  Specification</a:t>
            </a:r>
          </a:p>
        </p:txBody>
      </p:sp>
      <p:sp>
        <p:nvSpPr>
          <p:cNvPr id="25" name="Step 4"/>
          <p:cNvSpPr/>
          <p:nvPr/>
        </p:nvSpPr>
        <p:spPr>
          <a:xfrm>
            <a:off x="7240219" y="1325880"/>
            <a:ext cx="2320747" cy="777240"/>
          </a:xfrm>
          <a:prstGeom prst="chevron">
            <a:avLst>
              <a:gd name="adj" fmla="val 28000"/>
            </a:avLst>
          </a:prstGeom>
          <a:solidFill>
            <a:srgbClr val="002869"/>
          </a:solidFill>
          <a:ln>
            <a:noFill/>
          </a:ln>
        </p:spPr>
        <p:txBody>
          <a:bodyPr wrap="square" lIns="73152" tIns="0" rIns="73152" bIns="0" rtlCol="0" anchor="ctr"/>
          <a:lstStyle/>
          <a:p>
            <a:pPr algn="ctr"/>
            <a:r>
              <a:rPr sz="1300" b="1">
                <a:solidFill>
                  <a:srgbClr val="FFFFFF"/>
                </a:solidFill>
                <a:latin typeface="Gartner Sans"/>
                <a:ea typeface="Gartner Sans"/>
                <a:cs typeface="Gartner Sans"/>
              </a:rPr>
              <a:t>4  Test case generation</a:t>
            </a:r>
          </a:p>
        </p:txBody>
      </p:sp>
      <p:sp>
        <p:nvSpPr>
          <p:cNvPr id="26" name="Step 5"/>
          <p:cNvSpPr/>
          <p:nvPr/>
        </p:nvSpPr>
        <p:spPr>
          <a:xfrm>
            <a:off x="9469526" y="1325880"/>
            <a:ext cx="2229307" cy="777240"/>
          </a:xfrm>
          <a:prstGeom prst="chevron">
            <a:avLst>
              <a:gd name="adj" fmla="val 28000"/>
            </a:avLst>
          </a:prstGeom>
          <a:solidFill>
            <a:srgbClr val="002869"/>
          </a:solidFill>
          <a:ln>
            <a:noFill/>
          </a:ln>
        </p:spPr>
        <p:txBody>
          <a:bodyPr wrap="square" lIns="73152" tIns="0" rIns="73152" bIns="0" rtlCol="0" anchor="ctr"/>
          <a:lstStyle/>
          <a:p>
            <a:pPr algn="ctr"/>
            <a:r>
              <a:rPr sz="1300" b="1">
                <a:solidFill>
                  <a:srgbClr val="FFFFFF"/>
                </a:solidFill>
                <a:latin typeface="Gartner Sans"/>
                <a:ea typeface="Gartner Sans"/>
                <a:cs typeface="Gartner Sans"/>
              </a:rPr>
              <a:t>5  Hand-off to development</a:t>
            </a:r>
          </a:p>
        </p:txBody>
      </p:sp>
      <p:sp>
        <p:nvSpPr>
          <p:cNvPr id="11" name="Step 1 detail"/>
          <p:cNvSpPr txBox="1"/>
          <p:nvPr/>
        </p:nvSpPr>
        <p:spPr>
          <a:xfrm>
            <a:off x="625449" y="2221991"/>
            <a:ext cx="1973275" cy="2286000"/>
          </a:xfrm>
          <a:prstGeom prst="rect">
            <a:avLst/>
          </a:prstGeom>
          <a:noFill/>
        </p:spPr>
        <p:txBody>
          <a:bodyPr wrap="square" lIns="0" tIns="0" rIns="0" bIns="0" anchor="t">
            <a:spAutoFit/>
          </a:bodyPr>
          <a:lstStyle/>
          <a:p>
            <a:pPr marL="171450" indent="-171450" algn="l">
              <a:buFont typeface="Arial"/>
              <a:buChar char="•"/>
            </a:pPr>
            <a:r>
              <a:rPr sz="1350" b="0">
                <a:solidFill>
                  <a:srgbClr val="152230"/>
                </a:solidFill>
                <a:latin typeface="Gartner Sans"/>
                <a:ea typeface="Gartner Sans"/>
                <a:cs typeface="Gartner Sans"/>
              </a:rPr>
              <a:t>Transcribes and summarises workshops and interviews</a:t>
            </a:r>
          </a:p>
          <a:p>
            <a:pPr marL="171450" indent="-171450" algn="l">
              <a:spcBef>
                <a:spcPts val="500"/>
              </a:spcBef>
              <a:buFont typeface="Arial"/>
              <a:buChar char="•"/>
            </a:pPr>
            <a:r>
              <a:rPr sz="1350" b="0">
                <a:solidFill>
                  <a:srgbClr val="152230"/>
                </a:solidFill>
                <a:latin typeface="Gartner Sans"/>
                <a:ea typeface="Gartner Sans"/>
                <a:cs typeface="Gartner Sans"/>
              </a:rPr>
              <a:t>Finds themes across tickets, emails and chat</a:t>
            </a:r>
          </a:p>
          <a:p>
            <a:pPr marL="171450" indent="-171450" algn="l">
              <a:spcBef>
                <a:spcPts val="500"/>
              </a:spcBef>
              <a:buFont typeface="Arial"/>
              <a:buChar char="•"/>
            </a:pPr>
            <a:r>
              <a:rPr sz="1350" b="0">
                <a:solidFill>
                  <a:srgbClr val="152230"/>
                </a:solidFill>
                <a:latin typeface="Gartner Sans"/>
                <a:ea typeface="Gartner Sans"/>
                <a:cs typeface="Gartner Sans"/>
              </a:rPr>
              <a:t>Runs interview agents for early discovery</a:t>
            </a:r>
          </a:p>
        </p:txBody>
      </p:sp>
      <p:sp>
        <p:nvSpPr>
          <p:cNvPr id="13" name="Step 2 detail"/>
          <p:cNvSpPr txBox="1"/>
          <p:nvPr/>
        </p:nvSpPr>
        <p:spPr>
          <a:xfrm>
            <a:off x="2854756" y="2221991"/>
            <a:ext cx="1973275" cy="2286000"/>
          </a:xfrm>
          <a:prstGeom prst="rect">
            <a:avLst/>
          </a:prstGeom>
          <a:noFill/>
        </p:spPr>
        <p:txBody>
          <a:bodyPr wrap="square" lIns="0" tIns="0" rIns="0" bIns="0" anchor="t">
            <a:spAutoFit/>
          </a:bodyPr>
          <a:lstStyle/>
          <a:p>
            <a:pPr marL="171450" indent="-171450" algn="l">
              <a:buFont typeface="Arial"/>
              <a:buChar char="•"/>
            </a:pPr>
            <a:r>
              <a:rPr sz="1350" b="0">
                <a:solidFill>
                  <a:srgbClr val="152230"/>
                </a:solidFill>
                <a:latin typeface="Gartner Sans"/>
                <a:ea typeface="Gartner Sans"/>
                <a:cs typeface="Gartner Sans"/>
              </a:rPr>
              <a:t>Drafts user stories and acceptance criteria</a:t>
            </a:r>
          </a:p>
          <a:p>
            <a:pPr marL="171450" indent="-171450" algn="l">
              <a:spcBef>
                <a:spcPts val="500"/>
              </a:spcBef>
              <a:buFont typeface="Arial"/>
              <a:buChar char="•"/>
            </a:pPr>
            <a:r>
              <a:rPr sz="1350" b="0">
                <a:solidFill>
                  <a:srgbClr val="152230"/>
                </a:solidFill>
                <a:latin typeface="Gartner Sans"/>
                <a:ea typeface="Gartner Sans"/>
                <a:cs typeface="Gartner Sans"/>
              </a:rPr>
              <a:t>Turns ideas into wireframes and prototypes</a:t>
            </a:r>
          </a:p>
          <a:p>
            <a:pPr marL="171450" indent="-171450" algn="l">
              <a:spcBef>
                <a:spcPts val="500"/>
              </a:spcBef>
              <a:buFont typeface="Arial"/>
              <a:buChar char="•"/>
            </a:pPr>
            <a:r>
              <a:rPr sz="1350" b="0">
                <a:solidFill>
                  <a:srgbClr val="152230"/>
                </a:solidFill>
                <a:latin typeface="Gartner Sans"/>
                <a:ea typeface="Gartner Sans"/>
                <a:cs typeface="Gartner Sans"/>
              </a:rPr>
              <a:t>Links each story to its business objective</a:t>
            </a:r>
          </a:p>
        </p:txBody>
      </p:sp>
      <p:sp>
        <p:nvSpPr>
          <p:cNvPr id="15" name="Step 3 detail"/>
          <p:cNvSpPr txBox="1"/>
          <p:nvPr/>
        </p:nvSpPr>
        <p:spPr>
          <a:xfrm>
            <a:off x="5084064" y="2221991"/>
            <a:ext cx="1973275" cy="2288782"/>
          </a:xfrm>
          <a:prstGeom prst="rect">
            <a:avLst/>
          </a:prstGeom>
          <a:noFill/>
        </p:spPr>
        <p:txBody>
          <a:bodyPr wrap="square" lIns="0" tIns="0" rIns="0" bIns="0" anchor="t">
            <a:spAutoFit/>
          </a:bodyPr>
          <a:lstStyle/>
          <a:p>
            <a:pPr marL="171450" indent="-171450" algn="l">
              <a:buFont typeface="Arial"/>
              <a:buChar char="•"/>
            </a:pPr>
            <a:r>
              <a:rPr sz="1350" b="0">
                <a:solidFill>
                  <a:srgbClr val="152230"/>
                </a:solidFill>
                <a:latin typeface="Gartner Sans"/>
                <a:ea typeface="Gartner Sans"/>
                <a:cs typeface="Gartner Sans"/>
              </a:rPr>
              <a:t>Breaks broad requirements into detailed, testable specifications</a:t>
            </a:r>
          </a:p>
          <a:p>
            <a:pPr marL="171450" indent="-171450" algn="l">
              <a:spcBef>
                <a:spcPts val="500"/>
              </a:spcBef>
              <a:buFont typeface="Arial"/>
              <a:buChar char="•"/>
            </a:pPr>
            <a:r>
              <a:rPr sz="1350" b="0">
                <a:solidFill>
                  <a:srgbClr val="152230"/>
                </a:solidFill>
                <a:latin typeface="Gartner Sans"/>
                <a:ea typeface="Gartner Sans"/>
                <a:cs typeface="Gartner Sans"/>
              </a:rPr>
              <a:t>Writes structured given-when-then scenarios</a:t>
            </a:r>
          </a:p>
          <a:p>
            <a:pPr marL="171450" indent="-171450" algn="l">
              <a:spcBef>
                <a:spcPts val="500"/>
              </a:spcBef>
              <a:buFont typeface="Arial"/>
              <a:buChar char="•"/>
            </a:pPr>
            <a:r>
              <a:rPr sz="1350" b="0">
                <a:solidFill>
                  <a:srgbClr val="152230"/>
                </a:solidFill>
                <a:latin typeface="Gartner Sans"/>
                <a:ea typeface="Gartner Sans"/>
                <a:cs typeface="Gartner Sans"/>
              </a:rPr>
              <a:t>Flags ambiguity, conflicts and missing logic</a:t>
            </a:r>
          </a:p>
        </p:txBody>
      </p:sp>
      <p:sp>
        <p:nvSpPr>
          <p:cNvPr id="17" name="Step 4 detail"/>
          <p:cNvSpPr txBox="1"/>
          <p:nvPr/>
        </p:nvSpPr>
        <p:spPr>
          <a:xfrm>
            <a:off x="7313371" y="2221991"/>
            <a:ext cx="1973275" cy="2286000"/>
          </a:xfrm>
          <a:prstGeom prst="rect">
            <a:avLst/>
          </a:prstGeom>
          <a:noFill/>
        </p:spPr>
        <p:txBody>
          <a:bodyPr wrap="square" lIns="0" tIns="0" rIns="0" bIns="0" anchor="t">
            <a:spAutoFit/>
          </a:bodyPr>
          <a:lstStyle/>
          <a:p>
            <a:pPr marL="171450" indent="-171450" algn="l">
              <a:buFont typeface="Arial"/>
              <a:buChar char="•"/>
            </a:pPr>
            <a:r>
              <a:rPr sz="1350" b="0">
                <a:solidFill>
                  <a:srgbClr val="152230"/>
                </a:solidFill>
                <a:latin typeface="Gartner Sans"/>
                <a:ea typeface="Gartner Sans"/>
                <a:cs typeface="Gartner Sans"/>
              </a:rPr>
              <a:t>Generates test cases from the acceptance criteria and scenarios</a:t>
            </a:r>
          </a:p>
          <a:p>
            <a:pPr marL="171450" indent="-171450" algn="l">
              <a:spcBef>
                <a:spcPts val="500"/>
              </a:spcBef>
              <a:buFont typeface="Arial"/>
              <a:buChar char="•"/>
            </a:pPr>
            <a:r>
              <a:rPr sz="1350" b="0">
                <a:solidFill>
                  <a:srgbClr val="152230"/>
                </a:solidFill>
                <a:latin typeface="Gartner Sans"/>
                <a:ea typeface="Gartner Sans"/>
                <a:cs typeface="Gartner Sans"/>
              </a:rPr>
              <a:t>Keeps tests traceable to requirements</a:t>
            </a:r>
          </a:p>
        </p:txBody>
      </p:sp>
      <p:sp>
        <p:nvSpPr>
          <p:cNvPr id="19" name="Step 5 detail"/>
          <p:cNvSpPr txBox="1"/>
          <p:nvPr/>
        </p:nvSpPr>
        <p:spPr>
          <a:xfrm>
            <a:off x="9542678" y="2221991"/>
            <a:ext cx="1973275" cy="2286000"/>
          </a:xfrm>
          <a:prstGeom prst="rect">
            <a:avLst/>
          </a:prstGeom>
          <a:noFill/>
        </p:spPr>
        <p:txBody>
          <a:bodyPr wrap="square" lIns="0" tIns="0" rIns="0" bIns="0" anchor="t">
            <a:spAutoFit/>
          </a:bodyPr>
          <a:lstStyle/>
          <a:p>
            <a:pPr marL="171450" indent="-171450" algn="l">
              <a:buFont typeface="Arial"/>
              <a:buChar char="•"/>
            </a:pPr>
            <a:r>
              <a:rPr sz="1350" b="0">
                <a:solidFill>
                  <a:srgbClr val="152230"/>
                </a:solidFill>
                <a:latin typeface="Gartner Sans"/>
                <a:ea typeface="Gartner Sans"/>
                <a:cs typeface="Gartner Sans"/>
              </a:rPr>
              <a:t>Packages the specification, tests and context as input that developers and coding agents can use</a:t>
            </a:r>
          </a:p>
          <a:p>
            <a:pPr marL="171450" indent="-171450" algn="l">
              <a:spcBef>
                <a:spcPts val="500"/>
              </a:spcBef>
              <a:buFont typeface="Arial"/>
              <a:buChar char="•"/>
            </a:pPr>
            <a:r>
              <a:rPr sz="1350" b="0">
                <a:solidFill>
                  <a:srgbClr val="152230"/>
                </a:solidFill>
                <a:latin typeface="Gartner Sans"/>
                <a:ea typeface="Gartner Sans"/>
                <a:cs typeface="Gartner Sans"/>
              </a:rPr>
              <a:t>Assesses the impact of later changes</a:t>
            </a:r>
          </a:p>
        </p:txBody>
      </p:sp>
      <p:sp>
        <p:nvSpPr>
          <p:cNvPr id="20" name="Note"/>
          <p:cNvSpPr/>
          <p:nvPr/>
        </p:nvSpPr>
        <p:spPr>
          <a:xfrm>
            <a:off x="552297" y="4663440"/>
            <a:ext cx="11146536" cy="1051560"/>
          </a:xfrm>
          <a:prstGeom prst="rect">
            <a:avLst/>
          </a:prstGeom>
          <a:solidFill>
            <a:srgbClr val="F0F7FD"/>
          </a:solidFill>
          <a:ln>
            <a:noFill/>
          </a:ln>
        </p:spPr>
        <p:txBody>
          <a:bodyPr wrap="square" lIns="228600" rIns="228600" rtlCol="0" anchor="ctr"/>
          <a:lstStyle/>
          <a:p>
            <a:pPr algn="l"/>
            <a:r>
              <a:rPr sz="1750" b="1">
                <a:solidFill>
                  <a:srgbClr val="002869"/>
                </a:solidFill>
                <a:latin typeface="Gartner Sans"/>
                <a:ea typeface="Gartner Sans"/>
                <a:cs typeface="Gartner Sans"/>
              </a:rPr>
              <a:t>People stay in control: </a:t>
            </a:r>
            <a:r>
              <a:rPr sz="1750" b="0">
                <a:solidFill>
                  <a:srgbClr val="152230"/>
                </a:solidFill>
                <a:latin typeface="Gartner Sans"/>
                <a:ea typeface="Gartner Sans"/>
                <a:cs typeface="Gartner Sans"/>
              </a:rPr>
              <a:t>they facilitate discovery, decide priorities and trade-offs, and review and approve every AI-generated story, specification and test before hand-off.</a:t>
            </a:r>
          </a:p>
        </p:txBody>
      </p:sp>
      <p:sp>
        <p:nvSpPr>
          <p:cNvPr id="21"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G00858533 (steps 1 to 3 and 5); G00857393 (step 4)</a:t>
            </a:r>
          </a:p>
        </p:txBody>
      </p:sp>
    </p:spTree>
    <p:extLst>
      <p:ext uri="{BB962C8B-B14F-4D97-AF65-F5344CB8AC3E}">
        <p14:creationId xmlns:p14="http://schemas.microsoft.com/office/powerpoint/2010/main" val="12135495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Set human oversight by criticality, risk and complexity</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57</a:t>
            </a:r>
          </a:p>
        </p:txBody>
      </p:sp>
      <p:sp>
        <p:nvSpPr>
          <p:cNvPr id="10" name="Card heading"/>
          <p:cNvSpPr/>
          <p:nvPr/>
        </p:nvSpPr>
        <p:spPr>
          <a:xfrm>
            <a:off x="552297" y="1325880"/>
            <a:ext cx="5390388" cy="502920"/>
          </a:xfrm>
          <a:prstGeom prst="rect">
            <a:avLst/>
          </a:prstGeom>
          <a:solidFill>
            <a:srgbClr val="F0F7FD"/>
          </a:solidFill>
          <a:ln w="12700">
            <a:solidFill>
              <a:srgbClr val="D0D7DF"/>
            </a:solidFill>
          </a:ln>
        </p:spPr>
        <p:txBody>
          <a:bodyPr wrap="square" lIns="201168" tIns="0" rIns="182880" bIns="0" rtlCol="0" anchor="ctr"/>
          <a:lstStyle/>
          <a:p>
            <a:pPr algn="l"/>
            <a:r>
              <a:rPr sz="1800" b="1">
                <a:solidFill>
                  <a:srgbClr val="002869"/>
                </a:solidFill>
                <a:latin typeface="Gartner Sans"/>
                <a:ea typeface="Gartner Sans"/>
                <a:cs typeface="Gartner Sans"/>
              </a:rPr>
              <a:t>Human on the loop</a:t>
            </a:r>
          </a:p>
        </p:txBody>
      </p:sp>
      <p:sp>
        <p:nvSpPr>
          <p:cNvPr id="11" name="Card body"/>
          <p:cNvSpPr/>
          <p:nvPr/>
        </p:nvSpPr>
        <p:spPr>
          <a:xfrm>
            <a:off x="552297" y="1828800"/>
            <a:ext cx="5390388" cy="2788920"/>
          </a:xfrm>
          <a:prstGeom prst="rect">
            <a:avLst/>
          </a:prstGeom>
          <a:solidFill>
            <a:srgbClr val="FFFFFF"/>
          </a:solidFill>
          <a:ln w="12700">
            <a:solidFill>
              <a:srgbClr val="D0D7DF"/>
            </a:solidFill>
          </a:ln>
        </p:spPr>
        <p:txBody>
          <a:bodyPr wrap="square" lIns="228600" tIns="182880" rIns="182880" bIns="109728" rtlCol="0" anchor="t"/>
          <a:lstStyle/>
          <a:p>
            <a:pPr marL="171450" indent="-171450" algn="l">
              <a:buFont typeface="Arial"/>
              <a:buChar char="•"/>
            </a:pPr>
            <a:r>
              <a:rPr sz="1450" b="0">
                <a:solidFill>
                  <a:srgbClr val="152230"/>
                </a:solidFill>
                <a:latin typeface="Gartner Sans"/>
                <a:ea typeface="Gartner Sans"/>
                <a:cs typeface="Gartner Sans"/>
              </a:rPr>
              <a:t>Internal business enablement applications</a:t>
            </a:r>
          </a:p>
          <a:p>
            <a:pPr marL="171450" indent="-171450" algn="l">
              <a:spcBef>
                <a:spcPts val="500"/>
              </a:spcBef>
              <a:buFont typeface="Arial"/>
              <a:buChar char="•"/>
            </a:pPr>
            <a:r>
              <a:rPr sz="1450" b="0">
                <a:solidFill>
                  <a:srgbClr val="152230"/>
                </a:solidFill>
                <a:latin typeface="Gartner Sans"/>
                <a:ea typeface="Gartner Sans"/>
                <a:cs typeface="Gartner Sans"/>
              </a:rPr>
              <a:t>Minor bug fixes, dependency updates and configuration changes</a:t>
            </a:r>
          </a:p>
          <a:p>
            <a:pPr marL="171450" indent="-171450" algn="l">
              <a:spcBef>
                <a:spcPts val="500"/>
              </a:spcBef>
              <a:buFont typeface="Arial"/>
              <a:buChar char="•"/>
            </a:pPr>
            <a:r>
              <a:rPr sz="1450" b="0">
                <a:solidFill>
                  <a:srgbClr val="152230"/>
                </a:solidFill>
                <a:latin typeface="Gartner Sans"/>
                <a:ea typeface="Gartner Sans"/>
                <a:cs typeface="Gartner Sans"/>
              </a:rPr>
              <a:t>Refactoring to fix code smells or replace deprecated APIs</a:t>
            </a:r>
          </a:p>
          <a:p>
            <a:pPr marL="171450" indent="-171450" algn="l">
              <a:spcBef>
                <a:spcPts val="500"/>
              </a:spcBef>
              <a:buFont typeface="Arial"/>
              <a:buChar char="•"/>
            </a:pPr>
            <a:r>
              <a:rPr sz="1450" b="0">
                <a:solidFill>
                  <a:srgbClr val="152230"/>
                </a:solidFill>
                <a:latin typeface="Gartner Sans"/>
                <a:ea typeface="Gartner Sans"/>
                <a:cs typeface="Gartner Sans"/>
              </a:rPr>
              <a:t>Documentation, unit tests and test data</a:t>
            </a:r>
          </a:p>
          <a:p>
            <a:pPr marL="171450" indent="-171450" algn="l">
              <a:spcBef>
                <a:spcPts val="500"/>
              </a:spcBef>
              <a:buFont typeface="Arial"/>
              <a:buChar char="•"/>
            </a:pPr>
            <a:r>
              <a:rPr sz="1450" b="0">
                <a:solidFill>
                  <a:srgbClr val="152230"/>
                </a:solidFill>
                <a:latin typeface="Gartner Sans"/>
                <a:ea typeface="Gartner Sans"/>
                <a:cs typeface="Gartner Sans"/>
              </a:rPr>
              <a:t>Autonomous workload optimisation</a:t>
            </a:r>
          </a:p>
        </p:txBody>
      </p:sp>
      <p:sp>
        <p:nvSpPr>
          <p:cNvPr id="12" name="Card heading"/>
          <p:cNvSpPr/>
          <p:nvPr/>
        </p:nvSpPr>
        <p:spPr>
          <a:xfrm>
            <a:off x="6308445" y="1325880"/>
            <a:ext cx="5390388"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Human in the loop</a:t>
            </a:r>
          </a:p>
        </p:txBody>
      </p:sp>
      <p:sp>
        <p:nvSpPr>
          <p:cNvPr id="13" name="Card body"/>
          <p:cNvSpPr/>
          <p:nvPr/>
        </p:nvSpPr>
        <p:spPr>
          <a:xfrm>
            <a:off x="6308445" y="1828800"/>
            <a:ext cx="5390388" cy="278892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450" b="0">
                <a:solidFill>
                  <a:srgbClr val="152230"/>
                </a:solidFill>
                <a:latin typeface="Gartner Sans"/>
                <a:ea typeface="Gartner Sans"/>
                <a:cs typeface="Gartner Sans"/>
              </a:rPr>
              <a:t>Product management, feature prioritisation and software architecture</a:t>
            </a:r>
          </a:p>
          <a:p>
            <a:pPr marL="171450" indent="-171450" algn="l">
              <a:spcBef>
                <a:spcPts val="500"/>
              </a:spcBef>
              <a:buFont typeface="Arial"/>
              <a:buChar char="•"/>
            </a:pPr>
            <a:r>
              <a:rPr sz="1450" b="0">
                <a:solidFill>
                  <a:srgbClr val="152230"/>
                </a:solidFill>
                <a:latin typeface="Gartner Sans"/>
                <a:ea typeface="Gartner Sans"/>
                <a:cs typeface="Gartner Sans"/>
              </a:rPr>
              <a:t>Business-critical software that is core intellectual property</a:t>
            </a:r>
          </a:p>
          <a:p>
            <a:pPr marL="171450" indent="-171450" algn="l">
              <a:spcBef>
                <a:spcPts val="500"/>
              </a:spcBef>
              <a:buFont typeface="Arial"/>
              <a:buChar char="•"/>
            </a:pPr>
            <a:r>
              <a:rPr sz="1450" b="0">
                <a:solidFill>
                  <a:srgbClr val="152230"/>
                </a:solidFill>
                <a:latin typeface="Gartner Sans"/>
                <a:ea typeface="Gartner Sans"/>
                <a:cs typeface="Gartner Sans"/>
              </a:rPr>
              <a:t>Code for financial calculations, sensitive data or authorisation</a:t>
            </a:r>
          </a:p>
          <a:p>
            <a:pPr marL="171450" indent="-171450" algn="l">
              <a:spcBef>
                <a:spcPts val="500"/>
              </a:spcBef>
              <a:buFont typeface="Arial"/>
              <a:buChar char="•"/>
            </a:pPr>
            <a:r>
              <a:rPr sz="1450" b="0">
                <a:solidFill>
                  <a:srgbClr val="152230"/>
                </a:solidFill>
                <a:latin typeface="Gartner Sans"/>
                <a:ea typeface="Gartner Sans"/>
                <a:cs typeface="Gartner Sans"/>
              </a:rPr>
              <a:t>Changes that affect systems of record or shared modules</a:t>
            </a:r>
          </a:p>
          <a:p>
            <a:pPr marL="171450" indent="-171450" algn="l">
              <a:spcBef>
                <a:spcPts val="500"/>
              </a:spcBef>
              <a:buFont typeface="Arial"/>
              <a:buChar char="•"/>
            </a:pPr>
            <a:r>
              <a:rPr sz="1450" b="0">
                <a:solidFill>
                  <a:srgbClr val="152230"/>
                </a:solidFill>
                <a:latin typeface="Gartner Sans"/>
                <a:ea typeface="Gartner Sans"/>
                <a:cs typeface="Gartner Sans"/>
              </a:rPr>
              <a:t>Verification of AI output for business-critical or safety-critical uses</a:t>
            </a:r>
          </a:p>
        </p:txBody>
      </p:sp>
      <p:sp>
        <p:nvSpPr>
          <p:cNvPr id="14" name="Note"/>
          <p:cNvSpPr/>
          <p:nvPr/>
        </p:nvSpPr>
        <p:spPr>
          <a:xfrm>
            <a:off x="552297" y="4846320"/>
            <a:ext cx="11146536" cy="91440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On the loop: </a:t>
            </a:r>
            <a:r>
              <a:rPr sz="1800" b="0">
                <a:solidFill>
                  <a:srgbClr val="152230"/>
                </a:solidFill>
                <a:latin typeface="Gartner Sans"/>
                <a:ea typeface="Gartner Sans"/>
                <a:cs typeface="Gartner Sans"/>
              </a:rPr>
              <a:t>agents execute, and people step in on exceptions, anomalies or alerts.  </a:t>
            </a:r>
            <a:r>
              <a:rPr sz="1800" b="1">
                <a:solidFill>
                  <a:srgbClr val="002869"/>
                </a:solidFill>
                <a:latin typeface="Gartner Sans"/>
                <a:ea typeface="Gartner Sans"/>
                <a:cs typeface="Gartner Sans"/>
              </a:rPr>
              <a:t>In the loop: </a:t>
            </a:r>
            <a:r>
              <a:rPr sz="1800" b="0">
                <a:solidFill>
                  <a:srgbClr val="152230"/>
                </a:solidFill>
                <a:latin typeface="Gartner Sans"/>
                <a:ea typeface="Gartner Sans"/>
                <a:cs typeface="Gartner Sans"/>
              </a:rPr>
              <a:t>people approve before an agent executes a decision.</a:t>
            </a:r>
          </a:p>
        </p:txBody>
      </p:sp>
      <p:sp>
        <p:nvSpPr>
          <p:cNvPr id="15"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G00843405 (Figure 11)</a:t>
            </a:r>
          </a:p>
        </p:txBody>
      </p:sp>
    </p:spTree>
    <p:extLst>
      <p:ext uri="{BB962C8B-B14F-4D97-AF65-F5344CB8AC3E}">
        <p14:creationId xmlns:p14="http://schemas.microsoft.com/office/powerpoint/2010/main" val="30877885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Measure against a baseline, then scale</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58</a:t>
            </a:r>
          </a:p>
        </p:txBody>
      </p:sp>
      <p:sp>
        <p:nvSpPr>
          <p:cNvPr id="10" name="Card heading"/>
          <p:cNvSpPr/>
          <p:nvPr/>
        </p:nvSpPr>
        <p:spPr>
          <a:xfrm>
            <a:off x="552297" y="1325880"/>
            <a:ext cx="5390388"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Measure adoption and results</a:t>
            </a:r>
          </a:p>
        </p:txBody>
      </p:sp>
      <p:sp>
        <p:nvSpPr>
          <p:cNvPr id="11" name="Card body"/>
          <p:cNvSpPr/>
          <p:nvPr/>
        </p:nvSpPr>
        <p:spPr>
          <a:xfrm>
            <a:off x="552297" y="1828800"/>
            <a:ext cx="5390388" cy="320040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700" b="0">
                <a:solidFill>
                  <a:srgbClr val="152230"/>
                </a:solidFill>
                <a:latin typeface="Gartner Sans"/>
                <a:ea typeface="Gartner Sans"/>
                <a:cs typeface="Gartner Sans"/>
              </a:rPr>
              <a:t>Set baselines before adoption: cycle time, defect density and developer satisfaction</a:t>
            </a:r>
          </a:p>
          <a:p>
            <a:pPr marL="171450" indent="-171450" algn="l">
              <a:spcBef>
                <a:spcPts val="800"/>
              </a:spcBef>
              <a:buFont typeface="Arial"/>
              <a:buChar char="•"/>
            </a:pPr>
            <a:r>
              <a:rPr sz="1700" b="0">
                <a:solidFill>
                  <a:srgbClr val="152230"/>
                </a:solidFill>
                <a:latin typeface="Gartner Sans"/>
                <a:ea typeface="Gartner Sans"/>
                <a:cs typeface="Gartner Sans"/>
              </a:rPr>
              <a:t>Track licence use, time savings and cycle time across the SDLC</a:t>
            </a:r>
          </a:p>
          <a:p>
            <a:pPr marL="171450" indent="-171450" algn="l">
              <a:spcBef>
                <a:spcPts val="800"/>
              </a:spcBef>
              <a:buFont typeface="Arial"/>
              <a:buChar char="•"/>
            </a:pPr>
            <a:r>
              <a:rPr sz="1700" b="0">
                <a:solidFill>
                  <a:srgbClr val="152230"/>
                </a:solidFill>
                <a:latin typeface="Gartner Sans"/>
                <a:ea typeface="Gartner Sans"/>
                <a:cs typeface="Gartner Sans"/>
              </a:rPr>
              <a:t>Combine tool data with surveys, retrospectives and pilot evaluations</a:t>
            </a:r>
          </a:p>
          <a:p>
            <a:pPr marL="171450" indent="-171450" algn="l">
              <a:spcBef>
                <a:spcPts val="800"/>
              </a:spcBef>
              <a:buFont typeface="Arial"/>
              <a:buChar char="•"/>
            </a:pPr>
            <a:r>
              <a:rPr sz="1700" b="0">
                <a:solidFill>
                  <a:srgbClr val="152230"/>
                </a:solidFill>
                <a:latin typeface="Gartner Sans"/>
                <a:ea typeface="Gartner Sans"/>
                <a:cs typeface="Gartner Sans"/>
              </a:rPr>
              <a:t>Link results to business outcomes: return on investment, time to market and customer satisfaction</a:t>
            </a:r>
          </a:p>
        </p:txBody>
      </p:sp>
      <p:sp>
        <p:nvSpPr>
          <p:cNvPr id="12" name="Card heading"/>
          <p:cNvSpPr/>
          <p:nvPr/>
        </p:nvSpPr>
        <p:spPr>
          <a:xfrm>
            <a:off x="6308445" y="1325880"/>
            <a:ext cx="5390388"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Check that the foundations are in place</a:t>
            </a:r>
          </a:p>
        </p:txBody>
      </p:sp>
      <p:sp>
        <p:nvSpPr>
          <p:cNvPr id="13" name="Card body"/>
          <p:cNvSpPr/>
          <p:nvPr/>
        </p:nvSpPr>
        <p:spPr>
          <a:xfrm>
            <a:off x="6308445" y="1828800"/>
            <a:ext cx="5390388" cy="320040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700" b="0">
                <a:solidFill>
                  <a:srgbClr val="152230"/>
                </a:solidFill>
                <a:latin typeface="Gartner Sans"/>
                <a:ea typeface="Gartner Sans"/>
                <a:cs typeface="Gartner Sans"/>
              </a:rPr>
              <a:t>Context freshness: at least 70% of context artefacts updated in the last 30 days</a:t>
            </a:r>
          </a:p>
          <a:p>
            <a:pPr marL="171450" indent="-171450" algn="l">
              <a:spcBef>
                <a:spcPts val="800"/>
              </a:spcBef>
              <a:buFont typeface="Arial"/>
              <a:buChar char="•"/>
            </a:pPr>
            <a:r>
              <a:rPr sz="1700" b="0">
                <a:solidFill>
                  <a:srgbClr val="152230"/>
                </a:solidFill>
                <a:latin typeface="Gartner Sans"/>
                <a:ea typeface="Gartner Sans"/>
                <a:cs typeface="Gartner Sans"/>
              </a:rPr>
              <a:t>Platform usage: the share of AI activity run through approved, platform-managed workflows</a:t>
            </a:r>
          </a:p>
          <a:p>
            <a:pPr marL="171450" indent="-171450" algn="l">
              <a:spcBef>
                <a:spcPts val="800"/>
              </a:spcBef>
              <a:buFont typeface="Arial"/>
              <a:buChar char="•"/>
            </a:pPr>
            <a:r>
              <a:rPr sz="1700" b="0">
                <a:solidFill>
                  <a:srgbClr val="152230"/>
                </a:solidFill>
                <a:latin typeface="Gartner Sans"/>
                <a:ea typeface="Gartner Sans"/>
                <a:cs typeface="Gartner Sans"/>
              </a:rPr>
              <a:t>Rework and variability: trends in review churn, failed handoffs and cycle-time variance</a:t>
            </a:r>
          </a:p>
        </p:txBody>
      </p:sp>
      <p:sp>
        <p:nvSpPr>
          <p:cNvPr id="14" name="Note"/>
          <p:cNvSpPr/>
          <p:nvPr/>
        </p:nvSpPr>
        <p:spPr>
          <a:xfrm>
            <a:off x="552297" y="5257800"/>
            <a:ext cx="11146536" cy="54864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Then scale: </a:t>
            </a:r>
            <a:r>
              <a:rPr sz="1800" b="0">
                <a:solidFill>
                  <a:srgbClr val="152230"/>
                </a:solidFill>
                <a:latin typeface="Gartner Sans"/>
                <a:ea typeface="Gartner Sans"/>
                <a:cs typeface="Gartner Sans"/>
              </a:rPr>
              <a:t>extend AI to requirements analysis, design, testing, security, deployment and operations.</a:t>
            </a:r>
          </a:p>
        </p:txBody>
      </p:sp>
      <p:sp>
        <p:nvSpPr>
          <p:cNvPr id="15"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G00844726 (measurement and scaling); G00850352 (foundation measures)</a:t>
            </a:r>
          </a:p>
        </p:txBody>
      </p:sp>
    </p:spTree>
    <p:extLst>
      <p:ext uri="{BB962C8B-B14F-4D97-AF65-F5344CB8AC3E}">
        <p14:creationId xmlns:p14="http://schemas.microsoft.com/office/powerpoint/2010/main" val="30000000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Summary: what changes and how to adopt it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59</a:t>
            </a:r>
          </a:p>
        </p:txBody>
      </p:sp>
      <p:sp>
        <p:nvSpPr>
          <p:cNvPr id="10" name="The constraint moves"/>
          <p:cNvSpPr/>
          <p:nvPr/>
        </p:nvSpPr>
        <p:spPr>
          <a:xfrm>
            <a:off x="552297" y="1325880"/>
            <a:ext cx="3532632" cy="2011680"/>
          </a:xfrm>
          <a:prstGeom prst="rect">
            <a:avLst/>
          </a:prstGeom>
          <a:solidFill>
            <a:srgbClr val="F0F7FD"/>
          </a:solidFill>
          <a:ln>
            <a:noFill/>
          </a:ln>
        </p:spPr>
        <p:txBody>
          <a:bodyPr rtlCol="0" anchor="ctr"/>
          <a:lstStyle/>
          <a:p>
            <a:pPr algn="ctr"/>
            <a:endParaRPr/>
          </a:p>
        </p:txBody>
      </p:sp>
      <p:sp>
        <p:nvSpPr>
          <p:cNvPr id="11" name="Number 1"/>
          <p:cNvSpPr/>
          <p:nvPr/>
        </p:nvSpPr>
        <p:spPr>
          <a:xfrm>
            <a:off x="780897" y="1527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2" name="The constraint moves text"/>
          <p:cNvSpPr txBox="1"/>
          <p:nvPr/>
        </p:nvSpPr>
        <p:spPr>
          <a:xfrm>
            <a:off x="1256385" y="1472184"/>
            <a:ext cx="2618232" cy="1773936"/>
          </a:xfrm>
          <a:prstGeom prst="rect">
            <a:avLst/>
          </a:prstGeom>
          <a:noFill/>
        </p:spPr>
        <p:txBody>
          <a:bodyPr wrap="square" lIns="0" tIns="0" rIns="0" bIns="0" anchor="t">
            <a:spAutoFit/>
          </a:bodyPr>
          <a:lstStyle/>
          <a:p>
            <a:pPr algn="l"/>
            <a:r>
              <a:rPr sz="1700" b="1">
                <a:solidFill>
                  <a:srgbClr val="002869"/>
                </a:solidFill>
                <a:latin typeface="Gartner Sans"/>
                <a:ea typeface="Gartner Sans"/>
                <a:cs typeface="Gartner Sans"/>
              </a:rPr>
              <a:t>The constraint moves</a:t>
            </a:r>
          </a:p>
          <a:p>
            <a:pPr algn="l">
              <a:spcBef>
                <a:spcPts val="500"/>
              </a:spcBef>
            </a:pPr>
            <a:r>
              <a:rPr sz="1700" b="0">
                <a:solidFill>
                  <a:srgbClr val="152230"/>
                </a:solidFill>
                <a:latin typeface="Gartner Sans"/>
                <a:ea typeface="Gartner Sans"/>
                <a:cs typeface="Gartner Sans"/>
              </a:rPr>
              <a:t>From writing code to defining intent and validating output.</a:t>
            </a:r>
          </a:p>
        </p:txBody>
      </p:sp>
      <p:sp>
        <p:nvSpPr>
          <p:cNvPr id="13" name="Requirements change most"/>
          <p:cNvSpPr/>
          <p:nvPr/>
        </p:nvSpPr>
        <p:spPr>
          <a:xfrm>
            <a:off x="4359249" y="1325880"/>
            <a:ext cx="3532632" cy="2011680"/>
          </a:xfrm>
          <a:prstGeom prst="rect">
            <a:avLst/>
          </a:prstGeom>
          <a:solidFill>
            <a:srgbClr val="F0F7FD"/>
          </a:solidFill>
          <a:ln>
            <a:noFill/>
          </a:ln>
        </p:spPr>
        <p:txBody>
          <a:bodyPr rtlCol="0" anchor="ctr"/>
          <a:lstStyle/>
          <a:p>
            <a:pPr algn="ctr"/>
            <a:endParaRPr/>
          </a:p>
        </p:txBody>
      </p:sp>
      <p:sp>
        <p:nvSpPr>
          <p:cNvPr id="14" name="Number 2"/>
          <p:cNvSpPr/>
          <p:nvPr/>
        </p:nvSpPr>
        <p:spPr>
          <a:xfrm>
            <a:off x="4587849" y="1527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5" name="Requirements change most text"/>
          <p:cNvSpPr txBox="1"/>
          <p:nvPr/>
        </p:nvSpPr>
        <p:spPr>
          <a:xfrm>
            <a:off x="5063337" y="1472184"/>
            <a:ext cx="2618232" cy="1773936"/>
          </a:xfrm>
          <a:prstGeom prst="rect">
            <a:avLst/>
          </a:prstGeom>
          <a:noFill/>
        </p:spPr>
        <p:txBody>
          <a:bodyPr wrap="square" lIns="0" tIns="0" rIns="0" bIns="0" anchor="t">
            <a:spAutoFit/>
          </a:bodyPr>
          <a:lstStyle/>
          <a:p>
            <a:pPr algn="l"/>
            <a:r>
              <a:rPr sz="1700" b="1">
                <a:solidFill>
                  <a:srgbClr val="002869"/>
                </a:solidFill>
                <a:latin typeface="Gartner Sans"/>
                <a:ea typeface="Gartner Sans"/>
                <a:cs typeface="Gartner Sans"/>
              </a:rPr>
              <a:t>Requirements change most</a:t>
            </a:r>
          </a:p>
          <a:p>
            <a:pPr algn="l">
              <a:spcBef>
                <a:spcPts val="500"/>
              </a:spcBef>
            </a:pPr>
            <a:r>
              <a:rPr sz="1700" b="0">
                <a:solidFill>
                  <a:srgbClr val="152230"/>
                </a:solidFill>
                <a:latin typeface="Gartner Sans"/>
                <a:ea typeface="Gartner Sans"/>
                <a:cs typeface="Gartner Sans"/>
              </a:rPr>
              <a:t>AI takes on the administrative work. Requirements become views of a living brief.</a:t>
            </a:r>
          </a:p>
        </p:txBody>
      </p:sp>
      <p:sp>
        <p:nvSpPr>
          <p:cNvPr id="16" name="Phases and roles compress"/>
          <p:cNvSpPr/>
          <p:nvPr/>
        </p:nvSpPr>
        <p:spPr>
          <a:xfrm>
            <a:off x="8166201" y="1325880"/>
            <a:ext cx="3532632" cy="2011680"/>
          </a:xfrm>
          <a:prstGeom prst="rect">
            <a:avLst/>
          </a:prstGeom>
          <a:solidFill>
            <a:srgbClr val="F0F7FD"/>
          </a:solidFill>
          <a:ln>
            <a:noFill/>
          </a:ln>
        </p:spPr>
        <p:txBody>
          <a:bodyPr rtlCol="0" anchor="ctr"/>
          <a:lstStyle/>
          <a:p>
            <a:pPr algn="ctr"/>
            <a:endParaRPr/>
          </a:p>
        </p:txBody>
      </p:sp>
      <p:sp>
        <p:nvSpPr>
          <p:cNvPr id="17" name="Number 3"/>
          <p:cNvSpPr/>
          <p:nvPr/>
        </p:nvSpPr>
        <p:spPr>
          <a:xfrm>
            <a:off x="8394801" y="1527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8" name="Phases and roles compress text"/>
          <p:cNvSpPr txBox="1"/>
          <p:nvPr/>
        </p:nvSpPr>
        <p:spPr>
          <a:xfrm>
            <a:off x="8870289" y="1472184"/>
            <a:ext cx="2618232" cy="1773936"/>
          </a:xfrm>
          <a:prstGeom prst="rect">
            <a:avLst/>
          </a:prstGeom>
          <a:noFill/>
        </p:spPr>
        <p:txBody>
          <a:bodyPr wrap="square" lIns="0" tIns="0" rIns="0" bIns="0" anchor="t">
            <a:spAutoFit/>
          </a:bodyPr>
          <a:lstStyle/>
          <a:p>
            <a:pPr algn="l"/>
            <a:r>
              <a:rPr sz="1700" b="1">
                <a:solidFill>
                  <a:srgbClr val="002869"/>
                </a:solidFill>
                <a:latin typeface="Gartner Sans"/>
                <a:ea typeface="Gartner Sans"/>
                <a:cs typeface="Gartner Sans"/>
              </a:rPr>
              <a:t>Phases and roles compress</a:t>
            </a:r>
          </a:p>
          <a:p>
            <a:pPr algn="l">
              <a:spcBef>
                <a:spcPts val="500"/>
              </a:spcBef>
            </a:pPr>
            <a:r>
              <a:rPr sz="1700" b="0">
                <a:solidFill>
                  <a:srgbClr val="152230"/>
                </a:solidFill>
                <a:latin typeface="Gartner Sans"/>
                <a:ea typeface="Gartner Sans"/>
                <a:cs typeface="Gartner Sans"/>
              </a:rPr>
              <a:t>Blended roles work in tiny teams. Production release stays under human approval.</a:t>
            </a:r>
          </a:p>
        </p:txBody>
      </p:sp>
      <p:sp>
        <p:nvSpPr>
          <p:cNvPr id="19" name="Start from evidence"/>
          <p:cNvSpPr/>
          <p:nvPr/>
        </p:nvSpPr>
        <p:spPr>
          <a:xfrm>
            <a:off x="552297" y="3611880"/>
            <a:ext cx="3532632" cy="2011680"/>
          </a:xfrm>
          <a:prstGeom prst="rect">
            <a:avLst/>
          </a:prstGeom>
          <a:solidFill>
            <a:srgbClr val="F0F7FD"/>
          </a:solidFill>
          <a:ln>
            <a:noFill/>
          </a:ln>
        </p:spPr>
        <p:txBody>
          <a:bodyPr rtlCol="0" anchor="ctr"/>
          <a:lstStyle/>
          <a:p>
            <a:pPr algn="ctr"/>
            <a:endParaRPr/>
          </a:p>
        </p:txBody>
      </p:sp>
      <p:sp>
        <p:nvSpPr>
          <p:cNvPr id="20" name="Number 4"/>
          <p:cNvSpPr/>
          <p:nvPr/>
        </p:nvSpPr>
        <p:spPr>
          <a:xfrm>
            <a:off x="780897" y="3813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21" name="Start from evidence text"/>
          <p:cNvSpPr txBox="1"/>
          <p:nvPr/>
        </p:nvSpPr>
        <p:spPr>
          <a:xfrm>
            <a:off x="1256385" y="3758184"/>
            <a:ext cx="2618232" cy="1773936"/>
          </a:xfrm>
          <a:prstGeom prst="rect">
            <a:avLst/>
          </a:prstGeom>
          <a:noFill/>
        </p:spPr>
        <p:txBody>
          <a:bodyPr wrap="square" lIns="0" tIns="0" rIns="0" bIns="0" anchor="t">
            <a:spAutoFit/>
          </a:bodyPr>
          <a:lstStyle/>
          <a:p>
            <a:pPr algn="l"/>
            <a:r>
              <a:rPr sz="1700" b="1">
                <a:solidFill>
                  <a:srgbClr val="002869"/>
                </a:solidFill>
                <a:latin typeface="Gartner Sans"/>
                <a:ea typeface="Gartner Sans"/>
                <a:cs typeface="Gartner Sans"/>
              </a:rPr>
              <a:t>Start from evidence</a:t>
            </a:r>
          </a:p>
          <a:p>
            <a:pPr algn="l">
              <a:spcBef>
                <a:spcPts val="500"/>
              </a:spcBef>
            </a:pPr>
            <a:r>
              <a:rPr sz="1700" b="0">
                <a:solidFill>
                  <a:srgbClr val="152230"/>
                </a:solidFill>
                <a:latin typeface="Gartner Sans"/>
                <a:ea typeface="Gartner Sans"/>
                <a:cs typeface="Gartner Sans"/>
              </a:rPr>
              <a:t>Set expectations and a baseline. Map the value stream to find where work waits.</a:t>
            </a:r>
          </a:p>
        </p:txBody>
      </p:sp>
      <p:sp>
        <p:nvSpPr>
          <p:cNvPr id="22" name="Build the foundations"/>
          <p:cNvSpPr/>
          <p:nvPr/>
        </p:nvSpPr>
        <p:spPr>
          <a:xfrm>
            <a:off x="4359249" y="3611880"/>
            <a:ext cx="3532632" cy="2011680"/>
          </a:xfrm>
          <a:prstGeom prst="rect">
            <a:avLst/>
          </a:prstGeom>
          <a:solidFill>
            <a:srgbClr val="F0F7FD"/>
          </a:solidFill>
          <a:ln>
            <a:noFill/>
          </a:ln>
        </p:spPr>
        <p:txBody>
          <a:bodyPr rtlCol="0" anchor="ctr"/>
          <a:lstStyle/>
          <a:p>
            <a:pPr algn="ctr"/>
            <a:endParaRPr/>
          </a:p>
        </p:txBody>
      </p:sp>
      <p:sp>
        <p:nvSpPr>
          <p:cNvPr id="23" name="Number 5"/>
          <p:cNvSpPr/>
          <p:nvPr/>
        </p:nvSpPr>
        <p:spPr>
          <a:xfrm>
            <a:off x="4587849" y="3813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5</a:t>
            </a:r>
          </a:p>
        </p:txBody>
      </p:sp>
      <p:sp>
        <p:nvSpPr>
          <p:cNvPr id="24" name="Build the foundations text"/>
          <p:cNvSpPr txBox="1"/>
          <p:nvPr/>
        </p:nvSpPr>
        <p:spPr>
          <a:xfrm>
            <a:off x="5063337" y="3758184"/>
            <a:ext cx="2618232" cy="1773936"/>
          </a:xfrm>
          <a:prstGeom prst="rect">
            <a:avLst/>
          </a:prstGeom>
          <a:noFill/>
        </p:spPr>
        <p:txBody>
          <a:bodyPr wrap="square" lIns="0" tIns="0" rIns="0" bIns="0" anchor="t">
            <a:spAutoFit/>
          </a:bodyPr>
          <a:lstStyle/>
          <a:p>
            <a:pPr algn="l"/>
            <a:r>
              <a:rPr sz="1700" b="1">
                <a:solidFill>
                  <a:srgbClr val="002869"/>
                </a:solidFill>
                <a:latin typeface="Gartner Sans"/>
                <a:ea typeface="Gartner Sans"/>
                <a:cs typeface="Gartner Sans"/>
              </a:rPr>
              <a:t>Build the foundations</a:t>
            </a:r>
          </a:p>
          <a:p>
            <a:pPr algn="l">
              <a:spcBef>
                <a:spcPts val="500"/>
              </a:spcBef>
            </a:pPr>
            <a:r>
              <a:rPr sz="1700" b="0">
                <a:solidFill>
                  <a:srgbClr val="152230"/>
                </a:solidFill>
                <a:latin typeface="Gartner Sans"/>
                <a:ea typeface="Gartner Sans"/>
                <a:cs typeface="Gartner Sans"/>
              </a:rPr>
              <a:t>Context, platform and continuous workflow redesign. Pilot before scaling.</a:t>
            </a:r>
          </a:p>
        </p:txBody>
      </p:sp>
      <p:sp>
        <p:nvSpPr>
          <p:cNvPr id="25" name="Scale within controls"/>
          <p:cNvSpPr/>
          <p:nvPr/>
        </p:nvSpPr>
        <p:spPr>
          <a:xfrm>
            <a:off x="8166201" y="3611880"/>
            <a:ext cx="3532632" cy="2011680"/>
          </a:xfrm>
          <a:prstGeom prst="rect">
            <a:avLst/>
          </a:prstGeom>
          <a:solidFill>
            <a:srgbClr val="F0F7FD"/>
          </a:solidFill>
          <a:ln>
            <a:noFill/>
          </a:ln>
        </p:spPr>
        <p:txBody>
          <a:bodyPr rtlCol="0" anchor="ctr"/>
          <a:lstStyle/>
          <a:p>
            <a:pPr algn="ctr"/>
            <a:endParaRPr/>
          </a:p>
        </p:txBody>
      </p:sp>
      <p:sp>
        <p:nvSpPr>
          <p:cNvPr id="26" name="Number 6"/>
          <p:cNvSpPr/>
          <p:nvPr/>
        </p:nvSpPr>
        <p:spPr>
          <a:xfrm>
            <a:off x="8394801" y="3813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6</a:t>
            </a:r>
          </a:p>
        </p:txBody>
      </p:sp>
      <p:sp>
        <p:nvSpPr>
          <p:cNvPr id="27" name="Scale within controls text"/>
          <p:cNvSpPr txBox="1"/>
          <p:nvPr/>
        </p:nvSpPr>
        <p:spPr>
          <a:xfrm>
            <a:off x="8870289" y="3758184"/>
            <a:ext cx="2618232" cy="1773936"/>
          </a:xfrm>
          <a:prstGeom prst="rect">
            <a:avLst/>
          </a:prstGeom>
          <a:noFill/>
        </p:spPr>
        <p:txBody>
          <a:bodyPr wrap="square" lIns="0" tIns="0" rIns="0" bIns="0" anchor="t">
            <a:spAutoFit/>
          </a:bodyPr>
          <a:lstStyle/>
          <a:p>
            <a:pPr algn="l"/>
            <a:r>
              <a:rPr sz="1700" b="1">
                <a:solidFill>
                  <a:srgbClr val="002869"/>
                </a:solidFill>
                <a:latin typeface="Gartner Sans"/>
                <a:ea typeface="Gartner Sans"/>
                <a:cs typeface="Gartner Sans"/>
              </a:rPr>
              <a:t>Scale within controls</a:t>
            </a:r>
          </a:p>
          <a:p>
            <a:pPr algn="l">
              <a:spcBef>
                <a:spcPts val="500"/>
              </a:spcBef>
            </a:pPr>
            <a:r>
              <a:rPr sz="1700" b="0">
                <a:solidFill>
                  <a:srgbClr val="152230"/>
                </a:solidFill>
                <a:latin typeface="Gartner Sans"/>
                <a:ea typeface="Gartner Sans"/>
                <a:cs typeface="Gartner Sans"/>
              </a:rPr>
              <a:t>Match human oversight to risk. Manage quality, security and cost.</a:t>
            </a:r>
          </a:p>
        </p:txBody>
      </p:sp>
      <p:sp>
        <p:nvSpPr>
          <p:cNvPr id="28"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G00850352; G00858533; G00857393; G00843405; G00844726</a:t>
            </a:r>
          </a:p>
        </p:txBody>
      </p:sp>
    </p:spTree>
    <p:extLst>
      <p:ext uri="{BB962C8B-B14F-4D97-AF65-F5344CB8AC3E}">
        <p14:creationId xmlns:p14="http://schemas.microsoft.com/office/powerpoint/2010/main" val="30000000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From the research to your SDLC</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60</a:t>
            </a:r>
          </a:p>
        </p:txBody>
      </p:sp>
      <p:sp>
        <p:nvSpPr>
          <p:cNvPr id="10" name="Card heading"/>
          <p:cNvSpPr/>
          <p:nvPr/>
        </p:nvSpPr>
        <p:spPr>
          <a:xfrm>
            <a:off x="552297" y="1325880"/>
            <a:ext cx="5074920" cy="502920"/>
          </a:xfrm>
          <a:prstGeom prst="rect">
            <a:avLst/>
          </a:prstGeom>
          <a:solidFill>
            <a:srgbClr val="F0F7FD"/>
          </a:solidFill>
          <a:ln w="12700">
            <a:solidFill>
              <a:srgbClr val="D0D7DF"/>
            </a:solidFill>
          </a:ln>
        </p:spPr>
        <p:txBody>
          <a:bodyPr wrap="square" lIns="228600" tIns="0" rIns="228600" bIns="0" rtlCol="0" anchor="ctr"/>
          <a:lstStyle/>
          <a:p>
            <a:pPr algn="l"/>
            <a:r>
              <a:rPr sz="1800" b="1">
                <a:solidFill>
                  <a:srgbClr val="002869"/>
                </a:solidFill>
                <a:latin typeface="Gartner Sans"/>
                <a:ea typeface="Gartner Sans"/>
                <a:cs typeface="Gartner Sans"/>
              </a:rPr>
              <a:t>What Gartner sees</a:t>
            </a:r>
          </a:p>
        </p:txBody>
      </p:sp>
      <p:sp>
        <p:nvSpPr>
          <p:cNvPr id="11" name="Card body"/>
          <p:cNvSpPr/>
          <p:nvPr/>
        </p:nvSpPr>
        <p:spPr>
          <a:xfrm>
            <a:off x="552297" y="1828800"/>
            <a:ext cx="5074920" cy="3154680"/>
          </a:xfrm>
          <a:prstGeom prst="rect">
            <a:avLst/>
          </a:prstGeom>
          <a:solidFill>
            <a:srgbClr val="FFFFFF"/>
          </a:solidFill>
          <a:ln w="12700">
            <a:solidFill>
              <a:srgbClr val="D0D7DF"/>
            </a:solidFill>
          </a:ln>
        </p:spPr>
        <p:txBody>
          <a:bodyPr wrap="square" lIns="274320" tIns="274320" rIns="228600" bIns="137160" rtlCol="0" anchor="t"/>
          <a:lstStyle/>
          <a:p>
            <a:pPr marL="171450" indent="-171450" algn="l">
              <a:buFont typeface="Arial"/>
              <a:buChar char="•"/>
            </a:pPr>
            <a:r>
              <a:rPr sz="1550" b="0">
                <a:solidFill>
                  <a:srgbClr val="152230"/>
                </a:solidFill>
                <a:latin typeface="Gartner Sans"/>
                <a:ea typeface="Gartner Sans"/>
                <a:cs typeface="Gartner Sans"/>
              </a:rPr>
              <a:t>AI speeds up tasks, but work still waits between roles and sprints.</a:t>
            </a:r>
          </a:p>
          <a:p>
            <a:pPr marL="171450" indent="-171450" algn="l">
              <a:spcBef>
                <a:spcPts val="1000"/>
              </a:spcBef>
              <a:buFont typeface="Arial"/>
              <a:buChar char="•"/>
            </a:pPr>
            <a:r>
              <a:rPr sz="1550" b="0">
                <a:solidFill>
                  <a:srgbClr val="152230"/>
                </a:solidFill>
                <a:latin typeface="Gartner Sans"/>
                <a:ea typeface="Gartner Sans"/>
                <a:cs typeface="Gartner Sans"/>
              </a:rPr>
              <a:t>The constraint moves from coding to intent and validation, so requirements work changes most.</a:t>
            </a:r>
          </a:p>
          <a:p>
            <a:pPr marL="171450" indent="-171450" algn="l">
              <a:spcBef>
                <a:spcPts val="1000"/>
              </a:spcBef>
              <a:buFont typeface="Arial"/>
              <a:buChar char="•"/>
            </a:pPr>
            <a:r>
              <a:rPr sz="1550" b="0">
                <a:solidFill>
                  <a:srgbClr val="152230"/>
                </a:solidFill>
                <a:latin typeface="Gartner Sans"/>
                <a:ea typeface="Gartner Sans"/>
                <a:cs typeface="Gartner Sans"/>
              </a:rPr>
              <a:t>Adoption works when roles and workflows are redesigned step by step, within controls.</a:t>
            </a:r>
          </a:p>
        </p:txBody>
      </p:sp>
      <p:sp>
        <p:nvSpPr>
          <p:cNvPr id="12" name="Card heading"/>
          <p:cNvSpPr/>
          <p:nvPr/>
        </p:nvSpPr>
        <p:spPr>
          <a:xfrm>
            <a:off x="6623913" y="1325880"/>
            <a:ext cx="5074920" cy="502920"/>
          </a:xfrm>
          <a:prstGeom prst="rect">
            <a:avLst/>
          </a:prstGeom>
          <a:solidFill>
            <a:srgbClr val="002869"/>
          </a:solidFill>
          <a:ln w="12700">
            <a:solidFill>
              <a:srgbClr val="002869"/>
            </a:solidFill>
          </a:ln>
        </p:spPr>
        <p:txBody>
          <a:bodyPr wrap="square" lIns="228600" tIns="0" rIns="228600" bIns="0" rtlCol="0" anchor="ctr"/>
          <a:lstStyle/>
          <a:p>
            <a:pPr algn="l"/>
            <a:r>
              <a:rPr sz="1800" b="1">
                <a:solidFill>
                  <a:srgbClr val="FFFFFF"/>
                </a:solidFill>
                <a:latin typeface="Gartner Sans"/>
                <a:ea typeface="Gartner Sans"/>
                <a:cs typeface="Gartner Sans"/>
              </a:rPr>
              <a:t>In your context</a:t>
            </a:r>
          </a:p>
        </p:txBody>
      </p:sp>
      <p:sp>
        <p:nvSpPr>
          <p:cNvPr id="13" name="Card body"/>
          <p:cNvSpPr/>
          <p:nvPr/>
        </p:nvSpPr>
        <p:spPr>
          <a:xfrm>
            <a:off x="6623913" y="1828800"/>
            <a:ext cx="5074920" cy="3154680"/>
          </a:xfrm>
          <a:prstGeom prst="rect">
            <a:avLst/>
          </a:prstGeom>
          <a:solidFill>
            <a:srgbClr val="FFFFFF"/>
          </a:solidFill>
          <a:ln w="12700">
            <a:solidFill>
              <a:srgbClr val="002869"/>
            </a:solidFill>
          </a:ln>
        </p:spPr>
        <p:txBody>
          <a:bodyPr wrap="square" lIns="274320" tIns="274320" rIns="228600" bIns="137160" rtlCol="0" anchor="t"/>
          <a:lstStyle/>
          <a:p>
            <a:pPr marL="171450" indent="-171450" algn="l">
              <a:buFont typeface="Arial"/>
              <a:buChar char="•"/>
            </a:pPr>
            <a:r>
              <a:rPr sz="1550" b="0">
                <a:solidFill>
                  <a:srgbClr val="152230"/>
                </a:solidFill>
                <a:latin typeface="Gartner Sans"/>
                <a:ea typeface="Gartner Sans"/>
                <a:cs typeface="Gartner Sans"/>
              </a:rPr>
              <a:t>Draw your current SDLC. Mark where work waits, where errors occur, and where requirements are uncertain or ambiguous.</a:t>
            </a:r>
          </a:p>
          <a:p>
            <a:pPr marL="171450" indent="-171450" algn="l">
              <a:spcBef>
                <a:spcPts val="1000"/>
              </a:spcBef>
              <a:buFont typeface="Arial"/>
              <a:buChar char="•"/>
            </a:pPr>
            <a:r>
              <a:rPr sz="1550" b="0">
                <a:solidFill>
                  <a:srgbClr val="152230"/>
                </a:solidFill>
                <a:latin typeface="Gartner Sans"/>
                <a:ea typeface="Gartner Sans"/>
                <a:cs typeface="Gartner Sans"/>
              </a:rPr>
              <a:t>Choose where AI agents would help most.</a:t>
            </a:r>
          </a:p>
          <a:p>
            <a:pPr marL="171450" indent="-171450" algn="l">
              <a:spcBef>
                <a:spcPts val="1000"/>
              </a:spcBef>
              <a:buFont typeface="Arial"/>
              <a:buChar char="•"/>
            </a:pPr>
            <a:r>
              <a:rPr sz="1550" b="0">
                <a:solidFill>
                  <a:srgbClr val="152230"/>
                </a:solidFill>
                <a:latin typeface="Gartner Sans"/>
                <a:ea typeface="Gartner Sans"/>
                <a:cs typeface="Gartner Sans"/>
              </a:rPr>
              <a:t>Draw your future SDLC with agents supporting you.</a:t>
            </a:r>
          </a:p>
          <a:p>
            <a:pPr marL="171450" indent="-171450" algn="l">
              <a:spcBef>
                <a:spcPts val="1000"/>
              </a:spcBef>
              <a:buFont typeface="Arial"/>
              <a:buChar char="•"/>
            </a:pPr>
            <a:r>
              <a:rPr sz="1550" b="1">
                <a:solidFill>
                  <a:srgbClr val="152230"/>
                </a:solidFill>
                <a:latin typeface="Gartner Sans"/>
                <a:ea typeface="Gartner Sans"/>
                <a:cs typeface="Gartner Sans"/>
              </a:rPr>
              <a:t>Be bold. </a:t>
            </a:r>
            <a:r>
              <a:rPr sz="1550" b="0">
                <a:solidFill>
                  <a:srgbClr val="152230"/>
                </a:solidFill>
                <a:latin typeface="Gartner Sans"/>
                <a:ea typeface="Gartner Sans"/>
                <a:cs typeface="Gartner Sans"/>
              </a:rPr>
              <a:t>Do not pave the cow path: redesign the work, do not only automate the steps you have today.</a:t>
            </a:r>
          </a:p>
        </p:txBody>
      </p:sp>
      <p:sp>
        <p:nvSpPr>
          <p:cNvPr id="14" name="Arrow"/>
          <p:cNvSpPr/>
          <p:nvPr/>
        </p:nvSpPr>
        <p:spPr>
          <a:xfrm>
            <a:off x="5810097" y="2743200"/>
            <a:ext cx="630935" cy="548640"/>
          </a:xfrm>
          <a:prstGeom prst="rightArrow">
            <a:avLst/>
          </a:prstGeom>
          <a:solidFill>
            <a:srgbClr val="002869"/>
          </a:solidFill>
          <a:ln>
            <a:noFill/>
          </a:ln>
        </p:spPr>
        <p:txBody>
          <a:bodyPr rtlCol="0" anchor="ctr"/>
          <a:lstStyle/>
          <a:p>
            <a:pPr algn="ctr"/>
            <a:endParaRPr/>
          </a:p>
        </p:txBody>
      </p:sp>
      <p:sp>
        <p:nvSpPr>
          <p:cNvPr id="15" name="Note"/>
          <p:cNvSpPr/>
          <p:nvPr/>
        </p:nvSpPr>
        <p:spPr>
          <a:xfrm>
            <a:off x="552297" y="5166360"/>
            <a:ext cx="11146536" cy="68580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The exercise: </a:t>
            </a:r>
            <a:r>
              <a:rPr sz="1800" b="0">
                <a:solidFill>
                  <a:srgbClr val="152230"/>
                </a:solidFill>
                <a:latin typeface="Gartner Sans"/>
                <a:ea typeface="Gartner Sans"/>
                <a:cs typeface="Gartner Sans"/>
              </a:rPr>
              <a:t>3 hours in your teams. This is the main exercise.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Exercise: from your current SDLC to your future SDLC</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61</a:t>
            </a:r>
          </a:p>
        </p:txBody>
      </p:sp>
      <p:sp>
        <p:nvSpPr>
          <p:cNvPr id="32" name="Note"/>
          <p:cNvSpPr/>
          <p:nvPr/>
        </p:nvSpPr>
        <p:spPr>
          <a:xfrm>
            <a:off x="552297" y="5086320"/>
            <a:ext cx="11146536" cy="914400"/>
          </a:xfrm>
          <a:prstGeom prst="rect">
            <a:avLst/>
          </a:prstGeom>
          <a:solidFill>
            <a:srgbClr val="F0F7FD"/>
          </a:solidFill>
          <a:ln>
            <a:noFill/>
          </a:ln>
        </p:spPr>
        <p:txBody>
          <a:bodyPr wrap="square" lIns="228600" rIns="228600" rtlCol="0" anchor="ctr"/>
          <a:lstStyle/>
          <a:p>
            <a:pPr algn="l"/>
            <a:r>
              <a:rPr sz="1650" b="1">
                <a:solidFill>
                  <a:srgbClr val="002869"/>
                </a:solidFill>
                <a:latin typeface="Gartner Sans"/>
                <a:ea typeface="Gartner Sans"/>
                <a:cs typeface="Gartner Sans"/>
              </a:rPr>
              <a:t>Start from your top three challenges. </a:t>
            </a:r>
            <a:r>
              <a:rPr sz="1650" b="0">
                <a:solidFill>
                  <a:srgbClr val="152230"/>
                </a:solidFill>
                <a:latin typeface="Gartner Sans"/>
                <a:ea typeface="Gartner Sans"/>
                <a:cs typeface="Gartner Sans"/>
              </a:rPr>
              <a:t>Each team produces a drawing of its current SDLC with the bottlenecks, issues and dependencies, and a drawing of its future SDLC showing what the agents do and the benefits.</a:t>
            </a:r>
          </a:p>
        </p:txBody>
      </p:sp>
      <p:sp>
        <p:nvSpPr>
          <p:cNvPr id="33" name="Heading"/>
          <p:cNvSpPr txBox="1"/>
          <p:nvPr/>
        </p:nvSpPr>
        <p:spPr>
          <a:xfrm>
            <a:off x="552297" y="1325880"/>
            <a:ext cx="6583680"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In your team (3 hours)</a:t>
            </a:r>
          </a:p>
        </p:txBody>
      </p:sp>
      <p:sp>
        <p:nvSpPr>
          <p:cNvPr id="34" name="Number 1"/>
          <p:cNvSpPr/>
          <p:nvPr/>
        </p:nvSpPr>
        <p:spPr>
          <a:xfrm>
            <a:off x="552297" y="18778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35" name="Step 1"/>
          <p:cNvSpPr txBox="1"/>
          <p:nvPr/>
        </p:nvSpPr>
        <p:spPr>
          <a:xfrm>
            <a:off x="1027785" y="1773936"/>
            <a:ext cx="4782312" cy="518718"/>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Draw your current SDLC as it really works, from request to delivery.</a:t>
            </a:r>
          </a:p>
        </p:txBody>
      </p:sp>
      <p:sp>
        <p:nvSpPr>
          <p:cNvPr id="36" name="Step 1 time"/>
          <p:cNvSpPr txBox="1"/>
          <p:nvPr/>
        </p:nvSpPr>
        <p:spPr>
          <a:xfrm>
            <a:off x="5901537" y="1773936"/>
            <a:ext cx="1234440" cy="518718"/>
          </a:xfrm>
          <a:prstGeom prst="rect">
            <a:avLst/>
          </a:prstGeom>
          <a:noFill/>
        </p:spPr>
        <p:txBody>
          <a:bodyPr wrap="square" lIns="0" tIns="0" rIns="0" bIns="0" anchor="ctr">
            <a:spAutoFit/>
          </a:bodyPr>
          <a:lstStyle/>
          <a:p>
            <a:pPr algn="r"/>
            <a:r>
              <a:rPr sz="1550" b="0">
                <a:solidFill>
                  <a:srgbClr val="526273"/>
                </a:solidFill>
                <a:latin typeface="Gartner Sans"/>
                <a:ea typeface="Gartner Sans"/>
                <a:cs typeface="Gartner Sans"/>
              </a:rPr>
              <a:t>35 min</a:t>
            </a:r>
          </a:p>
        </p:txBody>
      </p:sp>
      <p:cxnSp>
        <p:nvCxnSpPr>
          <p:cNvPr id="37" name="Divider"/>
          <p:cNvCxnSpPr/>
          <p:nvPr/>
        </p:nvCxnSpPr>
        <p:spPr>
          <a:xfrm>
            <a:off x="552297" y="2334153"/>
            <a:ext cx="6583680" cy="0"/>
          </a:xfrm>
          <a:prstGeom prst="line">
            <a:avLst/>
          </a:prstGeom>
          <a:ln w="9525">
            <a:solidFill>
              <a:srgbClr val="D0D7DF"/>
            </a:solidFill>
          </a:ln>
        </p:spPr>
      </p:cxnSp>
      <p:sp>
        <p:nvSpPr>
          <p:cNvPr id="38" name="Number 2"/>
          <p:cNvSpPr/>
          <p:nvPr/>
        </p:nvSpPr>
        <p:spPr>
          <a:xfrm>
            <a:off x="552297" y="2479563"/>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39" name="Step 2"/>
          <p:cNvSpPr txBox="1"/>
          <p:nvPr/>
        </p:nvSpPr>
        <p:spPr>
          <a:xfrm>
            <a:off x="1027785" y="2375651"/>
            <a:ext cx="4782312" cy="518718"/>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Mark where work waits, is reworked or depends on others.</a:t>
            </a:r>
          </a:p>
        </p:txBody>
      </p:sp>
      <p:sp>
        <p:nvSpPr>
          <p:cNvPr id="40" name="Step 2 time"/>
          <p:cNvSpPr txBox="1"/>
          <p:nvPr/>
        </p:nvSpPr>
        <p:spPr>
          <a:xfrm>
            <a:off x="5901537" y="2375651"/>
            <a:ext cx="1234440" cy="518718"/>
          </a:xfrm>
          <a:prstGeom prst="rect">
            <a:avLst/>
          </a:prstGeom>
          <a:noFill/>
        </p:spPr>
        <p:txBody>
          <a:bodyPr wrap="square" lIns="0" tIns="0" rIns="0" bIns="0" anchor="ctr">
            <a:spAutoFit/>
          </a:bodyPr>
          <a:lstStyle/>
          <a:p>
            <a:pPr algn="r"/>
            <a:r>
              <a:rPr sz="1550" b="0">
                <a:solidFill>
                  <a:srgbClr val="526273"/>
                </a:solidFill>
                <a:latin typeface="Gartner Sans"/>
                <a:ea typeface="Gartner Sans"/>
                <a:cs typeface="Gartner Sans"/>
              </a:rPr>
              <a:t>30 min</a:t>
            </a:r>
          </a:p>
        </p:txBody>
      </p:sp>
      <p:cxnSp>
        <p:nvCxnSpPr>
          <p:cNvPr id="41" name="Divider"/>
          <p:cNvCxnSpPr/>
          <p:nvPr/>
        </p:nvCxnSpPr>
        <p:spPr>
          <a:xfrm>
            <a:off x="552297" y="2935868"/>
            <a:ext cx="6583680" cy="0"/>
          </a:xfrm>
          <a:prstGeom prst="line">
            <a:avLst/>
          </a:prstGeom>
          <a:ln w="9525">
            <a:solidFill>
              <a:srgbClr val="D0D7DF"/>
            </a:solidFill>
          </a:ln>
        </p:spPr>
      </p:cxnSp>
      <p:sp>
        <p:nvSpPr>
          <p:cNvPr id="42" name="Step break"/>
          <p:cNvSpPr txBox="1"/>
          <p:nvPr/>
        </p:nvSpPr>
        <p:spPr>
          <a:xfrm>
            <a:off x="1027785" y="2956617"/>
            <a:ext cx="4782312" cy="331980"/>
          </a:xfrm>
          <a:prstGeom prst="rect">
            <a:avLst/>
          </a:prstGeom>
          <a:noFill/>
        </p:spPr>
        <p:txBody>
          <a:bodyPr wrap="square" lIns="0" tIns="0" rIns="0" bIns="0" anchor="ctr">
            <a:spAutoFit/>
          </a:bodyPr>
          <a:lstStyle/>
          <a:p>
            <a:pPr algn="l"/>
            <a:r>
              <a:rPr sz="1750" b="0">
                <a:solidFill>
                  <a:srgbClr val="526273"/>
                </a:solidFill>
                <a:latin typeface="Gartner Sans"/>
                <a:ea typeface="Gartner Sans"/>
                <a:cs typeface="Gartner Sans"/>
              </a:rPr>
              <a:t>Break</a:t>
            </a:r>
          </a:p>
        </p:txBody>
      </p:sp>
      <p:sp>
        <p:nvSpPr>
          <p:cNvPr id="43" name="Step break time"/>
          <p:cNvSpPr txBox="1"/>
          <p:nvPr/>
        </p:nvSpPr>
        <p:spPr>
          <a:xfrm>
            <a:off x="5901537" y="2977366"/>
            <a:ext cx="1234440" cy="290482"/>
          </a:xfrm>
          <a:prstGeom prst="rect">
            <a:avLst/>
          </a:prstGeom>
          <a:noFill/>
        </p:spPr>
        <p:txBody>
          <a:bodyPr wrap="square" lIns="0" tIns="0" rIns="0" bIns="0" anchor="ctr">
            <a:spAutoFit/>
          </a:bodyPr>
          <a:lstStyle/>
          <a:p>
            <a:pPr algn="r"/>
            <a:r>
              <a:rPr sz="1550" b="0">
                <a:solidFill>
                  <a:srgbClr val="526273"/>
                </a:solidFill>
                <a:latin typeface="Gartner Sans"/>
                <a:ea typeface="Gartner Sans"/>
                <a:cs typeface="Gartner Sans"/>
              </a:rPr>
              <a:t>10 min</a:t>
            </a:r>
          </a:p>
        </p:txBody>
      </p:sp>
      <p:cxnSp>
        <p:nvCxnSpPr>
          <p:cNvPr id="44" name="Divider"/>
          <p:cNvCxnSpPr/>
          <p:nvPr/>
        </p:nvCxnSpPr>
        <p:spPr>
          <a:xfrm>
            <a:off x="552297" y="3309347"/>
            <a:ext cx="6583680" cy="0"/>
          </a:xfrm>
          <a:prstGeom prst="line">
            <a:avLst/>
          </a:prstGeom>
          <a:ln w="9525">
            <a:solidFill>
              <a:srgbClr val="D0D7DF"/>
            </a:solidFill>
          </a:ln>
        </p:spPr>
      </p:cxnSp>
      <p:sp>
        <p:nvSpPr>
          <p:cNvPr id="45" name="Number 3"/>
          <p:cNvSpPr/>
          <p:nvPr/>
        </p:nvSpPr>
        <p:spPr>
          <a:xfrm>
            <a:off x="552297" y="345475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46" name="Step 3"/>
          <p:cNvSpPr txBox="1"/>
          <p:nvPr/>
        </p:nvSpPr>
        <p:spPr>
          <a:xfrm>
            <a:off x="1027785" y="3350844"/>
            <a:ext cx="4782312" cy="518718"/>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Choose where AI would help most, and what you would do first.</a:t>
            </a:r>
          </a:p>
        </p:txBody>
      </p:sp>
      <p:sp>
        <p:nvSpPr>
          <p:cNvPr id="47" name="Step 3 time"/>
          <p:cNvSpPr txBox="1"/>
          <p:nvPr/>
        </p:nvSpPr>
        <p:spPr>
          <a:xfrm>
            <a:off x="5901537" y="3350844"/>
            <a:ext cx="1234440" cy="518718"/>
          </a:xfrm>
          <a:prstGeom prst="rect">
            <a:avLst/>
          </a:prstGeom>
          <a:noFill/>
        </p:spPr>
        <p:txBody>
          <a:bodyPr wrap="square" lIns="0" tIns="0" rIns="0" bIns="0" anchor="ctr">
            <a:spAutoFit/>
          </a:bodyPr>
          <a:lstStyle/>
          <a:p>
            <a:pPr algn="r"/>
            <a:r>
              <a:rPr sz="1550" b="0" dirty="0">
                <a:solidFill>
                  <a:srgbClr val="526273"/>
                </a:solidFill>
                <a:latin typeface="Gartner Sans"/>
                <a:ea typeface="Gartner Sans"/>
                <a:cs typeface="Gartner Sans"/>
              </a:rPr>
              <a:t>45 min</a:t>
            </a:r>
          </a:p>
        </p:txBody>
      </p:sp>
      <p:cxnSp>
        <p:nvCxnSpPr>
          <p:cNvPr id="48" name="Divider"/>
          <p:cNvCxnSpPr/>
          <p:nvPr/>
        </p:nvCxnSpPr>
        <p:spPr>
          <a:xfrm>
            <a:off x="552297" y="3911062"/>
            <a:ext cx="6583680" cy="0"/>
          </a:xfrm>
          <a:prstGeom prst="line">
            <a:avLst/>
          </a:prstGeom>
          <a:ln w="9525">
            <a:solidFill>
              <a:srgbClr val="D0D7DF"/>
            </a:solidFill>
          </a:ln>
        </p:spPr>
      </p:cxnSp>
      <p:sp>
        <p:nvSpPr>
          <p:cNvPr id="49" name="Number 4"/>
          <p:cNvSpPr/>
          <p:nvPr/>
        </p:nvSpPr>
        <p:spPr>
          <a:xfrm>
            <a:off x="552297" y="405647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50" name="Step 4"/>
          <p:cNvSpPr txBox="1"/>
          <p:nvPr/>
        </p:nvSpPr>
        <p:spPr>
          <a:xfrm>
            <a:off x="1027785" y="3952560"/>
            <a:ext cx="4782312" cy="518718"/>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Draw your future SDLC: what changes, what goes and what stays.</a:t>
            </a:r>
          </a:p>
        </p:txBody>
      </p:sp>
      <p:sp>
        <p:nvSpPr>
          <p:cNvPr id="51" name="Step 4 time"/>
          <p:cNvSpPr txBox="1"/>
          <p:nvPr/>
        </p:nvSpPr>
        <p:spPr>
          <a:xfrm>
            <a:off x="5901537" y="3952560"/>
            <a:ext cx="1234440" cy="518718"/>
          </a:xfrm>
          <a:prstGeom prst="rect">
            <a:avLst/>
          </a:prstGeom>
          <a:noFill/>
        </p:spPr>
        <p:txBody>
          <a:bodyPr wrap="square" lIns="0" tIns="0" rIns="0" bIns="0" anchor="ctr">
            <a:spAutoFit/>
          </a:bodyPr>
          <a:lstStyle/>
          <a:p>
            <a:pPr algn="r"/>
            <a:r>
              <a:rPr sz="1550" b="0">
                <a:solidFill>
                  <a:srgbClr val="526273"/>
                </a:solidFill>
                <a:latin typeface="Gartner Sans"/>
                <a:ea typeface="Gartner Sans"/>
                <a:cs typeface="Gartner Sans"/>
              </a:rPr>
              <a:t>50 min</a:t>
            </a:r>
          </a:p>
        </p:txBody>
      </p:sp>
      <p:cxnSp>
        <p:nvCxnSpPr>
          <p:cNvPr id="52" name="Divider"/>
          <p:cNvCxnSpPr/>
          <p:nvPr/>
        </p:nvCxnSpPr>
        <p:spPr>
          <a:xfrm>
            <a:off x="552297" y="4512777"/>
            <a:ext cx="6583680" cy="0"/>
          </a:xfrm>
          <a:prstGeom prst="line">
            <a:avLst/>
          </a:prstGeom>
          <a:ln w="9525">
            <a:solidFill>
              <a:srgbClr val="D0D7DF"/>
            </a:solidFill>
          </a:ln>
        </p:spPr>
      </p:cxnSp>
      <p:sp>
        <p:nvSpPr>
          <p:cNvPr id="53" name="Number 5"/>
          <p:cNvSpPr/>
          <p:nvPr/>
        </p:nvSpPr>
        <p:spPr>
          <a:xfrm>
            <a:off x="552297" y="4616689"/>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5</a:t>
            </a:r>
          </a:p>
        </p:txBody>
      </p:sp>
      <p:sp>
        <p:nvSpPr>
          <p:cNvPr id="54" name="Step 5"/>
          <p:cNvSpPr txBox="1"/>
          <p:nvPr/>
        </p:nvSpPr>
        <p:spPr>
          <a:xfrm>
            <a:off x="1027785" y="4554275"/>
            <a:ext cx="4782312" cy="435724"/>
          </a:xfrm>
          <a:prstGeom prst="rect">
            <a:avLst/>
          </a:prstGeom>
          <a:noFill/>
        </p:spPr>
        <p:txBody>
          <a:bodyPr wrap="square" lIns="0" tIns="0" rIns="0" bIns="0" anchor="ctr">
            <a:spAutoFit/>
          </a:bodyPr>
          <a:lstStyle/>
          <a:p>
            <a:pPr algn="l"/>
            <a:r>
              <a:rPr sz="1550" b="0">
                <a:solidFill>
                  <a:srgbClr val="152230"/>
                </a:solidFill>
                <a:latin typeface="Gartner Sans"/>
                <a:ea typeface="Gartner Sans"/>
                <a:cs typeface="Gartner Sans"/>
              </a:rPr>
              <a:t>Share your future SDLC with the room.</a:t>
            </a:r>
          </a:p>
        </p:txBody>
      </p:sp>
      <p:sp>
        <p:nvSpPr>
          <p:cNvPr id="55" name="Step 5 time"/>
          <p:cNvSpPr txBox="1"/>
          <p:nvPr/>
        </p:nvSpPr>
        <p:spPr>
          <a:xfrm>
            <a:off x="5901537" y="4554275"/>
            <a:ext cx="1234440" cy="435724"/>
          </a:xfrm>
          <a:prstGeom prst="rect">
            <a:avLst/>
          </a:prstGeom>
          <a:noFill/>
        </p:spPr>
        <p:txBody>
          <a:bodyPr wrap="square" lIns="0" tIns="0" rIns="0" bIns="0" anchor="ctr">
            <a:spAutoFit/>
          </a:bodyPr>
          <a:lstStyle/>
          <a:p>
            <a:pPr algn="r"/>
            <a:r>
              <a:rPr sz="1550" b="0">
                <a:solidFill>
                  <a:srgbClr val="526273"/>
                </a:solidFill>
                <a:latin typeface="Gartner Sans"/>
                <a:ea typeface="Gartner Sans"/>
                <a:cs typeface="Gartner Sans"/>
              </a:rPr>
              <a:t>10 min in total</a:t>
            </a:r>
          </a:p>
        </p:txBody>
      </p:sp>
      <p:sp>
        <p:nvSpPr>
          <p:cNvPr id="56" name="Card heading"/>
          <p:cNvSpPr/>
          <p:nvPr/>
        </p:nvSpPr>
        <p:spPr>
          <a:xfrm>
            <a:off x="7589520" y="1325880"/>
            <a:ext cx="4109313"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Questions to help</a:t>
            </a:r>
          </a:p>
        </p:txBody>
      </p:sp>
      <p:sp>
        <p:nvSpPr>
          <p:cNvPr id="57" name="Card body"/>
          <p:cNvSpPr/>
          <p:nvPr/>
        </p:nvSpPr>
        <p:spPr>
          <a:xfrm>
            <a:off x="7589520" y="1828800"/>
            <a:ext cx="4109313" cy="278892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500" b="0">
                <a:solidFill>
                  <a:srgbClr val="152230"/>
                </a:solidFill>
                <a:latin typeface="Gartner Sans"/>
                <a:ea typeface="Gartner Sans"/>
                <a:cs typeface="Gartner Sans"/>
              </a:rPr>
              <a:t>Where does finished work sit waiting?</a:t>
            </a:r>
          </a:p>
          <a:p>
            <a:pPr marL="171450" indent="-171450" algn="l">
              <a:spcBef>
                <a:spcPts val="600"/>
              </a:spcBef>
              <a:buFont typeface="Arial"/>
              <a:buChar char="•"/>
            </a:pPr>
            <a:r>
              <a:rPr sz="1500" b="0">
                <a:solidFill>
                  <a:srgbClr val="152230"/>
                </a:solidFill>
                <a:latin typeface="Gartner Sans"/>
                <a:ea typeface="Gartner Sans"/>
                <a:cs typeface="Gartner Sans"/>
              </a:rPr>
              <a:t>Which steps only add wait time?</a:t>
            </a:r>
          </a:p>
          <a:p>
            <a:pPr marL="171450" indent="-171450" algn="l">
              <a:spcBef>
                <a:spcPts val="600"/>
              </a:spcBef>
              <a:buFont typeface="Arial"/>
              <a:buChar char="•"/>
            </a:pPr>
            <a:r>
              <a:rPr sz="1500" b="0">
                <a:solidFill>
                  <a:srgbClr val="152230"/>
                </a:solidFill>
                <a:latin typeface="Gartner Sans"/>
                <a:ea typeface="Gartner Sans"/>
                <a:cs typeface="Gartner Sans"/>
              </a:rPr>
              <a:t>Where do you depend on other teams or people?</a:t>
            </a:r>
          </a:p>
          <a:p>
            <a:pPr marL="171450" indent="-171450" algn="l">
              <a:spcBef>
                <a:spcPts val="600"/>
              </a:spcBef>
              <a:buFont typeface="Arial"/>
              <a:buChar char="•"/>
            </a:pPr>
            <a:r>
              <a:rPr sz="1500" b="0">
                <a:solidFill>
                  <a:srgbClr val="152230"/>
                </a:solidFill>
                <a:latin typeface="Gartner Sans"/>
                <a:ea typeface="Gartner Sans"/>
                <a:cs typeface="Gartner Sans"/>
              </a:rPr>
              <a:t>Where does task switching cost you time?</a:t>
            </a:r>
          </a:p>
          <a:p>
            <a:pPr marL="171450" indent="-171450" algn="l">
              <a:spcBef>
                <a:spcPts val="600"/>
              </a:spcBef>
              <a:buFont typeface="Arial"/>
              <a:buChar char="•"/>
            </a:pPr>
            <a:r>
              <a:rPr sz="1500" b="0">
                <a:solidFill>
                  <a:srgbClr val="152230"/>
                </a:solidFill>
                <a:latin typeface="Gartner Sans"/>
                <a:ea typeface="Gartner Sans"/>
                <a:cs typeface="Gartner Sans"/>
              </a:rPr>
              <a:t>Where must people stay in the loop?</a:t>
            </a:r>
          </a:p>
          <a:p>
            <a:pPr marL="171450" indent="-171450" algn="l">
              <a:spcBef>
                <a:spcPts val="600"/>
              </a:spcBef>
              <a:buFont typeface="Arial"/>
              <a:buChar char="•"/>
            </a:pPr>
            <a:r>
              <a:rPr sz="1500" b="0">
                <a:solidFill>
                  <a:srgbClr val="152230"/>
                </a:solidFill>
                <a:latin typeface="Gartner Sans"/>
                <a:ea typeface="Gartner Sans"/>
                <a:cs typeface="Gartner Sans"/>
              </a:rPr>
              <a:t>What needs to be in place first: context, platform or roles?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Example 1: capture your current SDLC</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62</a:t>
            </a:r>
          </a:p>
        </p:txBody>
      </p:sp>
      <p:pic>
        <p:nvPicPr>
          <p:cNvPr id="18" name="Hand-drawn example" descr="Hand-drawn example of a current SDLC. Each phase is written on an index card: request, requirements analysis, engineering specification, quality assurance and support. Sticky notes under each card show bottlenecks, issues and dependencies."/>
          <p:cNvPicPr>
            <a:picLocks noChangeAspect="1"/>
          </p:cNvPicPr>
          <p:nvPr/>
        </p:nvPicPr>
        <p:blipFill>
          <a:blip r:embed="rId2"/>
          <a:stretch>
            <a:fillRect/>
          </a:stretch>
        </p:blipFill>
        <p:spPr>
          <a:xfrm>
            <a:off x="552297" y="1188720"/>
            <a:ext cx="11146536" cy="4527631"/>
          </a:xfrm>
          <a:prstGeom prst="rect">
            <a:avLst/>
          </a:prstGeom>
        </p:spPr>
      </p:pic>
      <p:sp>
        <p:nvSpPr>
          <p:cNvPr id="11" name="Key"/>
          <p:cNvSpPr/>
          <p:nvPr/>
        </p:nvSpPr>
        <p:spPr>
          <a:xfrm>
            <a:off x="552297" y="5852160"/>
            <a:ext cx="155448" cy="155448"/>
          </a:xfrm>
          <a:prstGeom prst="rect">
            <a:avLst/>
          </a:prstGeom>
          <a:solidFill>
            <a:srgbClr val="FF9EC4"/>
          </a:solidFill>
          <a:ln>
            <a:noFill/>
          </a:ln>
        </p:spPr>
        <p:txBody>
          <a:bodyPr rtlCol="0" anchor="ctr"/>
          <a:lstStyle/>
          <a:p>
            <a:pPr algn="ctr"/>
            <a:endParaRPr/>
          </a:p>
        </p:txBody>
      </p:sp>
      <p:sp>
        <p:nvSpPr>
          <p:cNvPr id="12" name="Key label"/>
          <p:cNvSpPr txBox="1"/>
          <p:nvPr/>
        </p:nvSpPr>
        <p:spPr>
          <a:xfrm>
            <a:off x="780897" y="5806440"/>
            <a:ext cx="1005840" cy="246888"/>
          </a:xfrm>
          <a:prstGeom prst="rect">
            <a:avLst/>
          </a:prstGeom>
          <a:noFill/>
        </p:spPr>
        <p:txBody>
          <a:bodyPr wrap="square" lIns="0" tIns="0" rIns="0" bIns="0" anchor="ctr">
            <a:spAutoFit/>
          </a:bodyPr>
          <a:lstStyle/>
          <a:p>
            <a:pPr algn="l"/>
            <a:r>
              <a:rPr sz="1450" b="0">
                <a:solidFill>
                  <a:srgbClr val="152230"/>
                </a:solidFill>
                <a:latin typeface="Gartner Sans"/>
                <a:ea typeface="Gartner Sans"/>
                <a:cs typeface="Gartner Sans"/>
              </a:rPr>
              <a:t>Bottleneck</a:t>
            </a:r>
          </a:p>
        </p:txBody>
      </p:sp>
      <p:sp>
        <p:nvSpPr>
          <p:cNvPr id="13" name="Key"/>
          <p:cNvSpPr/>
          <p:nvPr/>
        </p:nvSpPr>
        <p:spPr>
          <a:xfrm>
            <a:off x="1832457" y="5852160"/>
            <a:ext cx="155448" cy="155448"/>
          </a:xfrm>
          <a:prstGeom prst="rect">
            <a:avLst/>
          </a:prstGeom>
          <a:solidFill>
            <a:srgbClr val="FFB76B"/>
          </a:solidFill>
          <a:ln>
            <a:noFill/>
          </a:ln>
        </p:spPr>
        <p:txBody>
          <a:bodyPr rtlCol="0" anchor="ctr"/>
          <a:lstStyle/>
          <a:p>
            <a:pPr algn="ctr"/>
            <a:endParaRPr/>
          </a:p>
        </p:txBody>
      </p:sp>
      <p:sp>
        <p:nvSpPr>
          <p:cNvPr id="14" name="Key label"/>
          <p:cNvSpPr txBox="1"/>
          <p:nvPr/>
        </p:nvSpPr>
        <p:spPr>
          <a:xfrm>
            <a:off x="2061057" y="5806440"/>
            <a:ext cx="594360" cy="246888"/>
          </a:xfrm>
          <a:prstGeom prst="rect">
            <a:avLst/>
          </a:prstGeom>
          <a:noFill/>
        </p:spPr>
        <p:txBody>
          <a:bodyPr wrap="square" lIns="0" tIns="0" rIns="0" bIns="0" anchor="ctr">
            <a:spAutoFit/>
          </a:bodyPr>
          <a:lstStyle/>
          <a:p>
            <a:pPr algn="l"/>
            <a:r>
              <a:rPr sz="1450" b="0">
                <a:solidFill>
                  <a:srgbClr val="152230"/>
                </a:solidFill>
                <a:latin typeface="Gartner Sans"/>
                <a:ea typeface="Gartner Sans"/>
                <a:cs typeface="Gartner Sans"/>
              </a:rPr>
              <a:t>Issue</a:t>
            </a:r>
          </a:p>
        </p:txBody>
      </p:sp>
      <p:sp>
        <p:nvSpPr>
          <p:cNvPr id="15" name="Key"/>
          <p:cNvSpPr/>
          <p:nvPr/>
        </p:nvSpPr>
        <p:spPr>
          <a:xfrm>
            <a:off x="2701137" y="5852160"/>
            <a:ext cx="155448" cy="155448"/>
          </a:xfrm>
          <a:prstGeom prst="rect">
            <a:avLst/>
          </a:prstGeom>
          <a:solidFill>
            <a:srgbClr val="9FD3F5"/>
          </a:solidFill>
          <a:ln>
            <a:noFill/>
          </a:ln>
        </p:spPr>
        <p:txBody>
          <a:bodyPr rtlCol="0" anchor="ctr"/>
          <a:lstStyle/>
          <a:p>
            <a:pPr algn="ctr"/>
            <a:endParaRPr/>
          </a:p>
        </p:txBody>
      </p:sp>
      <p:sp>
        <p:nvSpPr>
          <p:cNvPr id="16" name="Key label"/>
          <p:cNvSpPr txBox="1"/>
          <p:nvPr/>
        </p:nvSpPr>
        <p:spPr>
          <a:xfrm>
            <a:off x="2929737" y="5806440"/>
            <a:ext cx="1097280" cy="246888"/>
          </a:xfrm>
          <a:prstGeom prst="rect">
            <a:avLst/>
          </a:prstGeom>
          <a:noFill/>
        </p:spPr>
        <p:txBody>
          <a:bodyPr wrap="square" lIns="0" tIns="0" rIns="0" bIns="0" anchor="ctr">
            <a:spAutoFit/>
          </a:bodyPr>
          <a:lstStyle/>
          <a:p>
            <a:pPr algn="l"/>
            <a:r>
              <a:rPr sz="1450" b="0">
                <a:solidFill>
                  <a:srgbClr val="152230"/>
                </a:solidFill>
                <a:latin typeface="Gartner Sans"/>
                <a:ea typeface="Gartner Sans"/>
                <a:cs typeface="Gartner Sans"/>
              </a:rPr>
              <a:t>Dependency</a:t>
            </a:r>
          </a:p>
        </p:txBody>
      </p:sp>
      <p:sp>
        <p:nvSpPr>
          <p:cNvPr id="17" name="Note"/>
          <p:cNvSpPr txBox="1"/>
          <p:nvPr/>
        </p:nvSpPr>
        <p:spPr>
          <a:xfrm>
            <a:off x="4164177" y="5806440"/>
            <a:ext cx="4114800" cy="246888"/>
          </a:xfrm>
          <a:prstGeom prst="rect">
            <a:avLst/>
          </a:prstGeom>
          <a:noFill/>
        </p:spPr>
        <p:txBody>
          <a:bodyPr wrap="square" lIns="0" tIns="0" rIns="0" bIns="0" anchor="ctr">
            <a:spAutoFit/>
          </a:bodyPr>
          <a:lstStyle/>
          <a:p>
            <a:pPr algn="l"/>
            <a:r>
              <a:rPr sz="1450" b="0">
                <a:solidFill>
                  <a:srgbClr val="526273"/>
                </a:solidFill>
                <a:latin typeface="Gartner Sans"/>
                <a:ea typeface="Gartner Sans"/>
                <a:cs typeface="Gartner Sans"/>
              </a:rPr>
              <a:t>Illustrative example, not a model answer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a:defRPr sz="2800" b="0">
                <a:solidFill>
                  <a:srgbClr val="002869"/>
                </a:solidFill>
                <a:latin typeface="Gartner Sans"/>
                <a:ea typeface="Gartner Sans"/>
                <a:cs typeface="Gartner Sans"/>
              </a:defRPr>
            </a:pPr>
            <a:r>
              <a:rPr sz="2800" b="0">
                <a:solidFill>
                  <a:srgbClr val="002869"/>
                </a:solidFill>
                <a:latin typeface="Gartner Sans"/>
                <a:ea typeface="Gartner Sans"/>
                <a:cs typeface="Gartner Sans"/>
              </a:rPr>
              <a:t>Example 2: draw your future SDLC with agents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a:defRPr sz="700" b="0">
                <a:solidFill>
                  <a:srgbClr val="666666"/>
                </a:solidFill>
                <a:latin typeface="Gartner Sans"/>
                <a:ea typeface="Gartner Sans"/>
                <a:cs typeface="Gartner Sans"/>
              </a:defRPr>
            </a:pPr>
            <a:r>
              <a:rPr sz="700" b="0">
                <a:solidFill>
                  <a:srgbClr val="666666"/>
                </a:solidFill>
                <a:latin typeface="Gartner Sans"/>
                <a:ea typeface="Gartner Sans"/>
                <a:cs typeface="Gartner Sans"/>
              </a:rPr>
              <a:t>63</a:t>
            </a:r>
          </a:p>
        </p:txBody>
      </p:sp>
      <p:pic>
        <p:nvPicPr>
          <p:cNvPr id="16" name="Hand-drawn example" descr="Hand-drawn example of a future SDLC. Each phase is written on an index card with an agent and a person beside it: requirements and specification, quality assurance and support. Yellow sticky notes say what the agent does and green notes say why the team wants it."/>
          <p:cNvPicPr>
            <a:picLocks noChangeAspect="1"/>
          </p:cNvPicPr>
          <p:nvPr/>
        </p:nvPicPr>
        <p:blipFill>
          <a:blip r:embed="rId2"/>
          <a:stretch>
            <a:fillRect/>
          </a:stretch>
        </p:blipFill>
        <p:spPr>
          <a:xfrm>
            <a:off x="552297" y="1188720"/>
            <a:ext cx="11146536" cy="4527631"/>
          </a:xfrm>
          <a:prstGeom prst="rect">
            <a:avLst/>
          </a:prstGeom>
        </p:spPr>
      </p:pic>
      <p:sp>
        <p:nvSpPr>
          <p:cNvPr id="11" name="Key"/>
          <p:cNvSpPr/>
          <p:nvPr/>
        </p:nvSpPr>
        <p:spPr>
          <a:xfrm>
            <a:off x="552297" y="5852160"/>
            <a:ext cx="155448" cy="155448"/>
          </a:xfrm>
          <a:prstGeom prst="rect">
            <a:avLst/>
          </a:prstGeom>
          <a:solidFill>
            <a:srgbClr val="FFE566"/>
          </a:solidFill>
          <a:ln>
            <a:noFill/>
          </a:ln>
        </p:spPr>
        <p:txBody>
          <a:bodyPr rtlCol="0" anchor="ctr"/>
          <a:lstStyle/>
          <a:p>
            <a:pPr algn="ctr"/>
            <a:endParaRPr/>
          </a:p>
        </p:txBody>
      </p:sp>
      <p:sp>
        <p:nvSpPr>
          <p:cNvPr id="12" name="Key label"/>
          <p:cNvSpPr txBox="1"/>
          <p:nvPr/>
        </p:nvSpPr>
        <p:spPr>
          <a:xfrm>
            <a:off x="780897" y="5806440"/>
            <a:ext cx="1737360" cy="246888"/>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What the agent does</a:t>
            </a:r>
          </a:p>
        </p:txBody>
      </p:sp>
      <p:sp>
        <p:nvSpPr>
          <p:cNvPr id="13" name="Key"/>
          <p:cNvSpPr/>
          <p:nvPr/>
        </p:nvSpPr>
        <p:spPr>
          <a:xfrm>
            <a:off x="2563977" y="5852160"/>
            <a:ext cx="155448" cy="155448"/>
          </a:xfrm>
          <a:prstGeom prst="rect">
            <a:avLst/>
          </a:prstGeom>
          <a:solidFill>
            <a:srgbClr val="A8E6A1"/>
          </a:solidFill>
          <a:ln>
            <a:noFill/>
          </a:ln>
        </p:spPr>
        <p:txBody>
          <a:bodyPr rtlCol="0" anchor="ctr"/>
          <a:lstStyle/>
          <a:p>
            <a:pPr algn="ctr"/>
            <a:endParaRPr/>
          </a:p>
        </p:txBody>
      </p:sp>
      <p:sp>
        <p:nvSpPr>
          <p:cNvPr id="14" name="Key label"/>
          <p:cNvSpPr txBox="1"/>
          <p:nvPr/>
        </p:nvSpPr>
        <p:spPr>
          <a:xfrm>
            <a:off x="2792577" y="5806440"/>
            <a:ext cx="2240280" cy="246888"/>
          </a:xfrm>
          <a:prstGeom prst="rect">
            <a:avLst/>
          </a:prstGeom>
          <a:noFill/>
        </p:spPr>
        <p:txBody>
          <a:bodyPr wrap="square" lIns="0" tIns="0" rIns="0" bIns="0" anchor="ctr">
            <a:spAutoFit/>
          </a:bodyPr>
          <a:lstStyle/>
          <a:p>
            <a:pPr algn="l"/>
            <a:r>
              <a:rPr sz="1400" b="0">
                <a:solidFill>
                  <a:srgbClr val="152230"/>
                </a:solidFill>
                <a:latin typeface="Gartner Sans"/>
                <a:ea typeface="Gartner Sans"/>
                <a:cs typeface="Gartner Sans"/>
              </a:rPr>
              <a:t>Why we want it: the benefit</a:t>
            </a:r>
          </a:p>
        </p:txBody>
      </p:sp>
      <p:sp>
        <p:nvSpPr>
          <p:cNvPr id="15" name="Note"/>
          <p:cNvSpPr txBox="1"/>
          <p:nvPr/>
        </p:nvSpPr>
        <p:spPr>
          <a:xfrm>
            <a:off x="5170017" y="5806440"/>
            <a:ext cx="4114800" cy="246888"/>
          </a:xfrm>
          <a:prstGeom prst="rect">
            <a:avLst/>
          </a:prstGeom>
          <a:noFill/>
        </p:spPr>
        <p:txBody>
          <a:bodyPr wrap="square" lIns="0" tIns="0" rIns="0" bIns="0" anchor="ctr">
            <a:spAutoFit/>
          </a:bodyPr>
          <a:lstStyle/>
          <a:p>
            <a:pPr algn="l"/>
            <a:r>
              <a:rPr sz="1450" b="0">
                <a:solidFill>
                  <a:srgbClr val="526273"/>
                </a:solidFill>
                <a:latin typeface="Gartner Sans"/>
                <a:ea typeface="Gartner Sans"/>
                <a:cs typeface="Gartner Sans"/>
              </a:rPr>
              <a:t>Illustrative example, not a model answer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title"/>
          <p:cNvSpPr txBox="1"/>
          <p:nvPr/>
        </p:nvSpPr>
        <p:spPr>
          <a:xfrm>
            <a:off x="1856231" y="2194560"/>
            <a:ext cx="6309360" cy="1463040"/>
          </a:xfrm>
          <a:prstGeom prst="rect">
            <a:avLst/>
          </a:prstGeom>
          <a:noFill/>
        </p:spPr>
        <p:txBody>
          <a:bodyPr wrap="square" lIns="0" tIns="0" rIns="0" bIns="0" anchor="b">
            <a:spAutoFit/>
          </a:bodyPr>
          <a:lstStyle/>
          <a:p>
            <a:pPr algn="l"/>
            <a:r>
              <a:rPr sz="2800" b="0">
                <a:solidFill>
                  <a:srgbClr val="FFFFFF"/>
                </a:solidFill>
                <a:latin typeface="Gartner Sans"/>
                <a:ea typeface="Gartner Sans"/>
                <a:cs typeface="Gartner Sans"/>
              </a:rPr>
              <a:t>Designing an AI agent</a:t>
            </a:r>
          </a:p>
        </p:txBody>
      </p:sp>
      <p:sp>
        <p:nvSpPr>
          <p:cNvPr id="3" name="Section subtitle"/>
          <p:cNvSpPr txBox="1"/>
          <p:nvPr/>
        </p:nvSpPr>
        <p:spPr>
          <a:xfrm>
            <a:off x="1856231" y="3794760"/>
            <a:ext cx="6309360" cy="685800"/>
          </a:xfrm>
          <a:prstGeom prst="rect">
            <a:avLst/>
          </a:prstGeom>
          <a:noFill/>
        </p:spPr>
        <p:txBody>
          <a:bodyPr wrap="square" lIns="0" tIns="0" rIns="0" bIns="0" anchor="t">
            <a:spAutoFit/>
          </a:bodyPr>
          <a:lstStyle/>
          <a:p>
            <a:pPr algn="l"/>
            <a:r>
              <a:rPr sz="1800" b="0">
                <a:solidFill>
                  <a:srgbClr val="FFFFFF"/>
                </a:solidFill>
                <a:latin typeface="Gartner Sans"/>
                <a:ea typeface="Gartner Sans"/>
                <a:cs typeface="Gartner Sans"/>
              </a:rPr>
              <a:t>Seven design questions behind the team exercise, with a worked example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The worked example: one unclear story, three roles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65</a:t>
            </a:r>
          </a:p>
        </p:txBody>
      </p:sp>
      <p:sp>
        <p:nvSpPr>
          <p:cNvPr id="10" name="Note"/>
          <p:cNvSpPr/>
          <p:nvPr/>
        </p:nvSpPr>
        <p:spPr>
          <a:xfrm>
            <a:off x="552297" y="1325880"/>
            <a:ext cx="11146536" cy="731520"/>
          </a:xfrm>
          <a:prstGeom prst="rect">
            <a:avLst/>
          </a:prstGeom>
          <a:solidFill>
            <a:srgbClr val="F0F7FD"/>
          </a:solidFill>
          <a:ln>
            <a:noFill/>
          </a:ln>
        </p:spPr>
        <p:txBody>
          <a:bodyPr wrap="square" lIns="228600" rIns="22860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The story: </a:t>
            </a:r>
            <a:r>
              <a:rPr kumimoji="0" sz="1800" b="0" i="0" u="none" strike="noStrike" kern="1200" cap="none" spc="0" normalizeH="0" baseline="0" noProof="0">
                <a:ln>
                  <a:noFill/>
                </a:ln>
                <a:solidFill>
                  <a:srgbClr val="152230"/>
                </a:solidFill>
                <a:effectLst/>
                <a:uLnTx/>
                <a:uFillTx/>
                <a:latin typeface="Gartner Sans"/>
                <a:ea typeface="Gartner Sans"/>
                <a:cs typeface="Gartner Sans"/>
              </a:rPr>
              <a:t>"Let customers change their delivery address." The engineering team needs to know when a change is allowed.</a:t>
            </a:r>
          </a:p>
        </p:txBody>
      </p:sp>
      <p:sp>
        <p:nvSpPr>
          <p:cNvPr id="11" name="Alex"/>
          <p:cNvSpPr/>
          <p:nvPr/>
        </p:nvSpPr>
        <p:spPr>
          <a:xfrm>
            <a:off x="552297" y="2331720"/>
            <a:ext cx="3532632" cy="777240"/>
          </a:xfrm>
          <a:prstGeom prst="rect">
            <a:avLst/>
          </a:prstGeom>
          <a:solidFill>
            <a:srgbClr val="F0F7FD"/>
          </a:solidFill>
          <a:ln>
            <a:noFill/>
          </a:ln>
        </p:spPr>
        <p:txBody>
          <a:bodyPr wrap="square" lIns="228600" tIns="0" rIns="22860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Alex</a:t>
            </a:r>
          </a:p>
          <a:p>
            <a:pPr marL="0" marR="0" lvl="0" indent="0" algn="l" defTabSz="914400" eaLnBrk="1" fontAlgn="auto" latinLnBrk="0" hangingPunct="1">
              <a:lnSpc>
                <a:spcPct val="100000"/>
              </a:lnSpc>
              <a:spcBef>
                <a:spcPts val="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Engineering team</a:t>
            </a:r>
          </a:p>
        </p:txBody>
      </p:sp>
      <p:sp>
        <p:nvSpPr>
          <p:cNvPr id="12" name="Alex role"/>
          <p:cNvSpPr/>
          <p:nvPr/>
        </p:nvSpPr>
        <p:spPr>
          <a:xfrm>
            <a:off x="552297" y="3108960"/>
            <a:ext cx="3532632" cy="1371600"/>
          </a:xfrm>
          <a:prstGeom prst="rect">
            <a:avLst/>
          </a:prstGeom>
          <a:solidFill>
            <a:srgbClr val="FFFFFF"/>
          </a:solidFill>
          <a:ln w="12700">
            <a:solidFill>
              <a:srgbClr val="D0D7DF"/>
            </a:solidFill>
          </a:ln>
        </p:spPr>
        <p:txBody>
          <a:bodyPr wrap="square" lIns="228600" tIns="182880" rIns="228600" bIns="9144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Asks the questions. Checks that the team can build and test the story.</a:t>
            </a:r>
          </a:p>
        </p:txBody>
      </p:sp>
      <p:sp>
        <p:nvSpPr>
          <p:cNvPr id="13" name="AI agent"/>
          <p:cNvSpPr/>
          <p:nvPr/>
        </p:nvSpPr>
        <p:spPr>
          <a:xfrm>
            <a:off x="4359249" y="2331720"/>
            <a:ext cx="3532632" cy="777240"/>
          </a:xfrm>
          <a:prstGeom prst="rect">
            <a:avLst/>
          </a:prstGeom>
          <a:solidFill>
            <a:srgbClr val="002869"/>
          </a:solidFill>
          <a:ln>
            <a:noFill/>
          </a:ln>
        </p:spPr>
        <p:txBody>
          <a:bodyPr wrap="square" lIns="228600" tIns="0" rIns="22860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FFFFFF"/>
                </a:solidFill>
                <a:effectLst/>
                <a:uLnTx/>
                <a:uFillTx/>
                <a:latin typeface="Gartner Sans"/>
                <a:ea typeface="Gartner Sans"/>
                <a:cs typeface="Gartner Sans"/>
              </a:rPr>
              <a:t>AI agent</a:t>
            </a:r>
          </a:p>
          <a:p>
            <a:pPr marL="0" marR="0" lvl="0" indent="0" algn="l" defTabSz="914400" eaLnBrk="1" fontAlgn="auto" latinLnBrk="0" hangingPunct="1">
              <a:lnSpc>
                <a:spcPct val="100000"/>
              </a:lnSpc>
              <a:spcBef>
                <a:spcPts val="0"/>
              </a:spcBef>
              <a:spcAft>
                <a:spcPts val="0"/>
              </a:spcAft>
              <a:buClrTx/>
              <a:buSzTx/>
              <a:buFontTx/>
              <a:buNone/>
              <a:tabLst/>
              <a:defRPr/>
            </a:pPr>
            <a:r>
              <a:rPr kumimoji="0" sz="1750" b="0" i="0" u="none" strike="noStrike" kern="1200" cap="none" spc="0" normalizeH="0" baseline="0" noProof="0">
                <a:ln>
                  <a:noFill/>
                </a:ln>
                <a:solidFill>
                  <a:srgbClr val="FFFFFF"/>
                </a:solidFill>
                <a:effectLst/>
                <a:uLnTx/>
                <a:uFillTx/>
                <a:latin typeface="Gartner Sans"/>
                <a:ea typeface="Gartner Sans"/>
                <a:cs typeface="Gartner Sans"/>
              </a:rPr>
              <a:t>AI helper</a:t>
            </a:r>
          </a:p>
        </p:txBody>
      </p:sp>
      <p:sp>
        <p:nvSpPr>
          <p:cNvPr id="14" name="AI agent role"/>
          <p:cNvSpPr/>
          <p:nvPr/>
        </p:nvSpPr>
        <p:spPr>
          <a:xfrm>
            <a:off x="4359249" y="3108960"/>
            <a:ext cx="3532632" cy="1371600"/>
          </a:xfrm>
          <a:prstGeom prst="rect">
            <a:avLst/>
          </a:prstGeom>
          <a:solidFill>
            <a:srgbClr val="FFFFFF"/>
          </a:solidFill>
          <a:ln w="12700">
            <a:solidFill>
              <a:srgbClr val="002869"/>
            </a:solidFill>
          </a:ln>
        </p:spPr>
        <p:txBody>
          <a:bodyPr wrap="square" lIns="228600" tIns="182880" rIns="228600" bIns="9144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Organises the questions. Drafts a clearer story from the answers Sam gives.</a:t>
            </a:r>
          </a:p>
        </p:txBody>
      </p:sp>
      <p:sp>
        <p:nvSpPr>
          <p:cNvPr id="15" name="Sam"/>
          <p:cNvSpPr/>
          <p:nvPr/>
        </p:nvSpPr>
        <p:spPr>
          <a:xfrm>
            <a:off x="8166201" y="2331720"/>
            <a:ext cx="3532632" cy="777240"/>
          </a:xfrm>
          <a:prstGeom prst="rect">
            <a:avLst/>
          </a:prstGeom>
          <a:solidFill>
            <a:srgbClr val="F0F7FD"/>
          </a:solidFill>
          <a:ln>
            <a:noFill/>
          </a:ln>
        </p:spPr>
        <p:txBody>
          <a:bodyPr wrap="square" lIns="228600" tIns="0" rIns="22860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Sam</a:t>
            </a:r>
          </a:p>
          <a:p>
            <a:pPr marL="0" marR="0" lvl="0" indent="0" algn="l" defTabSz="914400" eaLnBrk="1" fontAlgn="auto" latinLnBrk="0" hangingPunct="1">
              <a:lnSpc>
                <a:spcPct val="100000"/>
              </a:lnSpc>
              <a:spcBef>
                <a:spcPts val="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Product owner</a:t>
            </a:r>
          </a:p>
        </p:txBody>
      </p:sp>
      <p:sp>
        <p:nvSpPr>
          <p:cNvPr id="16" name="Sam role"/>
          <p:cNvSpPr/>
          <p:nvPr/>
        </p:nvSpPr>
        <p:spPr>
          <a:xfrm>
            <a:off x="8166201" y="3108960"/>
            <a:ext cx="3532632" cy="1371600"/>
          </a:xfrm>
          <a:prstGeom prst="rect">
            <a:avLst/>
          </a:prstGeom>
          <a:solidFill>
            <a:srgbClr val="FFFFFF"/>
          </a:solidFill>
          <a:ln w="12700">
            <a:solidFill>
              <a:srgbClr val="D0D7DF"/>
            </a:solidFill>
          </a:ln>
        </p:spPr>
        <p:txBody>
          <a:bodyPr wrap="square" lIns="228600" tIns="182880" rIns="228600" bIns="9144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Answers the business questions. Confirms the requirements.</a:t>
            </a:r>
          </a:p>
        </p:txBody>
      </p:sp>
      <p:sp>
        <p:nvSpPr>
          <p:cNvPr id="17" name="Note"/>
          <p:cNvSpPr/>
          <p:nvPr/>
        </p:nvSpPr>
        <p:spPr>
          <a:xfrm>
            <a:off x="552297" y="4754880"/>
            <a:ext cx="11146536" cy="960120"/>
          </a:xfrm>
          <a:prstGeom prst="rect">
            <a:avLst/>
          </a:prstGeom>
          <a:solidFill>
            <a:srgbClr val="F0F7FD"/>
          </a:solidFill>
          <a:ln>
            <a:noFill/>
          </a:ln>
        </p:spPr>
        <p:txBody>
          <a:bodyPr wrap="square" lIns="228600" rIns="22860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In the exercise, a person plays the AI agent. </a:t>
            </a:r>
            <a:r>
              <a:rPr kumimoji="0" sz="1750" b="0" i="0" u="none" strike="noStrike" kern="1200" cap="none" spc="0" normalizeH="0" baseline="0" noProof="0">
                <a:ln>
                  <a:noFill/>
                </a:ln>
                <a:solidFill>
                  <a:srgbClr val="152230"/>
                </a:solidFill>
                <a:effectLst/>
                <a:uLnTx/>
                <a:uFillTx/>
                <a:latin typeface="Gartner Sans"/>
                <a:ea typeface="Gartner Sans"/>
                <a:cs typeface="Gartner Sans"/>
              </a:rPr>
              <a:t>No AI tool is needed. A fourth person, Priya in IT, checks whether the chosen AI tool may be used.</a:t>
            </a:r>
          </a:p>
        </p:txBody>
      </p:sp>
      <p:sp>
        <p:nvSpPr>
          <p:cNvPr id="18"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Worked example: workshop guide</a:t>
            </a:r>
          </a:p>
        </p:txBody>
      </p:sp>
    </p:spTree>
    <p:extLst>
      <p:ext uri="{BB962C8B-B14F-4D97-AF65-F5344CB8AC3E}">
        <p14:creationId xmlns:p14="http://schemas.microsoft.com/office/powerpoint/2010/main" val="12414182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359019" y="208084"/>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Watch: clarifying requirements with an AI agent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66</a:t>
            </a:r>
          </a:p>
        </p:txBody>
      </p:sp>
      <p:pic>
        <p:nvPicPr>
          <p:cNvPr id="10" name="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l="16374" r="15171" b="20217"/>
          <a:stretch>
            <a:fillRect/>
          </a:stretch>
        </p:blipFill>
        <p:spPr>
          <a:xfrm>
            <a:off x="164439" y="584258"/>
            <a:ext cx="9172992" cy="6013649"/>
          </a:xfrm>
          <a:prstGeom prst="rect">
            <a:avLst/>
          </a:prstGeom>
        </p:spPr>
      </p:pic>
      <p:sp>
        <p:nvSpPr>
          <p:cNvPr id="11" name="Number 1"/>
          <p:cNvSpPr/>
          <p:nvPr/>
        </p:nvSpPr>
        <p:spPr>
          <a:xfrm>
            <a:off x="9393607" y="1581809"/>
            <a:ext cx="240607" cy="250852"/>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1</a:t>
            </a:r>
          </a:p>
        </p:txBody>
      </p:sp>
      <p:sp>
        <p:nvSpPr>
          <p:cNvPr id="12" name="Point 1"/>
          <p:cNvSpPr txBox="1"/>
          <p:nvPr/>
        </p:nvSpPr>
        <p:spPr>
          <a:xfrm>
            <a:off x="9869095" y="1533348"/>
            <a:ext cx="2104603" cy="287729"/>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Ask for help</a:t>
            </a:r>
          </a:p>
        </p:txBody>
      </p:sp>
      <p:cxnSp>
        <p:nvCxnSpPr>
          <p:cNvPr id="13" name="Divider"/>
          <p:cNvCxnSpPr>
            <a:cxnSpLocks/>
          </p:cNvCxnSpPr>
          <p:nvPr/>
        </p:nvCxnSpPr>
        <p:spPr>
          <a:xfrm>
            <a:off x="9393607" y="2098980"/>
            <a:ext cx="2472590" cy="0"/>
          </a:xfrm>
          <a:prstGeom prst="line">
            <a:avLst/>
          </a:prstGeom>
          <a:ln w="9525">
            <a:solidFill>
              <a:srgbClr val="D0D7DF"/>
            </a:solidFill>
          </a:ln>
        </p:spPr>
      </p:cxnSp>
      <p:sp>
        <p:nvSpPr>
          <p:cNvPr id="14" name="Number 2"/>
          <p:cNvSpPr/>
          <p:nvPr/>
        </p:nvSpPr>
        <p:spPr>
          <a:xfrm>
            <a:off x="9393607" y="2425343"/>
            <a:ext cx="240607" cy="250852"/>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2</a:t>
            </a:r>
          </a:p>
        </p:txBody>
      </p:sp>
      <p:sp>
        <p:nvSpPr>
          <p:cNvPr id="15" name="Point 2"/>
          <p:cNvSpPr txBox="1"/>
          <p:nvPr/>
        </p:nvSpPr>
        <p:spPr>
          <a:xfrm>
            <a:off x="9869095" y="2376882"/>
            <a:ext cx="2104603" cy="287729"/>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Prepare questions</a:t>
            </a:r>
          </a:p>
        </p:txBody>
      </p:sp>
      <p:cxnSp>
        <p:nvCxnSpPr>
          <p:cNvPr id="16" name="Divider"/>
          <p:cNvCxnSpPr>
            <a:cxnSpLocks/>
          </p:cNvCxnSpPr>
          <p:nvPr/>
        </p:nvCxnSpPr>
        <p:spPr>
          <a:xfrm>
            <a:off x="9393607" y="2942514"/>
            <a:ext cx="2472590" cy="0"/>
          </a:xfrm>
          <a:prstGeom prst="line">
            <a:avLst/>
          </a:prstGeom>
          <a:ln w="9525">
            <a:solidFill>
              <a:srgbClr val="D0D7DF"/>
            </a:solidFill>
          </a:ln>
        </p:spPr>
      </p:cxnSp>
      <p:sp>
        <p:nvSpPr>
          <p:cNvPr id="17" name="Number 3"/>
          <p:cNvSpPr/>
          <p:nvPr/>
        </p:nvSpPr>
        <p:spPr>
          <a:xfrm>
            <a:off x="9393607" y="3268877"/>
            <a:ext cx="240607" cy="250852"/>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3</a:t>
            </a:r>
          </a:p>
        </p:txBody>
      </p:sp>
      <p:sp>
        <p:nvSpPr>
          <p:cNvPr id="18" name="Point 3"/>
          <p:cNvSpPr txBox="1"/>
          <p:nvPr/>
        </p:nvSpPr>
        <p:spPr>
          <a:xfrm>
            <a:off x="9869095" y="3220416"/>
            <a:ext cx="2104603" cy="287729"/>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Clarify</a:t>
            </a:r>
          </a:p>
        </p:txBody>
      </p:sp>
      <p:cxnSp>
        <p:nvCxnSpPr>
          <p:cNvPr id="19" name="Divider"/>
          <p:cNvCxnSpPr>
            <a:cxnSpLocks/>
          </p:cNvCxnSpPr>
          <p:nvPr/>
        </p:nvCxnSpPr>
        <p:spPr>
          <a:xfrm>
            <a:off x="9393607" y="3786048"/>
            <a:ext cx="2472590" cy="0"/>
          </a:xfrm>
          <a:prstGeom prst="line">
            <a:avLst/>
          </a:prstGeom>
          <a:ln w="9525">
            <a:solidFill>
              <a:srgbClr val="D0D7DF"/>
            </a:solidFill>
          </a:ln>
        </p:spPr>
      </p:cxnSp>
      <p:sp>
        <p:nvSpPr>
          <p:cNvPr id="20" name="Number 4"/>
          <p:cNvSpPr/>
          <p:nvPr/>
        </p:nvSpPr>
        <p:spPr>
          <a:xfrm>
            <a:off x="9393607" y="4112411"/>
            <a:ext cx="240607" cy="250852"/>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4</a:t>
            </a:r>
          </a:p>
        </p:txBody>
      </p:sp>
      <p:sp>
        <p:nvSpPr>
          <p:cNvPr id="21" name="Point 4"/>
          <p:cNvSpPr txBox="1"/>
          <p:nvPr/>
        </p:nvSpPr>
        <p:spPr>
          <a:xfrm>
            <a:off x="9869095" y="4063950"/>
            <a:ext cx="2104603" cy="287729"/>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Draft</a:t>
            </a:r>
          </a:p>
        </p:txBody>
      </p:sp>
      <p:cxnSp>
        <p:nvCxnSpPr>
          <p:cNvPr id="22" name="Divider"/>
          <p:cNvCxnSpPr>
            <a:cxnSpLocks/>
          </p:cNvCxnSpPr>
          <p:nvPr/>
        </p:nvCxnSpPr>
        <p:spPr>
          <a:xfrm>
            <a:off x="9393607" y="4629582"/>
            <a:ext cx="2472590" cy="0"/>
          </a:xfrm>
          <a:prstGeom prst="line">
            <a:avLst/>
          </a:prstGeom>
          <a:ln w="9525">
            <a:solidFill>
              <a:srgbClr val="D0D7DF"/>
            </a:solidFill>
          </a:ln>
        </p:spPr>
      </p:cxnSp>
      <p:sp>
        <p:nvSpPr>
          <p:cNvPr id="23" name="Number 5"/>
          <p:cNvSpPr/>
          <p:nvPr/>
        </p:nvSpPr>
        <p:spPr>
          <a:xfrm>
            <a:off x="9393607" y="4955945"/>
            <a:ext cx="240607" cy="250852"/>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5</a:t>
            </a:r>
          </a:p>
        </p:txBody>
      </p:sp>
      <p:sp>
        <p:nvSpPr>
          <p:cNvPr id="24" name="Point 5"/>
          <p:cNvSpPr txBox="1"/>
          <p:nvPr/>
        </p:nvSpPr>
        <p:spPr>
          <a:xfrm>
            <a:off x="9869095" y="4907484"/>
            <a:ext cx="2104603" cy="287729"/>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Check</a:t>
            </a:r>
          </a:p>
        </p:txBody>
      </p:sp>
    </p:spTree>
    <p:extLst>
      <p:ext uri="{BB962C8B-B14F-4D97-AF65-F5344CB8AC3E}">
        <p14:creationId xmlns:p14="http://schemas.microsoft.com/office/powerpoint/2010/main" val="1781062230"/>
      </p:ext>
    </p:extLst>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An agent design answers seven questions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67</a:t>
            </a:r>
          </a:p>
        </p:txBody>
      </p:sp>
      <p:graphicFrame>
        <p:nvGraphicFramePr>
          <p:cNvPr id="10" name="Table"/>
          <p:cNvGraphicFramePr>
            <a:graphicFrameLocks noGrp="1"/>
          </p:cNvGraphicFramePr>
          <p:nvPr/>
        </p:nvGraphicFramePr>
        <p:xfrm>
          <a:off x="552297" y="1325880"/>
          <a:ext cx="11146535" cy="4224528"/>
        </p:xfrm>
        <a:graphic>
          <a:graphicData uri="http://schemas.openxmlformats.org/drawingml/2006/table">
            <a:tbl>
              <a:tblPr>
                <a:tableStyleId>{2D5ABB26-0587-4C30-8999-92F81FD0307C}</a:tableStyleId>
              </a:tblPr>
              <a:tblGrid>
                <a:gridCol w="31089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3557015">
                  <a:extLst>
                    <a:ext uri="{9D8B030D-6E8A-4147-A177-3AD203B41FA5}">
                      <a16:colId xmlns:a16="http://schemas.microsoft.com/office/drawing/2014/main" val="20002"/>
                    </a:ext>
                  </a:extLst>
                </a:gridCol>
              </a:tblGrid>
              <a:tr h="384048">
                <a:tc>
                  <a:txBody>
                    <a:bodyPr/>
                    <a:lstStyle/>
                    <a:p>
                      <a:pPr algn="l"/>
                      <a:r>
                        <a:rPr sz="1600" b="1">
                          <a:solidFill>
                            <a:srgbClr val="FFFFFF"/>
                          </a:solidFill>
                          <a:latin typeface="Gartner Sans"/>
                          <a:ea typeface="Gartner Sans"/>
                          <a:cs typeface="Gartner Sans"/>
                        </a:rPr>
                        <a:t>Step</a:t>
                      </a:r>
                    </a:p>
                  </a:txBody>
                  <a:tcPr marL="137160" marR="137160" anchor="ctr">
                    <a:solidFill>
                      <a:srgbClr val="002869"/>
                    </a:solidFill>
                  </a:tcPr>
                </a:tc>
                <a:tc>
                  <a:txBody>
                    <a:bodyPr/>
                    <a:lstStyle/>
                    <a:p>
                      <a:pPr algn="l"/>
                      <a:r>
                        <a:rPr sz="1600" b="1">
                          <a:solidFill>
                            <a:srgbClr val="FFFFFF"/>
                          </a:solidFill>
                          <a:latin typeface="Gartner Sans"/>
                          <a:ea typeface="Gartner Sans"/>
                          <a:cs typeface="Gartner Sans"/>
                        </a:rPr>
                        <a:t>Design question</a:t>
                      </a:r>
                    </a:p>
                  </a:txBody>
                  <a:tcPr marL="137160" marR="137160" anchor="ctr">
                    <a:solidFill>
                      <a:srgbClr val="002869"/>
                    </a:solidFill>
                  </a:tcPr>
                </a:tc>
                <a:tc>
                  <a:txBody>
                    <a:bodyPr/>
                    <a:lstStyle/>
                    <a:p>
                      <a:pPr algn="l"/>
                      <a:r>
                        <a:rPr sz="1600" b="1">
                          <a:solidFill>
                            <a:srgbClr val="FFFFFF"/>
                          </a:solidFill>
                          <a:latin typeface="Gartner Sans"/>
                          <a:ea typeface="Gartner Sans"/>
                          <a:cs typeface="Gartner Sans"/>
                        </a:rPr>
                        <a:t>What the answer defines</a:t>
                      </a:r>
                    </a:p>
                  </a:txBody>
                  <a:tcPr marL="137160" marR="137160" anchor="ctr">
                    <a:solidFill>
                      <a:srgbClr val="002869"/>
                    </a:solidFill>
                  </a:tcPr>
                </a:tc>
                <a:extLst>
                  <a:ext uri="{0D108BD9-81ED-4DB2-BD59-A6C34878D82A}">
                    <a16:rowId xmlns:a16="http://schemas.microsoft.com/office/drawing/2014/main" val="10000"/>
                  </a:ext>
                </a:extLst>
              </a:tr>
              <a:tr h="548640">
                <a:tc>
                  <a:txBody>
                    <a:bodyPr/>
                    <a:lstStyle/>
                    <a:p>
                      <a:pPr algn="l"/>
                      <a:r>
                        <a:rPr sz="1600" b="1">
                          <a:solidFill>
                            <a:srgbClr val="152230"/>
                          </a:solidFill>
                          <a:latin typeface="Gartner Sans"/>
                          <a:ea typeface="Gartner Sans"/>
                          <a:cs typeface="Gartner Sans"/>
                        </a:rPr>
                        <a:t>1  Pick one task</a:t>
                      </a:r>
                    </a:p>
                  </a:txBody>
                  <a:tcPr marL="137160" marR="137160" anchor="ctr">
                    <a:lnB w="9525">
                      <a:solidFill>
                        <a:srgbClr val="D0D7DF"/>
                      </a:solidFill>
                    </a:lnB>
                    <a:solidFill>
                      <a:srgbClr val="F0F7FD"/>
                    </a:solidFill>
                  </a:tcPr>
                </a:tc>
                <a:tc>
                  <a:txBody>
                    <a:bodyPr/>
                    <a:lstStyle/>
                    <a:p>
                      <a:pPr algn="l"/>
                      <a:r>
                        <a:rPr sz="1600" b="0">
                          <a:solidFill>
                            <a:srgbClr val="152230"/>
                          </a:solidFill>
                          <a:latin typeface="Gartner Sans"/>
                          <a:ea typeface="Gartner Sans"/>
                          <a:cs typeface="Gartner Sans"/>
                        </a:rPr>
                        <a:t>What do we want the AI agent to help with?</a:t>
                      </a:r>
                    </a:p>
                  </a:txBody>
                  <a:tcPr marL="137160" marR="137160" anchor="ctr">
                    <a:lnB w="9525">
                      <a:solidFill>
                        <a:srgbClr val="D0D7DF"/>
                      </a:solidFill>
                    </a:lnB>
                    <a:solidFill>
                      <a:srgbClr val="FFFFFF"/>
                    </a:solidFill>
                  </a:tcPr>
                </a:tc>
                <a:tc>
                  <a:txBody>
                    <a:bodyPr/>
                    <a:lstStyle/>
                    <a:p>
                      <a:pPr algn="l"/>
                      <a:r>
                        <a:rPr sz="1600" b="0">
                          <a:solidFill>
                            <a:srgbClr val="152230"/>
                          </a:solidFill>
                          <a:latin typeface="Gartner Sans"/>
                          <a:ea typeface="Gartner Sans"/>
                          <a:cs typeface="Gartner Sans"/>
                        </a:rPr>
                        <a:t>The task, and what better looks like</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548640">
                <a:tc>
                  <a:txBody>
                    <a:bodyPr/>
                    <a:lstStyle/>
                    <a:p>
                      <a:pPr algn="l"/>
                      <a:r>
                        <a:rPr sz="1600" b="1">
                          <a:solidFill>
                            <a:srgbClr val="152230"/>
                          </a:solidFill>
                          <a:latin typeface="Gartner Sans"/>
                          <a:ea typeface="Gartner Sans"/>
                          <a:cs typeface="Gartner Sans"/>
                        </a:rPr>
                        <a:t>2  Draw the conversation</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600" b="0">
                          <a:solidFill>
                            <a:srgbClr val="152230"/>
                          </a:solidFill>
                          <a:latin typeface="Gartner Sans"/>
                          <a:ea typeface="Gartner Sans"/>
                          <a:cs typeface="Gartner Sans"/>
                        </a:rPr>
                        <a:t>Who asks the AI agent, and who does it reply to?</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600" b="0">
                          <a:solidFill>
                            <a:srgbClr val="152230"/>
                          </a:solidFill>
                          <a:latin typeface="Gartner Sans"/>
                          <a:ea typeface="Gartner Sans"/>
                          <a:cs typeface="Gartner Sans"/>
                        </a:rPr>
                        <a:t>The requests and replies, in order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548640">
                <a:tc>
                  <a:txBody>
                    <a:bodyPr/>
                    <a:lstStyle/>
                    <a:p>
                      <a:pPr algn="l"/>
                      <a:r>
                        <a:rPr sz="1600" b="1">
                          <a:solidFill>
                            <a:srgbClr val="152230"/>
                          </a:solidFill>
                          <a:latin typeface="Gartner Sans"/>
                          <a:ea typeface="Gartner Sans"/>
                          <a:cs typeface="Gartner Sans"/>
                        </a:rPr>
                        <a:t>3  List what the AI agent needs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600" b="0">
                          <a:solidFill>
                            <a:srgbClr val="152230"/>
                          </a:solidFill>
                          <a:latin typeface="Gartner Sans"/>
                          <a:ea typeface="Gartner Sans"/>
                          <a:cs typeface="Gartner Sans"/>
                        </a:rPr>
                        <a:t>What information does it need, and where from?</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600" b="0">
                          <a:solidFill>
                            <a:srgbClr val="152230"/>
                          </a:solidFill>
                          <a:latin typeface="Gartner Sans"/>
                          <a:ea typeface="Gartner Sans"/>
                          <a:cs typeface="Gartner Sans"/>
                        </a:rPr>
                        <a:t>The inputs, their source and their owner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52230"/>
                          </a:solidFill>
                          <a:latin typeface="Gartner Sans"/>
                          <a:ea typeface="Gartner Sans"/>
                          <a:cs typeface="Gartner Sans"/>
                        </a:rPr>
                        <a:t>4  Say what the AI agent does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600" b="0">
                          <a:solidFill>
                            <a:srgbClr val="152230"/>
                          </a:solidFill>
                          <a:latin typeface="Gartner Sans"/>
                          <a:ea typeface="Gartner Sans"/>
                          <a:cs typeface="Gartner Sans"/>
                        </a:rPr>
                        <a:t>What steps, rules and policies must it follow?</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600" b="0">
                          <a:solidFill>
                            <a:srgbClr val="152230"/>
                          </a:solidFill>
                          <a:latin typeface="Gartner Sans"/>
                          <a:ea typeface="Gartner Sans"/>
                          <a:cs typeface="Gartner Sans"/>
                        </a:rPr>
                        <a:t>The steps, the rules and policies, and the checks before it replies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4"/>
                  </a:ext>
                </a:extLst>
              </a:tr>
              <a:tr h="548640">
                <a:tc>
                  <a:txBody>
                    <a:bodyPr/>
                    <a:lstStyle/>
                    <a:p>
                      <a:pPr algn="l"/>
                      <a:r>
                        <a:rPr sz="1600" b="1">
                          <a:solidFill>
                            <a:srgbClr val="152230"/>
                          </a:solidFill>
                          <a:latin typeface="Gartner Sans"/>
                          <a:ea typeface="Gartner Sans"/>
                          <a:cs typeface="Gartner Sans"/>
                        </a:rPr>
                        <a:t>5  Say what comes back</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600" b="0">
                          <a:solidFill>
                            <a:srgbClr val="152230"/>
                          </a:solidFill>
                          <a:latin typeface="Gartner Sans"/>
                          <a:ea typeface="Gartner Sans"/>
                          <a:cs typeface="Gartner Sans"/>
                        </a:rPr>
                        <a:t>What does it return, and who checks it?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600" b="0">
                          <a:solidFill>
                            <a:srgbClr val="152230"/>
                          </a:solidFill>
                          <a:latin typeface="Gartner Sans"/>
                          <a:ea typeface="Gartner Sans"/>
                          <a:cs typeface="Gartner Sans"/>
                        </a:rPr>
                        <a:t>The output, the checks and what the AI agent may do alone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5"/>
                  </a:ext>
                </a:extLst>
              </a:tr>
              <a:tr h="548640">
                <a:tc>
                  <a:txBody>
                    <a:bodyPr/>
                    <a:lstStyle/>
                    <a:p>
                      <a:pPr algn="l"/>
                      <a:r>
                        <a:rPr sz="1600" b="1">
                          <a:solidFill>
                            <a:srgbClr val="152230"/>
                          </a:solidFill>
                          <a:latin typeface="Gartner Sans"/>
                          <a:ea typeface="Gartner Sans"/>
                          <a:cs typeface="Gartner Sans"/>
                        </a:rPr>
                        <a:t>6  Test what could go wrong</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600" b="0">
                          <a:solidFill>
                            <a:srgbClr val="152230"/>
                          </a:solidFill>
                          <a:latin typeface="Gartner Sans"/>
                          <a:ea typeface="Gartner Sans"/>
                          <a:cs typeface="Gartner Sans"/>
                        </a:rPr>
                        <a:t>What should it do when something is missing or wrong?</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600" b="0">
                          <a:solidFill>
                            <a:srgbClr val="152230"/>
                          </a:solidFill>
                          <a:latin typeface="Gartner Sans"/>
                          <a:ea typeface="Gartner Sans"/>
                          <a:cs typeface="Gartner Sans"/>
                        </a:rPr>
                        <a:t>How the AI agent handles problems, and who acts next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6"/>
                  </a:ext>
                </a:extLst>
              </a:tr>
              <a:tr h="548640">
                <a:tc>
                  <a:txBody>
                    <a:bodyPr/>
                    <a:lstStyle/>
                    <a:p>
                      <a:pPr algn="l"/>
                      <a:r>
                        <a:rPr sz="1600" b="1">
                          <a:solidFill>
                            <a:srgbClr val="152230"/>
                          </a:solidFill>
                          <a:latin typeface="Gartner Sans"/>
                          <a:ea typeface="Gartner Sans"/>
                          <a:cs typeface="Gartner Sans"/>
                        </a:rPr>
                        <a:t>7  Agree a small test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600" b="0">
                          <a:solidFill>
                            <a:srgbClr val="152230"/>
                          </a:solidFill>
                          <a:latin typeface="Gartner Sans"/>
                          <a:ea typeface="Gartner Sans"/>
                          <a:cs typeface="Gartner Sans"/>
                        </a:rPr>
                        <a:t>How will we try it, and how will we know it helped?</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600" b="0">
                          <a:solidFill>
                            <a:srgbClr val="152230"/>
                          </a:solidFill>
                          <a:latin typeface="Gartner Sans"/>
                          <a:ea typeface="Gartner Sans"/>
                          <a:cs typeface="Gartner Sans"/>
                        </a:rPr>
                        <a:t>A test, its measures and the next action</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7"/>
                  </a:ext>
                </a:extLst>
              </a:tr>
            </a:tbl>
          </a:graphicData>
        </a:graphic>
      </p:graphicFrame>
      <p:sp>
        <p:nvSpPr>
          <p:cNvPr id="11"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Structure: workshop guide, seven steps</a:t>
            </a:r>
          </a:p>
        </p:txBody>
      </p:sp>
    </p:spTree>
    <p:extLst>
      <p:ext uri="{BB962C8B-B14F-4D97-AF65-F5344CB8AC3E}">
        <p14:creationId xmlns:p14="http://schemas.microsoft.com/office/powerpoint/2010/main" val="5072955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Step 1: pick one task</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68</a:t>
            </a:r>
          </a:p>
        </p:txBody>
      </p:sp>
      <p:sp>
        <p:nvSpPr>
          <p:cNvPr id="10" name="Step tag"/>
          <p:cNvSpPr/>
          <p:nvPr/>
        </p:nvSpPr>
        <p:spPr>
          <a:xfrm>
            <a:off x="552297" y="1325880"/>
            <a:ext cx="1325880" cy="329184"/>
          </a:xfrm>
          <a:prstGeom prst="rect">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Step 1 of 7</a:t>
            </a:r>
          </a:p>
        </p:txBody>
      </p:sp>
      <p:sp>
        <p:nvSpPr>
          <p:cNvPr id="11" name="Design question"/>
          <p:cNvSpPr txBox="1"/>
          <p:nvPr/>
        </p:nvSpPr>
        <p:spPr>
          <a:xfrm>
            <a:off x="206105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do we want the AI agent to help with?</a:t>
            </a:r>
          </a:p>
        </p:txBody>
      </p:sp>
      <p:sp>
        <p:nvSpPr>
          <p:cNvPr id="12" name="Number 1"/>
          <p:cNvSpPr/>
          <p:nvPr/>
        </p:nvSpPr>
        <p:spPr>
          <a:xfrm>
            <a:off x="552297" y="2331720"/>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1</a:t>
            </a:r>
          </a:p>
        </p:txBody>
      </p:sp>
      <p:sp>
        <p:nvSpPr>
          <p:cNvPr id="13" name="Point 1"/>
          <p:cNvSpPr txBox="1"/>
          <p:nvPr/>
        </p:nvSpPr>
        <p:spPr>
          <a:xfrm>
            <a:off x="1027785" y="1901952"/>
            <a:ext cx="5468112" cy="11704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Apply AI where execution is constrained. Look for work that waits or comes back in several rounds.</a:t>
            </a:r>
          </a:p>
        </p:txBody>
      </p:sp>
      <p:cxnSp>
        <p:nvCxnSpPr>
          <p:cNvPr id="14" name="Divider"/>
          <p:cNvCxnSpPr/>
          <p:nvPr/>
        </p:nvCxnSpPr>
        <p:spPr>
          <a:xfrm>
            <a:off x="552297" y="3145536"/>
            <a:ext cx="5943600" cy="0"/>
          </a:xfrm>
          <a:prstGeom prst="line">
            <a:avLst/>
          </a:prstGeom>
          <a:ln w="9525">
            <a:solidFill>
              <a:srgbClr val="D0D7DF"/>
            </a:solidFill>
          </a:ln>
        </p:spPr>
      </p:cxnSp>
      <p:sp>
        <p:nvSpPr>
          <p:cNvPr id="15" name="Number 2"/>
          <p:cNvSpPr/>
          <p:nvPr/>
        </p:nvSpPr>
        <p:spPr>
          <a:xfrm>
            <a:off x="552297" y="364845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2</a:t>
            </a:r>
          </a:p>
        </p:txBody>
      </p:sp>
      <p:sp>
        <p:nvSpPr>
          <p:cNvPr id="16" name="Point 2"/>
          <p:cNvSpPr txBox="1"/>
          <p:nvPr/>
        </p:nvSpPr>
        <p:spPr>
          <a:xfrm>
            <a:off x="1027785" y="3524166"/>
            <a:ext cx="5468112" cy="55947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0" i="0" u="none" strike="noStrike" kern="1200" cap="none" spc="0" normalizeH="0" baseline="0" noProof="0" dirty="0">
                <a:ln>
                  <a:noFill/>
                </a:ln>
                <a:solidFill>
                  <a:srgbClr val="152230"/>
                </a:solidFill>
                <a:effectLst/>
                <a:uLnTx/>
                <a:uFillTx/>
                <a:latin typeface="Gartner Sans"/>
                <a:ea typeface="Gartner Sans"/>
                <a:cs typeface="Gartner Sans"/>
              </a:rPr>
              <a:t>Choose one bounded task</a:t>
            </a:r>
            <a:r>
              <a:rPr lang="en-GB" sz="1750" dirty="0">
                <a:solidFill>
                  <a:srgbClr val="152230"/>
                </a:solidFill>
                <a:latin typeface="Gartner Sans"/>
                <a:ea typeface="Gartner Sans"/>
                <a:cs typeface="Gartner Sans"/>
              </a:rPr>
              <a:t>, </a:t>
            </a:r>
            <a:r>
              <a:rPr kumimoji="0" sz="1750" b="0" i="0" u="none" strike="noStrike" kern="1200" cap="none" spc="0" normalizeH="0" baseline="0" noProof="0" dirty="0" err="1">
                <a:ln>
                  <a:noFill/>
                </a:ln>
                <a:solidFill>
                  <a:srgbClr val="152230"/>
                </a:solidFill>
                <a:effectLst/>
                <a:uLnTx/>
                <a:uFillTx/>
                <a:latin typeface="Gartner Sans"/>
                <a:ea typeface="Gartner Sans"/>
                <a:cs typeface="Gartner Sans"/>
              </a:rPr>
              <a:t>ke</a:t>
            </a:r>
            <a:r>
              <a:rPr kumimoji="0" lang="en-GB" sz="1750" b="0" i="0" u="none" strike="noStrike" kern="1200" cap="none" spc="0" normalizeH="0" baseline="0" noProof="0" dirty="0">
                <a:ln>
                  <a:noFill/>
                </a:ln>
                <a:solidFill>
                  <a:srgbClr val="152230"/>
                </a:solidFill>
                <a:effectLst/>
                <a:uLnTx/>
                <a:uFillTx/>
                <a:latin typeface="Gartner Sans"/>
                <a:ea typeface="Gartner Sans"/>
                <a:cs typeface="Gartner Sans"/>
              </a:rPr>
              <a:t>e</a:t>
            </a:r>
            <a:r>
              <a:rPr kumimoji="0" sz="1750" b="0" i="0" u="none" strike="noStrike" kern="1200" cap="none" spc="0" normalizeH="0" baseline="0" noProof="0" dirty="0">
                <a:ln>
                  <a:noFill/>
                </a:ln>
                <a:solidFill>
                  <a:srgbClr val="152230"/>
                </a:solidFill>
                <a:effectLst/>
                <a:uLnTx/>
                <a:uFillTx/>
                <a:latin typeface="Gartner Sans"/>
                <a:ea typeface="Gartner Sans"/>
                <a:cs typeface="Gartner Sans"/>
              </a:rPr>
              <a:t>p</a:t>
            </a:r>
            <a:r>
              <a:rPr kumimoji="0" lang="en-GB" sz="1750" b="0" i="0" u="none" strike="noStrike" kern="1200" cap="none" spc="0" normalizeH="0" baseline="0" noProof="0" dirty="0">
                <a:ln>
                  <a:noFill/>
                </a:ln>
                <a:solidFill>
                  <a:srgbClr val="152230"/>
                </a:solidFill>
                <a:effectLst/>
                <a:uLnTx/>
                <a:uFillTx/>
                <a:latin typeface="Gartner Sans"/>
                <a:ea typeface="Gartner Sans"/>
                <a:cs typeface="Gartner Sans"/>
              </a:rPr>
              <a:t> the</a:t>
            </a:r>
            <a:r>
              <a:rPr kumimoji="0" sz="1750" b="0" i="0" u="none" strike="noStrike" kern="1200" cap="none" spc="0" normalizeH="0" baseline="0" noProof="0" dirty="0">
                <a:ln>
                  <a:noFill/>
                </a:ln>
                <a:solidFill>
                  <a:srgbClr val="152230"/>
                </a:solidFill>
                <a:effectLst/>
                <a:uLnTx/>
                <a:uFillTx/>
                <a:latin typeface="Gartner Sans"/>
                <a:ea typeface="Gartner Sans"/>
                <a:cs typeface="Gartner Sans"/>
              </a:rPr>
              <a:t> agents to well-bounded, repetitive tasks.</a:t>
            </a:r>
          </a:p>
        </p:txBody>
      </p:sp>
      <p:cxnSp>
        <p:nvCxnSpPr>
          <p:cNvPr id="17" name="Divider"/>
          <p:cNvCxnSpPr/>
          <p:nvPr/>
        </p:nvCxnSpPr>
        <p:spPr>
          <a:xfrm>
            <a:off x="552297" y="4462272"/>
            <a:ext cx="5943600" cy="0"/>
          </a:xfrm>
          <a:prstGeom prst="line">
            <a:avLst/>
          </a:prstGeom>
          <a:ln w="9525">
            <a:solidFill>
              <a:srgbClr val="D0D7DF"/>
            </a:solidFill>
          </a:ln>
        </p:spPr>
      </p:cxnSp>
      <p:sp>
        <p:nvSpPr>
          <p:cNvPr id="18" name="Number 3"/>
          <p:cNvSpPr/>
          <p:nvPr/>
        </p:nvSpPr>
        <p:spPr>
          <a:xfrm>
            <a:off x="552297" y="496519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3</a:t>
            </a:r>
          </a:p>
        </p:txBody>
      </p:sp>
      <p:sp>
        <p:nvSpPr>
          <p:cNvPr id="19" name="Point 3"/>
          <p:cNvSpPr txBox="1"/>
          <p:nvPr/>
        </p:nvSpPr>
        <p:spPr>
          <a:xfrm>
            <a:off x="1027785" y="4535424"/>
            <a:ext cx="5468112" cy="11704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Say what better looks like, and find out what happens today.</a:t>
            </a:r>
          </a:p>
        </p:txBody>
      </p:sp>
      <p:sp>
        <p:nvSpPr>
          <p:cNvPr id="20" name="Card heading"/>
          <p:cNvSpPr/>
          <p:nvPr/>
        </p:nvSpPr>
        <p:spPr>
          <a:xfrm>
            <a:off x="6949440" y="1828800"/>
            <a:ext cx="4749393" cy="502920"/>
          </a:xfrm>
          <a:prstGeom prst="rect">
            <a:avLst/>
          </a:prstGeom>
          <a:solidFill>
            <a:srgbClr val="002869"/>
          </a:solidFill>
          <a:ln w="12700">
            <a:solidFill>
              <a:srgbClr val="002869"/>
            </a:solidFill>
          </a:ln>
        </p:spPr>
        <p:txBody>
          <a:bodyPr wrap="square" lIns="201168" tIns="0" rIns="18288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Gartner Sans"/>
                <a:ea typeface="Gartner Sans"/>
                <a:cs typeface="Gartner Sans"/>
              </a:rPr>
              <a:t>Worked example</a:t>
            </a:r>
          </a:p>
        </p:txBody>
      </p:sp>
      <p:sp>
        <p:nvSpPr>
          <p:cNvPr id="21" name="Card body"/>
          <p:cNvSpPr/>
          <p:nvPr/>
        </p:nvSpPr>
        <p:spPr>
          <a:xfrm>
            <a:off x="6949440" y="2331720"/>
            <a:ext cx="4749393" cy="3429000"/>
          </a:xfrm>
          <a:prstGeom prst="rect">
            <a:avLst/>
          </a:prstGeom>
          <a:solidFill>
            <a:srgbClr val="FFFFFF"/>
          </a:solidFill>
          <a:ln w="12700">
            <a:solidFill>
              <a:srgbClr val="002869"/>
            </a:solidFill>
          </a:ln>
        </p:spPr>
        <p:txBody>
          <a:bodyPr wrap="square" lIns="228600" tIns="182880" rIns="182880" bIns="109728"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Today: Sam answers in several rounds, which delays development.</a:t>
            </a:r>
          </a:p>
          <a:p>
            <a:pPr marL="171450" marR="0" lvl="0" indent="-171450" algn="l" defTabSz="914400" eaLnBrk="1" fontAlgn="auto" latinLnBrk="0" hangingPunct="1">
              <a:lnSpc>
                <a:spcPct val="100000"/>
              </a:lnSpc>
              <a:spcBef>
                <a:spcPts val="70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The request: the AI agent finds the missing requirements and prepares one list of questions for Sam.</a:t>
            </a:r>
          </a:p>
          <a:p>
            <a:pPr marL="171450" marR="0" lvl="0" indent="-171450" algn="l" defTabSz="914400" eaLnBrk="1" fontAlgn="auto" latinLnBrk="0" hangingPunct="1">
              <a:lnSpc>
                <a:spcPct val="100000"/>
              </a:lnSpc>
              <a:spcBef>
                <a:spcPts val="700"/>
              </a:spcBef>
              <a:spcAft>
                <a:spcPts val="0"/>
              </a:spcAft>
              <a:buClrTx/>
              <a:buSzTx/>
              <a:buFont typeface="Arial"/>
              <a:buChar char="•"/>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Better: one round of clarification, not three. Alex checks recent stories to confirm what happens today.</a:t>
            </a:r>
          </a:p>
        </p:txBody>
      </p:sp>
      <p:sp>
        <p:nvSpPr>
          <p:cNvPr id="22"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G00850352 (points 1 and 2); G00844726 (point 3). Worked example: workshop guide</a:t>
            </a:r>
          </a:p>
        </p:txBody>
      </p:sp>
    </p:spTree>
    <p:extLst>
      <p:ext uri="{BB962C8B-B14F-4D97-AF65-F5344CB8AC3E}">
        <p14:creationId xmlns:p14="http://schemas.microsoft.com/office/powerpoint/2010/main" val="41922885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Step 2: draw the conversation</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69</a:t>
            </a:r>
          </a:p>
        </p:txBody>
      </p:sp>
      <p:sp>
        <p:nvSpPr>
          <p:cNvPr id="10" name="Step tag"/>
          <p:cNvSpPr/>
          <p:nvPr/>
        </p:nvSpPr>
        <p:spPr>
          <a:xfrm>
            <a:off x="552297" y="1325880"/>
            <a:ext cx="1325880" cy="329184"/>
          </a:xfrm>
          <a:prstGeom prst="rect">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Step 2 of 7</a:t>
            </a:r>
          </a:p>
        </p:txBody>
      </p:sp>
      <p:sp>
        <p:nvSpPr>
          <p:cNvPr id="11" name="Design question"/>
          <p:cNvSpPr txBox="1"/>
          <p:nvPr/>
        </p:nvSpPr>
        <p:spPr>
          <a:xfrm>
            <a:off x="206105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Who asks the AI agent for help, and who does the AI agent reply to?</a:t>
            </a:r>
          </a:p>
        </p:txBody>
      </p:sp>
      <p:sp>
        <p:nvSpPr>
          <p:cNvPr id="12" name="Engineering team"/>
          <p:cNvSpPr/>
          <p:nvPr/>
        </p:nvSpPr>
        <p:spPr>
          <a:xfrm>
            <a:off x="2880360" y="1810512"/>
            <a:ext cx="2103120" cy="475488"/>
          </a:xfrm>
          <a:prstGeom prst="rect">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Engineering team</a:t>
            </a:r>
          </a:p>
          <a:p>
            <a:pPr marL="0" marR="0" lvl="0" indent="0" algn="ctr" defTabSz="91440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FFFFFF"/>
                </a:solidFill>
                <a:effectLst/>
                <a:uLnTx/>
                <a:uFillTx/>
                <a:latin typeface="Gartner Sans"/>
                <a:ea typeface="Gartner Sans"/>
                <a:cs typeface="Gartner Sans"/>
              </a:rPr>
              <a:t>Alex</a:t>
            </a:r>
          </a:p>
        </p:txBody>
      </p:sp>
      <p:cxnSp>
        <p:nvCxnSpPr>
          <p:cNvPr id="13" name="Lifeline"/>
          <p:cNvCxnSpPr/>
          <p:nvPr/>
        </p:nvCxnSpPr>
        <p:spPr>
          <a:xfrm>
            <a:off x="3931920" y="2286000"/>
            <a:ext cx="0" cy="3474720"/>
          </a:xfrm>
          <a:prstGeom prst="line">
            <a:avLst/>
          </a:prstGeom>
          <a:ln w="12700">
            <a:solidFill>
              <a:srgbClr val="D0D7DF"/>
            </a:solidFill>
          </a:ln>
        </p:spPr>
      </p:cxnSp>
      <p:sp>
        <p:nvSpPr>
          <p:cNvPr id="14" name="AI agent"/>
          <p:cNvSpPr/>
          <p:nvPr/>
        </p:nvSpPr>
        <p:spPr>
          <a:xfrm>
            <a:off x="6035040" y="1810512"/>
            <a:ext cx="2103120" cy="475488"/>
          </a:xfrm>
          <a:prstGeom prst="rect">
            <a:avLst/>
          </a:prstGeom>
          <a:solidFill>
            <a:srgbClr val="0A5CD5"/>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AI agent</a:t>
            </a:r>
          </a:p>
        </p:txBody>
      </p:sp>
      <p:cxnSp>
        <p:nvCxnSpPr>
          <p:cNvPr id="15" name="Lifeline"/>
          <p:cNvCxnSpPr/>
          <p:nvPr/>
        </p:nvCxnSpPr>
        <p:spPr>
          <a:xfrm>
            <a:off x="7086600" y="2286000"/>
            <a:ext cx="0" cy="3474720"/>
          </a:xfrm>
          <a:prstGeom prst="line">
            <a:avLst/>
          </a:prstGeom>
          <a:ln w="12700">
            <a:solidFill>
              <a:srgbClr val="D0D7DF"/>
            </a:solidFill>
          </a:ln>
        </p:spPr>
      </p:cxnSp>
      <p:sp>
        <p:nvSpPr>
          <p:cNvPr id="16" name="Product owner"/>
          <p:cNvSpPr/>
          <p:nvPr/>
        </p:nvSpPr>
        <p:spPr>
          <a:xfrm>
            <a:off x="9189719" y="1810512"/>
            <a:ext cx="2103120" cy="475488"/>
          </a:xfrm>
          <a:prstGeom prst="rect">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Product owner</a:t>
            </a:r>
          </a:p>
          <a:p>
            <a:pPr marL="0" marR="0" lvl="0" indent="0" algn="ctr" defTabSz="91440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FFFFFF"/>
                </a:solidFill>
                <a:effectLst/>
                <a:uLnTx/>
                <a:uFillTx/>
                <a:latin typeface="Gartner Sans"/>
                <a:ea typeface="Gartner Sans"/>
                <a:cs typeface="Gartner Sans"/>
              </a:rPr>
              <a:t>Sam</a:t>
            </a:r>
          </a:p>
        </p:txBody>
      </p:sp>
      <p:cxnSp>
        <p:nvCxnSpPr>
          <p:cNvPr id="17" name="Lifeline"/>
          <p:cNvCxnSpPr/>
          <p:nvPr/>
        </p:nvCxnSpPr>
        <p:spPr>
          <a:xfrm>
            <a:off x="10241280" y="2286000"/>
            <a:ext cx="0" cy="3474720"/>
          </a:xfrm>
          <a:prstGeom prst="line">
            <a:avLst/>
          </a:prstGeom>
          <a:ln w="12700">
            <a:solidFill>
              <a:srgbClr val="D0D7DF"/>
            </a:solidFill>
          </a:ln>
        </p:spPr>
      </p:cxnSp>
      <p:sp>
        <p:nvSpPr>
          <p:cNvPr id="18" name="Number 1"/>
          <p:cNvSpPr/>
          <p:nvPr/>
        </p:nvSpPr>
        <p:spPr>
          <a:xfrm>
            <a:off x="552297" y="250545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1</a:t>
            </a:r>
          </a:p>
        </p:txBody>
      </p:sp>
      <p:sp>
        <p:nvSpPr>
          <p:cNvPr id="19" name="Stage"/>
          <p:cNvSpPr txBox="1"/>
          <p:nvPr/>
        </p:nvSpPr>
        <p:spPr>
          <a:xfrm>
            <a:off x="963777" y="2487168"/>
            <a:ext cx="2011680" cy="34747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Ask for help</a:t>
            </a:r>
          </a:p>
        </p:txBody>
      </p:sp>
      <p:sp>
        <p:nvSpPr>
          <p:cNvPr id="20" name="Message"/>
          <p:cNvSpPr txBox="1"/>
          <p:nvPr/>
        </p:nvSpPr>
        <p:spPr>
          <a:xfrm>
            <a:off x="4023359" y="2459736"/>
            <a:ext cx="2971800" cy="219456"/>
          </a:xfrm>
          <a:prstGeom prst="rect">
            <a:avLst/>
          </a:prstGeom>
          <a:noFill/>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Help us clarify this story.</a:t>
            </a:r>
          </a:p>
        </p:txBody>
      </p:sp>
      <p:cxnSp>
        <p:nvCxnSpPr>
          <p:cNvPr id="21" name="Arrow"/>
          <p:cNvCxnSpPr/>
          <p:nvPr/>
        </p:nvCxnSpPr>
        <p:spPr>
          <a:xfrm>
            <a:off x="3968496" y="2761488"/>
            <a:ext cx="3063240" cy="0"/>
          </a:xfrm>
          <a:prstGeom prst="line">
            <a:avLst/>
          </a:prstGeom>
          <a:ln w="19050">
            <a:solidFill>
              <a:srgbClr val="002869"/>
            </a:solidFill>
            <a:tailEnd type="triangle" w="med" len="med"/>
          </a:ln>
        </p:spPr>
      </p:cxnSp>
      <p:sp>
        <p:nvSpPr>
          <p:cNvPr id="22" name="Number 2"/>
          <p:cNvSpPr/>
          <p:nvPr/>
        </p:nvSpPr>
        <p:spPr>
          <a:xfrm>
            <a:off x="552297" y="2898648"/>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2</a:t>
            </a:r>
          </a:p>
        </p:txBody>
      </p:sp>
      <p:sp>
        <p:nvSpPr>
          <p:cNvPr id="23" name="Stage"/>
          <p:cNvSpPr txBox="1"/>
          <p:nvPr/>
        </p:nvSpPr>
        <p:spPr>
          <a:xfrm>
            <a:off x="963777" y="2880360"/>
            <a:ext cx="2011680" cy="34747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Prepare questions</a:t>
            </a:r>
          </a:p>
        </p:txBody>
      </p:sp>
      <p:sp>
        <p:nvSpPr>
          <p:cNvPr id="24" name="Message"/>
          <p:cNvSpPr txBox="1"/>
          <p:nvPr/>
        </p:nvSpPr>
        <p:spPr>
          <a:xfrm>
            <a:off x="4023359" y="2852928"/>
            <a:ext cx="2971800" cy="219456"/>
          </a:xfrm>
          <a:prstGeom prst="rect">
            <a:avLst/>
          </a:prstGeom>
          <a:noFill/>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Draft questions for approval</a:t>
            </a:r>
          </a:p>
        </p:txBody>
      </p:sp>
      <p:cxnSp>
        <p:nvCxnSpPr>
          <p:cNvPr id="25" name="Arrow"/>
          <p:cNvCxnSpPr/>
          <p:nvPr/>
        </p:nvCxnSpPr>
        <p:spPr>
          <a:xfrm flipH="1">
            <a:off x="3986783" y="3154680"/>
            <a:ext cx="3063241" cy="0"/>
          </a:xfrm>
          <a:prstGeom prst="line">
            <a:avLst/>
          </a:prstGeom>
          <a:ln w="19050">
            <a:solidFill>
              <a:srgbClr val="002869"/>
            </a:solidFill>
            <a:tailEnd type="triangle" w="med" len="med"/>
          </a:ln>
        </p:spPr>
      </p:cxnSp>
      <p:sp>
        <p:nvSpPr>
          <p:cNvPr id="26" name="Message"/>
          <p:cNvSpPr txBox="1"/>
          <p:nvPr/>
        </p:nvSpPr>
        <p:spPr>
          <a:xfrm>
            <a:off x="4023359" y="3246120"/>
            <a:ext cx="2971800" cy="219456"/>
          </a:xfrm>
          <a:prstGeom prst="rect">
            <a:avLst/>
          </a:prstGeom>
          <a:noFill/>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Alex approves the questions</a:t>
            </a:r>
          </a:p>
        </p:txBody>
      </p:sp>
      <p:cxnSp>
        <p:nvCxnSpPr>
          <p:cNvPr id="27" name="Arrow"/>
          <p:cNvCxnSpPr/>
          <p:nvPr/>
        </p:nvCxnSpPr>
        <p:spPr>
          <a:xfrm>
            <a:off x="3968496" y="3547872"/>
            <a:ext cx="3063240" cy="0"/>
          </a:xfrm>
          <a:prstGeom prst="line">
            <a:avLst/>
          </a:prstGeom>
          <a:ln w="19050">
            <a:solidFill>
              <a:srgbClr val="002869"/>
            </a:solidFill>
            <a:tailEnd type="triangle" w="med" len="med"/>
          </a:ln>
        </p:spPr>
      </p:cxnSp>
      <p:sp>
        <p:nvSpPr>
          <p:cNvPr id="28" name="Message"/>
          <p:cNvSpPr txBox="1"/>
          <p:nvPr/>
        </p:nvSpPr>
        <p:spPr>
          <a:xfrm>
            <a:off x="7178040" y="3639312"/>
            <a:ext cx="2971799" cy="219456"/>
          </a:xfrm>
          <a:prstGeom prst="rect">
            <a:avLst/>
          </a:prstGeom>
          <a:noFill/>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Are changes allowed after dispatch?</a:t>
            </a:r>
          </a:p>
        </p:txBody>
      </p:sp>
      <p:cxnSp>
        <p:nvCxnSpPr>
          <p:cNvPr id="29" name="Arrow"/>
          <p:cNvCxnSpPr/>
          <p:nvPr/>
        </p:nvCxnSpPr>
        <p:spPr>
          <a:xfrm>
            <a:off x="7123176" y="3941064"/>
            <a:ext cx="3063239" cy="0"/>
          </a:xfrm>
          <a:prstGeom prst="line">
            <a:avLst/>
          </a:prstGeom>
          <a:ln w="19050">
            <a:solidFill>
              <a:srgbClr val="002869"/>
            </a:solidFill>
            <a:tailEnd type="triangle" w="med" len="med"/>
          </a:ln>
        </p:spPr>
      </p:cxnSp>
      <p:sp>
        <p:nvSpPr>
          <p:cNvPr id="30" name="Number 3"/>
          <p:cNvSpPr/>
          <p:nvPr/>
        </p:nvSpPr>
        <p:spPr>
          <a:xfrm>
            <a:off x="552297" y="4078224"/>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3</a:t>
            </a:r>
          </a:p>
        </p:txBody>
      </p:sp>
      <p:sp>
        <p:nvSpPr>
          <p:cNvPr id="31" name="Stage"/>
          <p:cNvSpPr txBox="1"/>
          <p:nvPr/>
        </p:nvSpPr>
        <p:spPr>
          <a:xfrm>
            <a:off x="963777" y="4059936"/>
            <a:ext cx="2011680" cy="34747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Clarify</a:t>
            </a:r>
          </a:p>
        </p:txBody>
      </p:sp>
      <p:sp>
        <p:nvSpPr>
          <p:cNvPr id="32" name="Message"/>
          <p:cNvSpPr txBox="1"/>
          <p:nvPr/>
        </p:nvSpPr>
        <p:spPr>
          <a:xfrm>
            <a:off x="7178040" y="4032504"/>
            <a:ext cx="2971799" cy="219456"/>
          </a:xfrm>
          <a:prstGeom prst="rect">
            <a:avLst/>
          </a:prstGeom>
          <a:noFill/>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No. Only before dispatch.</a:t>
            </a:r>
          </a:p>
        </p:txBody>
      </p:sp>
      <p:cxnSp>
        <p:nvCxnSpPr>
          <p:cNvPr id="33" name="Arrow"/>
          <p:cNvCxnSpPr/>
          <p:nvPr/>
        </p:nvCxnSpPr>
        <p:spPr>
          <a:xfrm flipH="1">
            <a:off x="7141464" y="4334256"/>
            <a:ext cx="3063240" cy="0"/>
          </a:xfrm>
          <a:prstGeom prst="line">
            <a:avLst/>
          </a:prstGeom>
          <a:ln w="19050">
            <a:solidFill>
              <a:srgbClr val="002869"/>
            </a:solidFill>
            <a:tailEnd type="triangle" w="med" len="med"/>
          </a:ln>
        </p:spPr>
      </p:cxnSp>
      <p:sp>
        <p:nvSpPr>
          <p:cNvPr id="34" name="Number 4"/>
          <p:cNvSpPr/>
          <p:nvPr/>
        </p:nvSpPr>
        <p:spPr>
          <a:xfrm>
            <a:off x="552297" y="447141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4</a:t>
            </a:r>
          </a:p>
        </p:txBody>
      </p:sp>
      <p:sp>
        <p:nvSpPr>
          <p:cNvPr id="35" name="Stage"/>
          <p:cNvSpPr txBox="1"/>
          <p:nvPr/>
        </p:nvSpPr>
        <p:spPr>
          <a:xfrm>
            <a:off x="963777" y="4453128"/>
            <a:ext cx="2011680" cy="34747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Draft</a:t>
            </a:r>
          </a:p>
        </p:txBody>
      </p:sp>
      <p:sp>
        <p:nvSpPr>
          <p:cNvPr id="36" name="Message"/>
          <p:cNvSpPr txBox="1"/>
          <p:nvPr/>
        </p:nvSpPr>
        <p:spPr>
          <a:xfrm>
            <a:off x="4023359" y="4425696"/>
            <a:ext cx="2971800" cy="219456"/>
          </a:xfrm>
          <a:prstGeom prst="rect">
            <a:avLst/>
          </a:prstGeom>
          <a:noFill/>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Draft story and acceptance criteria</a:t>
            </a:r>
          </a:p>
        </p:txBody>
      </p:sp>
      <p:cxnSp>
        <p:nvCxnSpPr>
          <p:cNvPr id="37" name="Arrow"/>
          <p:cNvCxnSpPr/>
          <p:nvPr/>
        </p:nvCxnSpPr>
        <p:spPr>
          <a:xfrm flipH="1">
            <a:off x="3986783" y="4727448"/>
            <a:ext cx="3063241" cy="0"/>
          </a:xfrm>
          <a:prstGeom prst="line">
            <a:avLst/>
          </a:prstGeom>
          <a:ln w="19050">
            <a:solidFill>
              <a:srgbClr val="002869"/>
            </a:solidFill>
            <a:tailEnd type="triangle" w="med" len="med"/>
          </a:ln>
        </p:spPr>
      </p:cxnSp>
      <p:sp>
        <p:nvSpPr>
          <p:cNvPr id="38" name="Message"/>
          <p:cNvSpPr txBox="1"/>
          <p:nvPr/>
        </p:nvSpPr>
        <p:spPr>
          <a:xfrm>
            <a:off x="7178040" y="4818888"/>
            <a:ext cx="2971799" cy="219456"/>
          </a:xfrm>
          <a:prstGeom prst="rect">
            <a:avLst/>
          </a:prstGeom>
          <a:noFill/>
        </p:spPr>
        <p:txBody>
          <a:bodyPr wrap="square" lIns="0" tIns="0" rIns="0" bIns="0" anchor="t">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The same draft, for review</a:t>
            </a:r>
          </a:p>
        </p:txBody>
      </p:sp>
      <p:cxnSp>
        <p:nvCxnSpPr>
          <p:cNvPr id="39" name="Arrow"/>
          <p:cNvCxnSpPr/>
          <p:nvPr/>
        </p:nvCxnSpPr>
        <p:spPr>
          <a:xfrm>
            <a:off x="7123176" y="5120640"/>
            <a:ext cx="3063239" cy="0"/>
          </a:xfrm>
          <a:prstGeom prst="line">
            <a:avLst/>
          </a:prstGeom>
          <a:ln w="19050">
            <a:solidFill>
              <a:srgbClr val="002869"/>
            </a:solidFill>
            <a:tailEnd type="triangle" w="med" len="med"/>
          </a:ln>
        </p:spPr>
      </p:cxnSp>
      <p:sp>
        <p:nvSpPr>
          <p:cNvPr id="40" name="Number 5"/>
          <p:cNvSpPr/>
          <p:nvPr/>
        </p:nvSpPr>
        <p:spPr>
          <a:xfrm>
            <a:off x="552297" y="5312664"/>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5</a:t>
            </a:r>
          </a:p>
        </p:txBody>
      </p:sp>
      <p:sp>
        <p:nvSpPr>
          <p:cNvPr id="41" name="Stage"/>
          <p:cNvSpPr txBox="1"/>
          <p:nvPr/>
        </p:nvSpPr>
        <p:spPr>
          <a:xfrm>
            <a:off x="963777" y="5294375"/>
            <a:ext cx="2011680" cy="34747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Check</a:t>
            </a:r>
          </a:p>
        </p:txBody>
      </p:sp>
      <p:sp>
        <p:nvSpPr>
          <p:cNvPr id="42" name="Check note"/>
          <p:cNvSpPr/>
          <p:nvPr/>
        </p:nvSpPr>
        <p:spPr>
          <a:xfrm>
            <a:off x="2880360" y="5266944"/>
            <a:ext cx="8412480" cy="457200"/>
          </a:xfrm>
          <a:prstGeom prst="rect">
            <a:avLst/>
          </a:prstGeom>
          <a:solidFill>
            <a:srgbClr val="F0F7FD"/>
          </a:solidFill>
          <a:ln>
            <a:noFill/>
          </a:ln>
        </p:spPr>
        <p:txBody>
          <a:bodyPr wrap="square" t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152230"/>
                </a:solidFill>
                <a:effectLst/>
                <a:uLnTx/>
                <a:uFillTx/>
                <a:latin typeface="Gartner Sans"/>
                <a:ea typeface="Gartner Sans"/>
                <a:cs typeface="Gartner Sans"/>
              </a:rPr>
              <a:t>Sam confirms the requirements. Alex checks that the team can build and test them, then updates the story.</a:t>
            </a:r>
          </a:p>
        </p:txBody>
      </p:sp>
      <p:sp>
        <p:nvSpPr>
          <p:cNvPr id="43"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Worked example: workshop guide and video. Pattern: people state intent, the agent implements, people check (G00850352)</a:t>
            </a:r>
          </a:p>
        </p:txBody>
      </p:sp>
    </p:spTree>
    <p:extLst>
      <p:ext uri="{BB962C8B-B14F-4D97-AF65-F5344CB8AC3E}">
        <p14:creationId xmlns:p14="http://schemas.microsoft.com/office/powerpoint/2010/main" val="40607567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Step 3: list what the AI agent needs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70</a:t>
            </a:r>
          </a:p>
        </p:txBody>
      </p:sp>
      <p:sp>
        <p:nvSpPr>
          <p:cNvPr id="10" name="Step tag"/>
          <p:cNvSpPr/>
          <p:nvPr/>
        </p:nvSpPr>
        <p:spPr>
          <a:xfrm>
            <a:off x="552297" y="1325880"/>
            <a:ext cx="1325880" cy="329184"/>
          </a:xfrm>
          <a:prstGeom prst="rect">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Step 3 of 7</a:t>
            </a:r>
          </a:p>
        </p:txBody>
      </p:sp>
      <p:sp>
        <p:nvSpPr>
          <p:cNvPr id="11" name="Design question"/>
          <p:cNvSpPr txBox="1"/>
          <p:nvPr/>
        </p:nvSpPr>
        <p:spPr>
          <a:xfrm>
            <a:off x="206105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information does the AI agent need, and where does it come from?</a:t>
            </a:r>
          </a:p>
        </p:txBody>
      </p:sp>
      <p:sp>
        <p:nvSpPr>
          <p:cNvPr id="12" name="Number 1"/>
          <p:cNvSpPr/>
          <p:nvPr/>
        </p:nvSpPr>
        <p:spPr>
          <a:xfrm>
            <a:off x="552297" y="2331720"/>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1</a:t>
            </a:r>
          </a:p>
        </p:txBody>
      </p:sp>
      <p:sp>
        <p:nvSpPr>
          <p:cNvPr id="13" name="Point 1"/>
          <p:cNvSpPr txBox="1"/>
          <p:nvPr/>
        </p:nvSpPr>
        <p:spPr>
          <a:xfrm>
            <a:off x="1027785" y="1901952"/>
            <a:ext cx="4279392" cy="11704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Without consistent context, agents drift and give inconsistent results.</a:t>
            </a:r>
          </a:p>
        </p:txBody>
      </p:sp>
      <p:cxnSp>
        <p:nvCxnSpPr>
          <p:cNvPr id="14" name="Divider"/>
          <p:cNvCxnSpPr/>
          <p:nvPr/>
        </p:nvCxnSpPr>
        <p:spPr>
          <a:xfrm>
            <a:off x="552297" y="3145536"/>
            <a:ext cx="4754880" cy="0"/>
          </a:xfrm>
          <a:prstGeom prst="line">
            <a:avLst/>
          </a:prstGeom>
          <a:ln w="9525">
            <a:solidFill>
              <a:srgbClr val="D0D7DF"/>
            </a:solidFill>
          </a:ln>
        </p:spPr>
      </p:cxnSp>
      <p:sp>
        <p:nvSpPr>
          <p:cNvPr id="15" name="Number 2"/>
          <p:cNvSpPr/>
          <p:nvPr/>
        </p:nvSpPr>
        <p:spPr>
          <a:xfrm>
            <a:off x="552297" y="364845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2</a:t>
            </a:r>
          </a:p>
        </p:txBody>
      </p:sp>
      <p:sp>
        <p:nvSpPr>
          <p:cNvPr id="16" name="Point 2"/>
          <p:cNvSpPr txBox="1"/>
          <p:nvPr/>
        </p:nvSpPr>
        <p:spPr>
          <a:xfrm>
            <a:off x="1027785" y="3218688"/>
            <a:ext cx="4279392" cy="11704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Name the actual tool, document or person. Context needs a clear owner and must be current.</a:t>
            </a:r>
          </a:p>
        </p:txBody>
      </p:sp>
      <p:cxnSp>
        <p:nvCxnSpPr>
          <p:cNvPr id="17" name="Divider"/>
          <p:cNvCxnSpPr/>
          <p:nvPr/>
        </p:nvCxnSpPr>
        <p:spPr>
          <a:xfrm>
            <a:off x="552297" y="4462272"/>
            <a:ext cx="4754880" cy="0"/>
          </a:xfrm>
          <a:prstGeom prst="line">
            <a:avLst/>
          </a:prstGeom>
          <a:ln w="9525">
            <a:solidFill>
              <a:srgbClr val="D0D7DF"/>
            </a:solidFill>
          </a:ln>
        </p:spPr>
      </p:cxnSp>
      <p:sp>
        <p:nvSpPr>
          <p:cNvPr id="18" name="Number 3"/>
          <p:cNvSpPr/>
          <p:nvPr/>
        </p:nvSpPr>
        <p:spPr>
          <a:xfrm>
            <a:off x="552297" y="496519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3</a:t>
            </a:r>
          </a:p>
        </p:txBody>
      </p:sp>
      <p:sp>
        <p:nvSpPr>
          <p:cNvPr id="19" name="Point 3"/>
          <p:cNvSpPr txBox="1"/>
          <p:nvPr/>
        </p:nvSpPr>
        <p:spPr>
          <a:xfrm>
            <a:off x="1027785" y="4535424"/>
            <a:ext cx="4279392" cy="11704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Record what is still to be written or agreed, and who can help.</a:t>
            </a:r>
          </a:p>
        </p:txBody>
      </p:sp>
      <p:graphicFrame>
        <p:nvGraphicFramePr>
          <p:cNvPr id="20" name="Example table"/>
          <p:cNvGraphicFramePr>
            <a:graphicFrameLocks noGrp="1"/>
          </p:cNvGraphicFramePr>
          <p:nvPr/>
        </p:nvGraphicFramePr>
        <p:xfrm>
          <a:off x="5760720" y="1828800"/>
          <a:ext cx="5938113" cy="2304288"/>
        </p:xfrm>
        <a:graphic>
          <a:graphicData uri="http://schemas.openxmlformats.org/drawingml/2006/table">
            <a:tbl>
              <a:tblPr>
                <a:tableStyleId>{2D5ABB26-0587-4C30-8999-92F81FD0307C}</a:tableStyleId>
              </a:tblPr>
              <a:tblGrid>
                <a:gridCol w="22860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411833">
                  <a:extLst>
                    <a:ext uri="{9D8B030D-6E8A-4147-A177-3AD203B41FA5}">
                      <a16:colId xmlns:a16="http://schemas.microsoft.com/office/drawing/2014/main" val="20002"/>
                    </a:ext>
                  </a:extLst>
                </a:gridCol>
              </a:tblGrid>
              <a:tr h="384048">
                <a:tc>
                  <a:txBody>
                    <a:bodyPr/>
                    <a:lstStyle/>
                    <a:p>
                      <a:pPr algn="l"/>
                      <a:r>
                        <a:rPr sz="1550" b="1">
                          <a:solidFill>
                            <a:srgbClr val="FFFFFF"/>
                          </a:solidFill>
                          <a:latin typeface="Gartner Sans"/>
                          <a:ea typeface="Gartner Sans"/>
                          <a:cs typeface="Gartner Sans"/>
                        </a:rPr>
                        <a:t>Information needed</a:t>
                      </a:r>
                    </a:p>
                  </a:txBody>
                  <a:tcPr marL="118872" marR="118872" anchor="ctr">
                    <a:solidFill>
                      <a:srgbClr val="002869"/>
                    </a:solidFill>
                  </a:tcPr>
                </a:tc>
                <a:tc>
                  <a:txBody>
                    <a:bodyPr/>
                    <a:lstStyle/>
                    <a:p>
                      <a:pPr algn="l"/>
                      <a:r>
                        <a:rPr sz="1550" b="1">
                          <a:solidFill>
                            <a:srgbClr val="FFFFFF"/>
                          </a:solidFill>
                          <a:latin typeface="Gartner Sans"/>
                          <a:ea typeface="Gartner Sans"/>
                          <a:cs typeface="Gartner Sans"/>
                        </a:rPr>
                        <a:t>Where it comes from</a:t>
                      </a:r>
                    </a:p>
                  </a:txBody>
                  <a:tcPr marL="118872" marR="118872" anchor="ctr">
                    <a:solidFill>
                      <a:srgbClr val="002869"/>
                    </a:solidFill>
                  </a:tcPr>
                </a:tc>
                <a:tc>
                  <a:txBody>
                    <a:bodyPr/>
                    <a:lstStyle/>
                    <a:p>
                      <a:pPr algn="l"/>
                      <a:r>
                        <a:rPr sz="1550" b="1">
                          <a:solidFill>
                            <a:srgbClr val="FFFFFF"/>
                          </a:solidFill>
                          <a:latin typeface="Gartner Sans"/>
                          <a:ea typeface="Gartner Sans"/>
                          <a:cs typeface="Gartner Sans"/>
                        </a:rPr>
                        <a:t>Who owns it</a:t>
                      </a:r>
                    </a:p>
                  </a:txBody>
                  <a:tcPr marL="118872" marR="118872" anchor="ctr">
                    <a:solidFill>
                      <a:srgbClr val="002869"/>
                    </a:solidFill>
                  </a:tcPr>
                </a:tc>
                <a:extLst>
                  <a:ext uri="{0D108BD9-81ED-4DB2-BD59-A6C34878D82A}">
                    <a16:rowId xmlns:a16="http://schemas.microsoft.com/office/drawing/2014/main" val="10000"/>
                  </a:ext>
                </a:extLst>
              </a:tr>
              <a:tr h="640080">
                <a:tc>
                  <a:txBody>
                    <a:bodyPr/>
                    <a:lstStyle/>
                    <a:p>
                      <a:pPr algn="l"/>
                      <a:r>
                        <a:rPr sz="1550" b="1">
                          <a:solidFill>
                            <a:srgbClr val="152230"/>
                          </a:solidFill>
                          <a:latin typeface="Gartner Sans"/>
                          <a:ea typeface="Gartner Sans"/>
                          <a:cs typeface="Gartner Sans"/>
                        </a:rPr>
                        <a:t>The story and its latest wording</a:t>
                      </a:r>
                    </a:p>
                  </a:txBody>
                  <a:tcPr marL="118872" marR="118872" anchor="ctr">
                    <a:lnB w="9525">
                      <a:solidFill>
                        <a:srgbClr val="D0D7DF"/>
                      </a:solidFill>
                    </a:lnB>
                    <a:solidFill>
                      <a:srgbClr val="F0F7FD"/>
                    </a:solidFill>
                  </a:tcPr>
                </a:tc>
                <a:tc>
                  <a:txBody>
                    <a:bodyPr/>
                    <a:lstStyle/>
                    <a:p>
                      <a:pPr algn="l"/>
                      <a:r>
                        <a:rPr sz="1550" b="0">
                          <a:solidFill>
                            <a:srgbClr val="152230"/>
                          </a:solidFill>
                          <a:latin typeface="Gartner Sans"/>
                          <a:ea typeface="Gartner Sans"/>
                          <a:cs typeface="Gartner Sans"/>
                        </a:rPr>
                        <a:t>The work tracker</a:t>
                      </a:r>
                    </a:p>
                  </a:txBody>
                  <a:tcPr marL="118872" marR="118872" anchor="ctr">
                    <a:lnB w="9525">
                      <a:solidFill>
                        <a:srgbClr val="D0D7DF"/>
                      </a:solidFill>
                    </a:lnB>
                    <a:solidFill>
                      <a:srgbClr val="FFFFFF"/>
                    </a:solidFill>
                  </a:tcPr>
                </a:tc>
                <a:tc>
                  <a:txBody>
                    <a:bodyPr/>
                    <a:lstStyle/>
                    <a:p>
                      <a:pPr algn="l"/>
                      <a:r>
                        <a:rPr sz="1550" b="0">
                          <a:solidFill>
                            <a:srgbClr val="152230"/>
                          </a:solidFill>
                          <a:latin typeface="Gartner Sans"/>
                          <a:ea typeface="Gartner Sans"/>
                          <a:cs typeface="Gartner Sans"/>
                        </a:rPr>
                        <a:t>Sam</a:t>
                      </a:r>
                    </a:p>
                  </a:txBody>
                  <a:tcPr marL="118872" marR="118872" anchor="ctr">
                    <a:lnB w="9525">
                      <a:solidFill>
                        <a:srgbClr val="D0D7DF"/>
                      </a:solidFill>
                    </a:lnB>
                    <a:solidFill>
                      <a:srgbClr val="FFFFFF"/>
                    </a:solidFill>
                  </a:tcPr>
                </a:tc>
                <a:extLst>
                  <a:ext uri="{0D108BD9-81ED-4DB2-BD59-A6C34878D82A}">
                    <a16:rowId xmlns:a16="http://schemas.microsoft.com/office/drawing/2014/main" val="10001"/>
                  </a:ext>
                </a:extLst>
              </a:tr>
              <a:tr h="640080">
                <a:tc>
                  <a:txBody>
                    <a:bodyPr/>
                    <a:lstStyle/>
                    <a:p>
                      <a:pPr algn="l"/>
                      <a:r>
                        <a:rPr sz="1550" b="1">
                          <a:solidFill>
                            <a:srgbClr val="152230"/>
                          </a:solidFill>
                          <a:latin typeface="Gartner Sans"/>
                          <a:ea typeface="Gartner Sans"/>
                          <a:cs typeface="Gartner Sans"/>
                        </a:rPr>
                        <a:t>The current rules on address changes</a:t>
                      </a:r>
                    </a:p>
                  </a:txBody>
                  <a:tcPr marL="118872" marR="118872"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50" b="0">
                          <a:solidFill>
                            <a:srgbClr val="152230"/>
                          </a:solidFill>
                          <a:latin typeface="Gartner Sans"/>
                          <a:ea typeface="Gartner Sans"/>
                          <a:cs typeface="Gartner Sans"/>
                        </a:rPr>
                        <a:t>Supplied by Sam</a:t>
                      </a:r>
                    </a:p>
                  </a:txBody>
                  <a:tcPr marL="118872" marR="118872"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50" b="0">
                          <a:solidFill>
                            <a:srgbClr val="152230"/>
                          </a:solidFill>
                          <a:latin typeface="Gartner Sans"/>
                          <a:ea typeface="Gartner Sans"/>
                          <a:cs typeface="Gartner Sans"/>
                        </a:rPr>
                        <a:t>Sam</a:t>
                      </a:r>
                    </a:p>
                  </a:txBody>
                  <a:tcPr marL="118872" marR="118872"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640080">
                <a:tc>
                  <a:txBody>
                    <a:bodyPr/>
                    <a:lstStyle/>
                    <a:p>
                      <a:pPr algn="l"/>
                      <a:r>
                        <a:rPr sz="1550" b="1">
                          <a:solidFill>
                            <a:srgbClr val="152230"/>
                          </a:solidFill>
                          <a:latin typeface="Gartner Sans"/>
                          <a:ea typeface="Gartner Sans"/>
                          <a:cs typeface="Gartner Sans"/>
                        </a:rPr>
                        <a:t>The answers Sam gives</a:t>
                      </a:r>
                    </a:p>
                  </a:txBody>
                  <a:tcPr marL="118872" marR="118872"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50" b="0">
                          <a:solidFill>
                            <a:srgbClr val="152230"/>
                          </a:solidFill>
                          <a:latin typeface="Gartner Sans"/>
                          <a:ea typeface="Gartner Sans"/>
                          <a:cs typeface="Gartner Sans"/>
                        </a:rPr>
                        <a:t>Recorded against the story in the work tracker</a:t>
                      </a:r>
                    </a:p>
                  </a:txBody>
                  <a:tcPr marL="118872" marR="118872"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50" b="0">
                          <a:solidFill>
                            <a:srgbClr val="152230"/>
                          </a:solidFill>
                          <a:latin typeface="Gartner Sans"/>
                          <a:ea typeface="Gartner Sans"/>
                          <a:cs typeface="Gartner Sans"/>
                        </a:rPr>
                        <a:t>Sam</a:t>
                      </a:r>
                    </a:p>
                  </a:txBody>
                  <a:tcPr marL="118872" marR="118872"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3"/>
                  </a:ext>
                </a:extLst>
              </a:tr>
            </a:tbl>
          </a:graphicData>
        </a:graphic>
      </p:graphicFrame>
      <p:sp>
        <p:nvSpPr>
          <p:cNvPr id="21" name="Still to agree"/>
          <p:cNvSpPr/>
          <p:nvPr/>
        </p:nvSpPr>
        <p:spPr>
          <a:xfrm>
            <a:off x="5760720" y="4434840"/>
            <a:ext cx="5938113" cy="1325880"/>
          </a:xfrm>
          <a:prstGeom prst="rect">
            <a:avLst/>
          </a:prstGeom>
          <a:solidFill>
            <a:srgbClr val="F0F7FD"/>
          </a:solidFill>
          <a:ln>
            <a:noFill/>
          </a:ln>
        </p:spPr>
        <p:txBody>
          <a:bodyPr wrap="square" lIns="182880" rIns="18288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Still to agree: </a:t>
            </a:r>
            <a:r>
              <a:rPr kumimoji="0" sz="1800" b="0" i="0" u="none" strike="noStrike" kern="1200" cap="none" spc="0" normalizeH="0" baseline="0" noProof="0">
                <a:ln>
                  <a:noFill/>
                </a:ln>
                <a:solidFill>
                  <a:srgbClr val="152230"/>
                </a:solidFill>
                <a:effectLst/>
                <a:uLnTx/>
                <a:uFillTx/>
                <a:latin typeface="Gartner Sans"/>
                <a:ea typeface="Gartner Sans"/>
                <a:cs typeface="Gartner Sans"/>
              </a:rPr>
              <a:t>what happens after dispatch, and the exact customer message. Priya in IT confirms whether the AI tool may use the story and the answers.</a:t>
            </a:r>
          </a:p>
        </p:txBody>
      </p:sp>
      <p:sp>
        <p:nvSpPr>
          <p:cNvPr id="22"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 G00850352 (points 1 and 2). Worked example: workshop guide</a:t>
            </a:r>
          </a:p>
        </p:txBody>
      </p:sp>
    </p:spTree>
    <p:extLst>
      <p:ext uri="{BB962C8B-B14F-4D97-AF65-F5344CB8AC3E}">
        <p14:creationId xmlns:p14="http://schemas.microsoft.com/office/powerpoint/2010/main" val="34124163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Step 4: say what the AI agent does internally</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71</a:t>
            </a:r>
          </a:p>
        </p:txBody>
      </p:sp>
      <p:sp>
        <p:nvSpPr>
          <p:cNvPr id="10" name="Step tag"/>
          <p:cNvSpPr/>
          <p:nvPr/>
        </p:nvSpPr>
        <p:spPr>
          <a:xfrm>
            <a:off x="552297" y="1325880"/>
            <a:ext cx="1325880" cy="329184"/>
          </a:xfrm>
          <a:prstGeom prst="rect">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Gartner Sans"/>
                <a:ea typeface="Gartner Sans"/>
                <a:cs typeface="Gartner Sans"/>
              </a:rPr>
              <a:t>Step 4 of 7</a:t>
            </a:r>
          </a:p>
        </p:txBody>
      </p:sp>
      <p:sp>
        <p:nvSpPr>
          <p:cNvPr id="11" name="Design question"/>
          <p:cNvSpPr txBox="1"/>
          <p:nvPr/>
        </p:nvSpPr>
        <p:spPr>
          <a:xfrm>
            <a:off x="206105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steps, rules and policies must the AI agent follow?</a:t>
            </a:r>
          </a:p>
        </p:txBody>
      </p:sp>
      <p:sp>
        <p:nvSpPr>
          <p:cNvPr id="12" name="Part 1"/>
          <p:cNvSpPr/>
          <p:nvPr/>
        </p:nvSpPr>
        <p:spPr>
          <a:xfrm>
            <a:off x="552297" y="1828800"/>
            <a:ext cx="2878074" cy="640080"/>
          </a:xfrm>
          <a:prstGeom prst="homePlate">
            <a:avLst>
              <a:gd name="adj" fmla="val 28000"/>
            </a:avLst>
          </a:prstGeom>
          <a:solidFill>
            <a:srgbClr val="002869"/>
          </a:solidFill>
          <a:ln>
            <a:noFill/>
          </a:ln>
        </p:spPr>
        <p:txBody>
          <a:bodyPr wrap="square" lIns="73152" tIns="0" rIns="73152"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50" b="1" i="0" u="none" strike="noStrike" kern="1200" cap="none" spc="0" normalizeH="0" baseline="0" noProof="0">
                <a:ln>
                  <a:noFill/>
                </a:ln>
                <a:solidFill>
                  <a:srgbClr val="FFFFFF"/>
                </a:solidFill>
                <a:effectLst/>
                <a:uLnTx/>
                <a:uFillTx/>
                <a:latin typeface="Gartner Sans"/>
                <a:ea typeface="Gartner Sans"/>
                <a:cs typeface="Gartner Sans"/>
              </a:rPr>
              <a:t>1  Steps</a:t>
            </a:r>
          </a:p>
        </p:txBody>
      </p:sp>
      <p:sp>
        <p:nvSpPr>
          <p:cNvPr id="13" name="Part 1 example"/>
          <p:cNvSpPr txBox="1"/>
          <p:nvPr/>
        </p:nvSpPr>
        <p:spPr>
          <a:xfrm>
            <a:off x="643737" y="2651760"/>
            <a:ext cx="2466594" cy="1920240"/>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Reads the story and identifies the gaps. Drafts questions for Alex to approve. Then drafts the requirement from the answers Sam gives.</a:t>
            </a:r>
          </a:p>
        </p:txBody>
      </p:sp>
      <p:sp>
        <p:nvSpPr>
          <p:cNvPr id="14" name="Part 2"/>
          <p:cNvSpPr/>
          <p:nvPr/>
        </p:nvSpPr>
        <p:spPr>
          <a:xfrm>
            <a:off x="3338931" y="1828800"/>
            <a:ext cx="2878074" cy="640080"/>
          </a:xfrm>
          <a:prstGeom prst="chevron">
            <a:avLst>
              <a:gd name="adj" fmla="val 28000"/>
            </a:avLst>
          </a:prstGeom>
          <a:solidFill>
            <a:srgbClr val="002869"/>
          </a:solidFill>
          <a:ln>
            <a:noFill/>
          </a:ln>
        </p:spPr>
        <p:txBody>
          <a:bodyPr wrap="square" lIns="73152" tIns="0" rIns="73152"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50" b="1" i="0" u="none" strike="noStrike" kern="1200" cap="none" spc="0" normalizeH="0" baseline="0" noProof="0">
                <a:ln>
                  <a:noFill/>
                </a:ln>
                <a:solidFill>
                  <a:srgbClr val="FFFFFF"/>
                </a:solidFill>
                <a:effectLst/>
                <a:uLnTx/>
                <a:uFillTx/>
                <a:latin typeface="Gartner Sans"/>
                <a:ea typeface="Gartner Sans"/>
                <a:cs typeface="Gartner Sans"/>
              </a:rPr>
              <a:t>2  Rules</a:t>
            </a:r>
          </a:p>
        </p:txBody>
      </p:sp>
      <p:sp>
        <p:nvSpPr>
          <p:cNvPr id="15" name="Part 2 example"/>
          <p:cNvSpPr txBox="1"/>
          <p:nvPr/>
        </p:nvSpPr>
        <p:spPr>
          <a:xfrm>
            <a:off x="3430371" y="2651760"/>
            <a:ext cx="2466594" cy="1920240"/>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If Sam confirms a rule, draft a matching acceptance criterion. If an answer is missing or conflicts with another rule, flag it for Sam.</a:t>
            </a:r>
          </a:p>
        </p:txBody>
      </p:sp>
      <p:sp>
        <p:nvSpPr>
          <p:cNvPr id="16" name="Part 3"/>
          <p:cNvSpPr/>
          <p:nvPr/>
        </p:nvSpPr>
        <p:spPr>
          <a:xfrm>
            <a:off x="6125565" y="1828800"/>
            <a:ext cx="2878074" cy="640080"/>
          </a:xfrm>
          <a:prstGeom prst="chevron">
            <a:avLst>
              <a:gd name="adj" fmla="val 28000"/>
            </a:avLst>
          </a:prstGeom>
          <a:solidFill>
            <a:srgbClr val="002869"/>
          </a:solidFill>
          <a:ln>
            <a:noFill/>
          </a:ln>
        </p:spPr>
        <p:txBody>
          <a:bodyPr wrap="square" lIns="73152" tIns="0" rIns="73152"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50" b="1" i="0" u="none" strike="noStrike" kern="1200" cap="none" spc="0" normalizeH="0" baseline="0" noProof="0">
                <a:ln>
                  <a:noFill/>
                </a:ln>
                <a:solidFill>
                  <a:srgbClr val="FFFFFF"/>
                </a:solidFill>
                <a:effectLst/>
                <a:uLnTx/>
                <a:uFillTx/>
                <a:latin typeface="Gartner Sans"/>
                <a:ea typeface="Gartner Sans"/>
                <a:cs typeface="Gartner Sans"/>
              </a:rPr>
              <a:t>3  Policies</a:t>
            </a:r>
          </a:p>
        </p:txBody>
      </p:sp>
      <p:sp>
        <p:nvSpPr>
          <p:cNvPr id="17" name="Part 3 example"/>
          <p:cNvSpPr txBox="1"/>
          <p:nvPr/>
        </p:nvSpPr>
        <p:spPr>
          <a:xfrm>
            <a:off x="6217005" y="2651760"/>
            <a:ext cx="2466594" cy="1920240"/>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Use only information that is approved for the AI tool. Do not send questions until Alex approves them. Do not invent an answer.</a:t>
            </a:r>
          </a:p>
        </p:txBody>
      </p:sp>
      <p:sp>
        <p:nvSpPr>
          <p:cNvPr id="18" name="Part 4"/>
          <p:cNvSpPr/>
          <p:nvPr/>
        </p:nvSpPr>
        <p:spPr>
          <a:xfrm>
            <a:off x="8912199" y="1828800"/>
            <a:ext cx="2786634" cy="640080"/>
          </a:xfrm>
          <a:prstGeom prst="chevron">
            <a:avLst>
              <a:gd name="adj" fmla="val 28000"/>
            </a:avLst>
          </a:prstGeom>
          <a:solidFill>
            <a:srgbClr val="002869"/>
          </a:solidFill>
          <a:ln>
            <a:noFill/>
          </a:ln>
        </p:spPr>
        <p:txBody>
          <a:bodyPr wrap="square" lIns="73152" tIns="0" rIns="73152"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Gartner Sans"/>
                <a:ea typeface="Gartner Sans"/>
                <a:cs typeface="Gartner Sans"/>
              </a:rPr>
              <a:t>4  Checks before replying</a:t>
            </a:r>
          </a:p>
        </p:txBody>
      </p:sp>
      <p:sp>
        <p:nvSpPr>
          <p:cNvPr id="19" name="Part 4 example"/>
          <p:cNvSpPr txBox="1"/>
          <p:nvPr/>
        </p:nvSpPr>
        <p:spPr>
          <a:xfrm>
            <a:off x="9003639" y="2651760"/>
            <a:ext cx="2466594" cy="1920240"/>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152230"/>
                </a:solidFill>
                <a:effectLst/>
                <a:uLnTx/>
                <a:uFillTx/>
                <a:latin typeface="Gartner Sans"/>
                <a:ea typeface="Gartner Sans"/>
                <a:cs typeface="Gartner Sans"/>
              </a:rPr>
              <a:t>Each criterion matches the confirmed answer. Both dispatch cases are covered. Every unresolved point appears as an open question.</a:t>
            </a:r>
          </a:p>
        </p:txBody>
      </p:sp>
      <p:sp>
        <p:nvSpPr>
          <p:cNvPr id="20" name="Note"/>
          <p:cNvSpPr/>
          <p:nvPr/>
        </p:nvSpPr>
        <p:spPr>
          <a:xfrm>
            <a:off x="552297" y="4754880"/>
            <a:ext cx="11146536" cy="1005840"/>
          </a:xfrm>
          <a:prstGeom prst="rect">
            <a:avLst/>
          </a:prstGeom>
          <a:solidFill>
            <a:srgbClr val="F0F7FD"/>
          </a:solidFill>
          <a:ln>
            <a:noFill/>
          </a:ln>
        </p:spPr>
        <p:txBody>
          <a:bodyPr wrap="square" lIns="228600" rIns="22860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02869"/>
                </a:solidFill>
                <a:effectLst/>
                <a:uLnTx/>
                <a:uFillTx/>
                <a:latin typeface="Gartner Sans"/>
                <a:ea typeface="Gartner Sans"/>
                <a:cs typeface="Gartner Sans"/>
              </a:rPr>
              <a:t>Plain words, no code. </a:t>
            </a:r>
            <a:r>
              <a:rPr kumimoji="0" sz="1500" b="0" i="0" u="none" strike="noStrike" kern="1200" cap="none" spc="0" normalizeH="0" baseline="0" noProof="0">
                <a:ln>
                  <a:noFill/>
                </a:ln>
                <a:solidFill>
                  <a:srgbClr val="152230"/>
                </a:solidFill>
                <a:effectLst/>
                <a:uLnTx/>
                <a:uFillTx/>
                <a:latin typeface="Gartner Sans"/>
                <a:ea typeface="Gartner Sans"/>
                <a:cs typeface="Gartner Sans"/>
              </a:rPr>
              <a:t>Say who confirms each rule. In a real agent these become the harness: context files, enforcement hooks and verification gates, so that the agent is grounded, constrained and validated before its output is accepted.</a:t>
            </a:r>
          </a:p>
        </p:txBody>
      </p:sp>
      <p:sp>
        <p:nvSpPr>
          <p:cNvPr id="21"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 G00862738 (note). Worked example: workshop guide</a:t>
            </a:r>
          </a:p>
        </p:txBody>
      </p:sp>
    </p:spTree>
    <p:extLst>
      <p:ext uri="{BB962C8B-B14F-4D97-AF65-F5344CB8AC3E}">
        <p14:creationId xmlns:p14="http://schemas.microsoft.com/office/powerpoint/2010/main" val="12961562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Step 5: say what comes back and who checks it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72</a:t>
            </a:r>
          </a:p>
        </p:txBody>
      </p:sp>
      <p:sp>
        <p:nvSpPr>
          <p:cNvPr id="10" name="Step tag"/>
          <p:cNvSpPr/>
          <p:nvPr/>
        </p:nvSpPr>
        <p:spPr>
          <a:xfrm>
            <a:off x="552297" y="1325880"/>
            <a:ext cx="1325880" cy="329184"/>
          </a:xfrm>
          <a:prstGeom prst="rect">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FFFFFF"/>
                </a:solidFill>
                <a:effectLst/>
                <a:uLnTx/>
                <a:uFillTx/>
                <a:latin typeface="Gartner Sans"/>
                <a:ea typeface="Gartner Sans"/>
                <a:cs typeface="Gartner Sans"/>
              </a:rPr>
              <a:t>Step 5 of 7</a:t>
            </a:r>
          </a:p>
        </p:txBody>
      </p:sp>
      <p:sp>
        <p:nvSpPr>
          <p:cNvPr id="11" name="Design question"/>
          <p:cNvSpPr txBox="1"/>
          <p:nvPr/>
        </p:nvSpPr>
        <p:spPr>
          <a:xfrm>
            <a:off x="206105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does the AI agent return, who checks it, and what may it do alone?</a:t>
            </a:r>
          </a:p>
        </p:txBody>
      </p:sp>
      <p:sp>
        <p:nvSpPr>
          <p:cNvPr id="12" name="What comes back heading"/>
          <p:cNvSpPr/>
          <p:nvPr/>
        </p:nvSpPr>
        <p:spPr>
          <a:xfrm>
            <a:off x="552297" y="1828800"/>
            <a:ext cx="3532632" cy="685800"/>
          </a:xfrm>
          <a:prstGeom prst="rect">
            <a:avLst/>
          </a:prstGeom>
          <a:solidFill>
            <a:srgbClr val="002869"/>
          </a:solidFill>
          <a:ln>
            <a:noFill/>
          </a:ln>
        </p:spPr>
        <p:txBody>
          <a:bodyPr wrap="square" lIns="201168" tIns="0" rIns="18288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FFFFFF"/>
                </a:solidFill>
                <a:effectLst/>
                <a:uLnTx/>
                <a:uFillTx/>
                <a:latin typeface="Gartner Sans"/>
                <a:ea typeface="Gartner Sans"/>
                <a:cs typeface="Gartner Sans"/>
              </a:rPr>
              <a:t>What comes back</a:t>
            </a:r>
          </a:p>
        </p:txBody>
      </p:sp>
      <p:sp>
        <p:nvSpPr>
          <p:cNvPr id="13" name="What comes back body"/>
          <p:cNvSpPr/>
          <p:nvPr/>
        </p:nvSpPr>
        <p:spPr>
          <a:xfrm>
            <a:off x="552297" y="2514600"/>
            <a:ext cx="3532632" cy="2194560"/>
          </a:xfrm>
          <a:prstGeom prst="rect">
            <a:avLst/>
          </a:prstGeom>
          <a:solidFill>
            <a:srgbClr val="F0F7FD"/>
          </a:solidFill>
          <a:ln>
            <a:noFill/>
          </a:ln>
        </p:spPr>
        <p:txBody>
          <a:bodyPr wrap="square" lIns="201168" tIns="182880" rIns="182880" bIns="9144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A draft story with acceptance criteria for before and after dispatch, a link to the answers Sam gave and any open questions.</a:t>
            </a:r>
          </a:p>
        </p:txBody>
      </p:sp>
      <p:sp>
        <p:nvSpPr>
          <p:cNvPr id="14" name="Who checks it heading"/>
          <p:cNvSpPr/>
          <p:nvPr/>
        </p:nvSpPr>
        <p:spPr>
          <a:xfrm>
            <a:off x="4359249" y="1828800"/>
            <a:ext cx="3532632" cy="685800"/>
          </a:xfrm>
          <a:prstGeom prst="rect">
            <a:avLst/>
          </a:prstGeom>
          <a:solidFill>
            <a:srgbClr val="002869"/>
          </a:solidFill>
          <a:ln>
            <a:noFill/>
          </a:ln>
        </p:spPr>
        <p:txBody>
          <a:bodyPr wrap="square" lIns="201168" tIns="0" rIns="18288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FFFFFF"/>
                </a:solidFill>
                <a:effectLst/>
                <a:uLnTx/>
                <a:uFillTx/>
                <a:latin typeface="Gartner Sans"/>
                <a:ea typeface="Gartner Sans"/>
                <a:cs typeface="Gartner Sans"/>
              </a:rPr>
              <a:t>Who checks it</a:t>
            </a:r>
          </a:p>
        </p:txBody>
      </p:sp>
      <p:sp>
        <p:nvSpPr>
          <p:cNvPr id="15" name="Who checks it body"/>
          <p:cNvSpPr/>
          <p:nvPr/>
        </p:nvSpPr>
        <p:spPr>
          <a:xfrm>
            <a:off x="4359249" y="2514600"/>
            <a:ext cx="3532632" cy="2194560"/>
          </a:xfrm>
          <a:prstGeom prst="rect">
            <a:avLst/>
          </a:prstGeom>
          <a:solidFill>
            <a:srgbClr val="F0F7FD"/>
          </a:solidFill>
          <a:ln>
            <a:noFill/>
          </a:ln>
        </p:spPr>
        <p:txBody>
          <a:bodyPr wrap="square" lIns="201168" tIns="182880" rIns="182880" bIns="9144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Sam confirms the requirements. Alex checks that the team can build and test them. Alex then updates the story.</a:t>
            </a:r>
          </a:p>
        </p:txBody>
      </p:sp>
      <p:sp>
        <p:nvSpPr>
          <p:cNvPr id="16" name="What the AI agent may do alone heading"/>
          <p:cNvSpPr/>
          <p:nvPr/>
        </p:nvSpPr>
        <p:spPr>
          <a:xfrm>
            <a:off x="8166201" y="1828800"/>
            <a:ext cx="3532632" cy="685800"/>
          </a:xfrm>
          <a:prstGeom prst="rect">
            <a:avLst/>
          </a:prstGeom>
          <a:solidFill>
            <a:srgbClr val="002869"/>
          </a:solidFill>
          <a:ln>
            <a:noFill/>
          </a:ln>
        </p:spPr>
        <p:txBody>
          <a:bodyPr wrap="square" lIns="201168" tIns="0" rIns="18288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FFFFFF"/>
                </a:solidFill>
                <a:effectLst/>
                <a:uLnTx/>
                <a:uFillTx/>
                <a:latin typeface="Gartner Sans"/>
                <a:ea typeface="Gartner Sans"/>
                <a:cs typeface="Gartner Sans"/>
              </a:rPr>
              <a:t>What the AI agent may do alone</a:t>
            </a:r>
          </a:p>
        </p:txBody>
      </p:sp>
      <p:sp>
        <p:nvSpPr>
          <p:cNvPr id="17" name="What the AI agent may do alone body"/>
          <p:cNvSpPr/>
          <p:nvPr/>
        </p:nvSpPr>
        <p:spPr>
          <a:xfrm>
            <a:off x="8166201" y="2514600"/>
            <a:ext cx="3532632" cy="2194560"/>
          </a:xfrm>
          <a:prstGeom prst="rect">
            <a:avLst/>
          </a:prstGeom>
          <a:solidFill>
            <a:srgbClr val="F0F7FD"/>
          </a:solidFill>
          <a:ln>
            <a:noFill/>
          </a:ln>
        </p:spPr>
        <p:txBody>
          <a:bodyPr wrap="square" lIns="201168" tIns="182880" rIns="182880" bIns="9144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The AI agent may read approved information and draft. Alex approves the questions before they are sent. People update the story.</a:t>
            </a:r>
          </a:p>
        </p:txBody>
      </p:sp>
      <p:sp>
        <p:nvSpPr>
          <p:cNvPr id="18" name="Note"/>
          <p:cNvSpPr/>
          <p:nvPr/>
        </p:nvSpPr>
        <p:spPr>
          <a:xfrm>
            <a:off x="552297" y="4892040"/>
            <a:ext cx="11146536" cy="868680"/>
          </a:xfrm>
          <a:prstGeom prst="rect">
            <a:avLst/>
          </a:prstGeom>
          <a:solidFill>
            <a:srgbClr val="F0F7FD"/>
          </a:solidFill>
          <a:ln>
            <a:noFill/>
          </a:ln>
        </p:spPr>
        <p:txBody>
          <a:bodyPr wrap="square" lIns="228600" rIns="22860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50" b="1" i="0" u="none" strike="noStrike" kern="1200" cap="none" spc="0" normalizeH="0" baseline="0" noProof="0">
                <a:ln>
                  <a:noFill/>
                </a:ln>
                <a:solidFill>
                  <a:srgbClr val="002869"/>
                </a:solidFill>
                <a:effectLst/>
                <a:uLnTx/>
                <a:uFillTx/>
                <a:latin typeface="Gartner Sans"/>
                <a:ea typeface="Gartner Sans"/>
                <a:cs typeface="Gartner Sans"/>
              </a:rPr>
              <a:t>The AI agent is a drafter, not the final authority. </a:t>
            </a:r>
            <a:r>
              <a:rPr kumimoji="0" sz="1650" b="0" i="0" u="none" strike="noStrike" kern="1200" cap="none" spc="0" normalizeH="0" baseline="0" noProof="0">
                <a:ln>
                  <a:noFill/>
                </a:ln>
                <a:solidFill>
                  <a:srgbClr val="152230"/>
                </a:solidFill>
                <a:effectLst/>
                <a:uLnTx/>
                <a:uFillTx/>
                <a:latin typeface="Gartner Sans"/>
                <a:ea typeface="Gartner Sans"/>
                <a:cs typeface="Gartner Sans"/>
              </a:rPr>
              <a:t>Name one person who is responsible for accepting the result.</a:t>
            </a:r>
          </a:p>
        </p:txBody>
      </p:sp>
      <p:sp>
        <p:nvSpPr>
          <p:cNvPr id="19"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G00858533; G00850352 (note). Worked example: workshop guide</a:t>
            </a:r>
          </a:p>
        </p:txBody>
      </p:sp>
    </p:spTree>
    <p:extLst>
      <p:ext uri="{BB962C8B-B14F-4D97-AF65-F5344CB8AC3E}">
        <p14:creationId xmlns:p14="http://schemas.microsoft.com/office/powerpoint/2010/main" val="26854411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Step 6: test what could go wrong</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73</a:t>
            </a:r>
          </a:p>
        </p:txBody>
      </p:sp>
      <p:sp>
        <p:nvSpPr>
          <p:cNvPr id="10" name="Step tag"/>
          <p:cNvSpPr/>
          <p:nvPr/>
        </p:nvSpPr>
        <p:spPr>
          <a:xfrm>
            <a:off x="552297" y="1325880"/>
            <a:ext cx="1325880" cy="329184"/>
          </a:xfrm>
          <a:prstGeom prst="rect">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FFFFFF"/>
                </a:solidFill>
                <a:effectLst/>
                <a:uLnTx/>
                <a:uFillTx/>
                <a:latin typeface="Gartner Sans"/>
                <a:ea typeface="Gartner Sans"/>
                <a:cs typeface="Gartner Sans"/>
              </a:rPr>
              <a:t>Step 6 of 7</a:t>
            </a:r>
          </a:p>
        </p:txBody>
      </p:sp>
      <p:sp>
        <p:nvSpPr>
          <p:cNvPr id="11" name="Design question"/>
          <p:cNvSpPr txBox="1"/>
          <p:nvPr/>
        </p:nvSpPr>
        <p:spPr>
          <a:xfrm>
            <a:off x="206105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should the AI agent say or do when something is missing or wrong?</a:t>
            </a:r>
          </a:p>
        </p:txBody>
      </p:sp>
      <p:graphicFrame>
        <p:nvGraphicFramePr>
          <p:cNvPr id="12" name="Table"/>
          <p:cNvGraphicFramePr>
            <a:graphicFrameLocks noGrp="1"/>
          </p:cNvGraphicFramePr>
          <p:nvPr/>
        </p:nvGraphicFramePr>
        <p:xfrm>
          <a:off x="552297" y="1828800"/>
          <a:ext cx="11146535" cy="1572768"/>
        </p:xfrm>
        <a:graphic>
          <a:graphicData uri="http://schemas.openxmlformats.org/drawingml/2006/table">
            <a:tbl>
              <a:tblPr>
                <a:tableStyleId>{2D5ABB26-0587-4C30-8999-92F81FD0307C}</a:tableStyleId>
              </a:tblPr>
              <a:tblGrid>
                <a:gridCol w="31089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2916935">
                  <a:extLst>
                    <a:ext uri="{9D8B030D-6E8A-4147-A177-3AD203B41FA5}">
                      <a16:colId xmlns:a16="http://schemas.microsoft.com/office/drawing/2014/main" val="20002"/>
                    </a:ext>
                  </a:extLst>
                </a:gridCol>
              </a:tblGrid>
              <a:tr h="365760">
                <a:tc>
                  <a:txBody>
                    <a:bodyPr/>
                    <a:lstStyle/>
                    <a:p>
                      <a:pPr algn="l"/>
                      <a:r>
                        <a:rPr sz="1700" b="1">
                          <a:solidFill>
                            <a:srgbClr val="FFFFFF"/>
                          </a:solidFill>
                          <a:latin typeface="Gartner Sans"/>
                          <a:ea typeface="Gartner Sans"/>
                          <a:cs typeface="Gartner Sans"/>
                        </a:rPr>
                        <a:t>Problem to act out</a:t>
                      </a:r>
                    </a:p>
                  </a:txBody>
                  <a:tcPr marL="137160" marR="137160" anchor="ctr">
                    <a:solidFill>
                      <a:srgbClr val="002869"/>
                    </a:solidFill>
                  </a:tcPr>
                </a:tc>
                <a:tc>
                  <a:txBody>
                    <a:bodyPr/>
                    <a:lstStyle/>
                    <a:p>
                      <a:pPr algn="l"/>
                      <a:r>
                        <a:rPr sz="1700" b="1">
                          <a:solidFill>
                            <a:srgbClr val="FFFFFF"/>
                          </a:solidFill>
                          <a:latin typeface="Gartner Sans"/>
                          <a:ea typeface="Gartner Sans"/>
                          <a:cs typeface="Gartner Sans"/>
                        </a:rPr>
                        <a:t>What the AI agent says or does</a:t>
                      </a:r>
                    </a:p>
                  </a:txBody>
                  <a:tcPr marL="137160" marR="137160" anchor="ctr">
                    <a:solidFill>
                      <a:srgbClr val="002869"/>
                    </a:solidFill>
                  </a:tcPr>
                </a:tc>
                <a:tc>
                  <a:txBody>
                    <a:bodyPr/>
                    <a:lstStyle/>
                    <a:p>
                      <a:pPr algn="l"/>
                      <a:r>
                        <a:rPr sz="1700" b="1">
                          <a:solidFill>
                            <a:srgbClr val="FFFFFF"/>
                          </a:solidFill>
                          <a:latin typeface="Gartner Sans"/>
                          <a:ea typeface="Gartner Sans"/>
                          <a:cs typeface="Gartner Sans"/>
                        </a:rPr>
                        <a:t>Who acts next</a:t>
                      </a:r>
                    </a:p>
                  </a:txBody>
                  <a:tcPr marL="137160" marR="137160" anchor="ctr">
                    <a:solidFill>
                      <a:srgbClr val="002869"/>
                    </a:solidFill>
                  </a:tcPr>
                </a:tc>
                <a:extLst>
                  <a:ext uri="{0D108BD9-81ED-4DB2-BD59-A6C34878D82A}">
                    <a16:rowId xmlns:a16="http://schemas.microsoft.com/office/drawing/2014/main" val="10000"/>
                  </a:ext>
                </a:extLst>
              </a:tr>
              <a:tr h="603504">
                <a:tc>
                  <a:txBody>
                    <a:bodyPr/>
                    <a:lstStyle/>
                    <a:p>
                      <a:pPr algn="l"/>
                      <a:r>
                        <a:rPr sz="1700" b="1">
                          <a:solidFill>
                            <a:srgbClr val="152230"/>
                          </a:solidFill>
                          <a:latin typeface="Gartner Sans"/>
                          <a:ea typeface="Gartner Sans"/>
                          <a:cs typeface="Gartner Sans"/>
                        </a:rPr>
                        <a:t>Sam has not confirmed the rule</a:t>
                      </a:r>
                    </a:p>
                  </a:txBody>
                  <a:tcPr marL="137160" marR="137160" anchor="ctr">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Asks Sam for clarification and leaves the rule unresolved. It must not invent the answer.</a:t>
                      </a:r>
                    </a:p>
                  </a:txBody>
                  <a:tcPr marL="137160" marR="137160" anchor="ctr">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Sam, the product owner</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603504">
                <a:tc>
                  <a:txBody>
                    <a:bodyPr/>
                    <a:lstStyle/>
                    <a:p>
                      <a:pPr algn="l"/>
                      <a:r>
                        <a:rPr sz="1700" b="1">
                          <a:solidFill>
                            <a:srgbClr val="152230"/>
                          </a:solidFill>
                          <a:latin typeface="Gartner Sans"/>
                          <a:ea typeface="Gartner Sans"/>
                          <a:cs typeface="Gartner Sans"/>
                        </a:rPr>
                        <a:t>The draft misstates the rule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Revises the draft once the error is flagged. Sam and Alex check again.</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Alex or Sam flags the error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bl>
          </a:graphicData>
        </a:graphic>
      </p:graphicFrame>
      <p:sp>
        <p:nvSpPr>
          <p:cNvPr id="13" name="Note"/>
          <p:cNvSpPr/>
          <p:nvPr/>
        </p:nvSpPr>
        <p:spPr>
          <a:xfrm>
            <a:off x="552297" y="3566160"/>
            <a:ext cx="11146536" cy="502920"/>
          </a:xfrm>
          <a:prstGeom prst="rect">
            <a:avLst/>
          </a:prstGeom>
          <a:solidFill>
            <a:srgbClr val="F0F7FD"/>
          </a:solidFill>
          <a:ln>
            <a:noFill/>
          </a:ln>
        </p:spPr>
        <p:txBody>
          <a:bodyPr wrap="square" lIns="228600" rIns="22860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Also try: </a:t>
            </a:r>
            <a:r>
              <a:rPr kumimoji="0" sz="1800" b="0" i="0" u="none" strike="noStrike" kern="1200" cap="none" spc="0" normalizeH="0" baseline="0" noProof="0">
                <a:ln>
                  <a:noFill/>
                </a:ln>
                <a:solidFill>
                  <a:srgbClr val="152230"/>
                </a:solidFill>
                <a:effectLst/>
                <a:uLnTx/>
                <a:uFillTx/>
                <a:latin typeface="Gartner Sans"/>
                <a:ea typeface="Gartner Sans"/>
                <a:cs typeface="Gartner Sans"/>
              </a:rPr>
              <a:t>conflicting answers, a person who is unavailable, and an answer you cannot check.</a:t>
            </a:r>
          </a:p>
        </p:txBody>
      </p:sp>
      <p:sp>
        <p:nvSpPr>
          <p:cNvPr id="14" name="Number 1"/>
          <p:cNvSpPr/>
          <p:nvPr/>
        </p:nvSpPr>
        <p:spPr>
          <a:xfrm>
            <a:off x="552297" y="4343400"/>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1</a:t>
            </a:r>
          </a:p>
        </p:txBody>
      </p:sp>
      <p:sp>
        <p:nvSpPr>
          <p:cNvPr id="15" name="Point 1"/>
          <p:cNvSpPr txBox="1"/>
          <p:nvPr/>
        </p:nvSpPr>
        <p:spPr>
          <a:xfrm>
            <a:off x="991209" y="4361688"/>
            <a:ext cx="3093720" cy="1371600"/>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Agents without clear context drift. At Revvity, agents tried to move secrets and API keys into the client.</a:t>
            </a:r>
          </a:p>
        </p:txBody>
      </p:sp>
      <p:sp>
        <p:nvSpPr>
          <p:cNvPr id="16" name="Number 2"/>
          <p:cNvSpPr/>
          <p:nvPr/>
        </p:nvSpPr>
        <p:spPr>
          <a:xfrm>
            <a:off x="4359249" y="4343400"/>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2</a:t>
            </a:r>
          </a:p>
        </p:txBody>
      </p:sp>
      <p:sp>
        <p:nvSpPr>
          <p:cNvPr id="17" name="Point 2"/>
          <p:cNvSpPr txBox="1"/>
          <p:nvPr/>
        </p:nvSpPr>
        <p:spPr>
          <a:xfrm>
            <a:off x="4798161" y="4361688"/>
            <a:ext cx="3093720" cy="1371600"/>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Large volumes of agent output can overload the people who review it.</a:t>
            </a:r>
          </a:p>
        </p:txBody>
      </p:sp>
      <p:sp>
        <p:nvSpPr>
          <p:cNvPr id="18" name="Number 3"/>
          <p:cNvSpPr/>
          <p:nvPr/>
        </p:nvSpPr>
        <p:spPr>
          <a:xfrm>
            <a:off x="8166201" y="4343400"/>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3</a:t>
            </a:r>
          </a:p>
        </p:txBody>
      </p:sp>
      <p:sp>
        <p:nvSpPr>
          <p:cNvPr id="19" name="Point 3"/>
          <p:cNvSpPr txBox="1"/>
          <p:nvPr/>
        </p:nvSpPr>
        <p:spPr>
          <a:xfrm>
            <a:off x="8605113" y="4361688"/>
            <a:ext cx="3093720" cy="1371600"/>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Every problem needs a named person who acts next.</a:t>
            </a:r>
          </a:p>
        </p:txBody>
      </p:sp>
      <p:sp>
        <p:nvSpPr>
          <p:cNvPr id="20"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 G00850352 (points 1 and 2). Worked example: workshop guide</a:t>
            </a:r>
          </a:p>
        </p:txBody>
      </p:sp>
    </p:spTree>
    <p:extLst>
      <p:ext uri="{BB962C8B-B14F-4D97-AF65-F5344CB8AC3E}">
        <p14:creationId xmlns:p14="http://schemas.microsoft.com/office/powerpoint/2010/main" val="28394681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Step 7: agree a small test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74</a:t>
            </a:r>
          </a:p>
        </p:txBody>
      </p:sp>
      <p:sp>
        <p:nvSpPr>
          <p:cNvPr id="10" name="Step tag"/>
          <p:cNvSpPr/>
          <p:nvPr/>
        </p:nvSpPr>
        <p:spPr>
          <a:xfrm>
            <a:off x="552297" y="1325880"/>
            <a:ext cx="1325880" cy="329184"/>
          </a:xfrm>
          <a:prstGeom prst="rect">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FFFFFF"/>
                </a:solidFill>
                <a:effectLst/>
                <a:uLnTx/>
                <a:uFillTx/>
                <a:latin typeface="Gartner Sans"/>
                <a:ea typeface="Gartner Sans"/>
                <a:cs typeface="Gartner Sans"/>
              </a:rPr>
              <a:t>Step 7 of 7</a:t>
            </a:r>
          </a:p>
        </p:txBody>
      </p:sp>
      <p:sp>
        <p:nvSpPr>
          <p:cNvPr id="11" name="Design question"/>
          <p:cNvSpPr txBox="1"/>
          <p:nvPr/>
        </p:nvSpPr>
        <p:spPr>
          <a:xfrm>
            <a:off x="206105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How will we try it, and how will we know that it helped?</a:t>
            </a:r>
          </a:p>
        </p:txBody>
      </p:sp>
      <p:sp>
        <p:nvSpPr>
          <p:cNvPr id="12" name="The small test heading"/>
          <p:cNvSpPr/>
          <p:nvPr/>
        </p:nvSpPr>
        <p:spPr>
          <a:xfrm>
            <a:off x="552297" y="1828800"/>
            <a:ext cx="3532632" cy="548640"/>
          </a:xfrm>
          <a:prstGeom prst="rect">
            <a:avLst/>
          </a:prstGeom>
          <a:solidFill>
            <a:srgbClr val="002869"/>
          </a:solidFill>
          <a:ln>
            <a:noFill/>
          </a:ln>
        </p:spPr>
        <p:txBody>
          <a:bodyPr wrap="square" lIns="201168" tIns="0" rIns="18288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FFFFFF"/>
                </a:solidFill>
                <a:effectLst/>
                <a:uLnTx/>
                <a:uFillTx/>
                <a:latin typeface="Gartner Sans"/>
                <a:ea typeface="Gartner Sans"/>
                <a:cs typeface="Gartner Sans"/>
              </a:rPr>
              <a:t>The small test</a:t>
            </a:r>
          </a:p>
        </p:txBody>
      </p:sp>
      <p:sp>
        <p:nvSpPr>
          <p:cNvPr id="13" name="The small test body"/>
          <p:cNvSpPr/>
          <p:nvPr/>
        </p:nvSpPr>
        <p:spPr>
          <a:xfrm>
            <a:off x="552297" y="2377440"/>
            <a:ext cx="3532632" cy="2103120"/>
          </a:xfrm>
          <a:prstGeom prst="rect">
            <a:avLst/>
          </a:prstGeom>
          <a:solidFill>
            <a:srgbClr val="F0F7FD"/>
          </a:solidFill>
          <a:ln>
            <a:noFill/>
          </a:ln>
        </p:spPr>
        <p:txBody>
          <a:bodyPr wrap="square" lIns="201168" tIns="182880" rIns="182880" bIns="9144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Alex tests five unclear stories with Sam, once Priya confirms that the AI tool is suitable and access is allowed.</a:t>
            </a:r>
          </a:p>
        </p:txBody>
      </p:sp>
      <p:sp>
        <p:nvSpPr>
          <p:cNvPr id="14" name="How we will know heading"/>
          <p:cNvSpPr/>
          <p:nvPr/>
        </p:nvSpPr>
        <p:spPr>
          <a:xfrm>
            <a:off x="4359249" y="1828800"/>
            <a:ext cx="3532632" cy="548640"/>
          </a:xfrm>
          <a:prstGeom prst="rect">
            <a:avLst/>
          </a:prstGeom>
          <a:solidFill>
            <a:srgbClr val="002869"/>
          </a:solidFill>
          <a:ln>
            <a:noFill/>
          </a:ln>
        </p:spPr>
        <p:txBody>
          <a:bodyPr wrap="square" lIns="201168" tIns="0" rIns="18288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FFFFFF"/>
                </a:solidFill>
                <a:effectLst/>
                <a:uLnTx/>
                <a:uFillTx/>
                <a:latin typeface="Gartner Sans"/>
                <a:ea typeface="Gartner Sans"/>
                <a:cs typeface="Gartner Sans"/>
              </a:rPr>
              <a:t>How we will know</a:t>
            </a:r>
          </a:p>
        </p:txBody>
      </p:sp>
      <p:sp>
        <p:nvSpPr>
          <p:cNvPr id="15" name="How we will know body"/>
          <p:cNvSpPr/>
          <p:nvPr/>
        </p:nvSpPr>
        <p:spPr>
          <a:xfrm>
            <a:off x="4359249" y="2377440"/>
            <a:ext cx="3532632" cy="2103120"/>
          </a:xfrm>
          <a:prstGeom prst="rect">
            <a:avLst/>
          </a:prstGeom>
          <a:solidFill>
            <a:srgbClr val="F0F7FD"/>
          </a:solidFill>
          <a:ln>
            <a:noFill/>
          </a:ln>
        </p:spPr>
        <p:txBody>
          <a:bodyPr wrap="square" lIns="201168" tIns="182880" rIns="182880" bIns="9144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Alex compares clarification rounds and total staff time with today, including time spent checking. The team stops if an unconfirmed AI claim enters an agreed story.</a:t>
            </a:r>
          </a:p>
        </p:txBody>
      </p:sp>
      <p:sp>
        <p:nvSpPr>
          <p:cNvPr id="16" name="The next action heading"/>
          <p:cNvSpPr/>
          <p:nvPr/>
        </p:nvSpPr>
        <p:spPr>
          <a:xfrm>
            <a:off x="8166201" y="1828800"/>
            <a:ext cx="3532632" cy="548640"/>
          </a:xfrm>
          <a:prstGeom prst="rect">
            <a:avLst/>
          </a:prstGeom>
          <a:solidFill>
            <a:srgbClr val="002869"/>
          </a:solidFill>
          <a:ln>
            <a:noFill/>
          </a:ln>
        </p:spPr>
        <p:txBody>
          <a:bodyPr wrap="square" lIns="201168" tIns="0" rIns="18288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FFFFFF"/>
                </a:solidFill>
                <a:effectLst/>
                <a:uLnTx/>
                <a:uFillTx/>
                <a:latin typeface="Gartner Sans"/>
                <a:ea typeface="Gartner Sans"/>
                <a:cs typeface="Gartner Sans"/>
              </a:rPr>
              <a:t>The next action</a:t>
            </a:r>
          </a:p>
        </p:txBody>
      </p:sp>
      <p:sp>
        <p:nvSpPr>
          <p:cNvPr id="17" name="The next action body"/>
          <p:cNvSpPr/>
          <p:nvPr/>
        </p:nvSpPr>
        <p:spPr>
          <a:xfrm>
            <a:off x="8166201" y="2377440"/>
            <a:ext cx="3532632" cy="2103120"/>
          </a:xfrm>
          <a:prstGeom prst="rect">
            <a:avLst/>
          </a:prstGeom>
          <a:solidFill>
            <a:srgbClr val="F0F7FD"/>
          </a:solidFill>
          <a:ln>
            <a:noFill/>
          </a:ln>
        </p:spPr>
        <p:txBody>
          <a:bodyPr wrap="square" lIns="201168" tIns="182880" rIns="182880" bIns="91440" rtlCol="0" anchor="t"/>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152230"/>
                </a:solidFill>
                <a:effectLst/>
                <a:uLnTx/>
                <a:uFillTx/>
                <a:latin typeface="Gartner Sans"/>
                <a:ea typeface="Gartner Sans"/>
                <a:cs typeface="Gartner Sans"/>
              </a:rPr>
              <a:t>Priya checks access by Monday. Alex and Sam review the results on Friday and decide whether to continue.</a:t>
            </a:r>
          </a:p>
        </p:txBody>
      </p:sp>
      <p:sp>
        <p:nvSpPr>
          <p:cNvPr id="18" name="Note"/>
          <p:cNvSpPr/>
          <p:nvPr/>
        </p:nvSpPr>
        <p:spPr>
          <a:xfrm>
            <a:off x="552297" y="4754880"/>
            <a:ext cx="11146536" cy="960120"/>
          </a:xfrm>
          <a:prstGeom prst="rect">
            <a:avLst/>
          </a:prstGeom>
          <a:solidFill>
            <a:srgbClr val="F0F7FD"/>
          </a:solidFill>
          <a:ln>
            <a:noFill/>
          </a:ln>
        </p:spPr>
        <p:txBody>
          <a:bodyPr wrap="square" lIns="228600" rIns="22860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Gartner: </a:t>
            </a:r>
            <a:r>
              <a:rPr kumimoji="0" sz="1800" b="0" i="0" u="none" strike="noStrike" kern="1200" cap="none" spc="0" normalizeH="0" baseline="0" noProof="0">
                <a:ln>
                  <a:noFill/>
                </a:ln>
                <a:solidFill>
                  <a:srgbClr val="152230"/>
                </a:solidFill>
                <a:effectLst/>
                <a:uLnTx/>
                <a:uFillTx/>
                <a:latin typeface="Gartner Sans"/>
                <a:ea typeface="Gartner Sans"/>
                <a:cs typeface="Gartner Sans"/>
              </a:rPr>
              <a:t>pilot in real workflows and measure against a baseline. Without workflow change, AI can relocate effort and not reduce it, so count the time people spend checking.</a:t>
            </a:r>
          </a:p>
        </p:txBody>
      </p:sp>
      <p:sp>
        <p:nvSpPr>
          <p:cNvPr id="19"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G00844726 (pilots and baselines); G00850352 (relocated effort). Worked example: workshop guide</a:t>
            </a:r>
          </a:p>
        </p:txBody>
      </p:sp>
    </p:spTree>
    <p:extLst>
      <p:ext uri="{BB962C8B-B14F-4D97-AF65-F5344CB8AC3E}">
        <p14:creationId xmlns:p14="http://schemas.microsoft.com/office/powerpoint/2010/main" val="790114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From the worked example to your own agent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75</a:t>
            </a:r>
          </a:p>
        </p:txBody>
      </p:sp>
      <p:sp>
        <p:nvSpPr>
          <p:cNvPr id="10" name="Card heading"/>
          <p:cNvSpPr/>
          <p:nvPr/>
        </p:nvSpPr>
        <p:spPr>
          <a:xfrm>
            <a:off x="552297" y="1325880"/>
            <a:ext cx="5074920" cy="502920"/>
          </a:xfrm>
          <a:prstGeom prst="rect">
            <a:avLst/>
          </a:prstGeom>
          <a:solidFill>
            <a:srgbClr val="F0F7FD"/>
          </a:solidFill>
          <a:ln w="12700">
            <a:solidFill>
              <a:srgbClr val="D0D7DF"/>
            </a:solidFill>
          </a:ln>
        </p:spPr>
        <p:txBody>
          <a:bodyPr wrap="square" lIns="228600" tIns="0" rIns="228600" bIns="0" rtlCol="0" anchor="ctr"/>
          <a:lstStyle/>
          <a:p>
            <a:pPr algn="l"/>
            <a:r>
              <a:rPr sz="1800" b="1">
                <a:solidFill>
                  <a:srgbClr val="002869"/>
                </a:solidFill>
                <a:latin typeface="Gartner Sans"/>
                <a:ea typeface="Gartner Sans"/>
                <a:cs typeface="Gartner Sans"/>
              </a:rPr>
              <a:t>What Gartner sees</a:t>
            </a:r>
          </a:p>
        </p:txBody>
      </p:sp>
      <p:sp>
        <p:nvSpPr>
          <p:cNvPr id="11" name="Card body"/>
          <p:cNvSpPr/>
          <p:nvPr/>
        </p:nvSpPr>
        <p:spPr>
          <a:xfrm>
            <a:off x="552297" y="1828800"/>
            <a:ext cx="5074920" cy="2788920"/>
          </a:xfrm>
          <a:prstGeom prst="rect">
            <a:avLst/>
          </a:prstGeom>
          <a:solidFill>
            <a:srgbClr val="FFFFFF"/>
          </a:solidFill>
          <a:ln w="12700">
            <a:solidFill>
              <a:srgbClr val="D0D7DF"/>
            </a:solidFill>
          </a:ln>
        </p:spPr>
        <p:txBody>
          <a:bodyPr wrap="square" lIns="274320" tIns="274320" rIns="228600" bIns="137160" rtlCol="0" anchor="t"/>
          <a:lstStyle/>
          <a:p>
            <a:pPr marL="171450" indent="-171450" algn="l">
              <a:buFont typeface="Arial"/>
              <a:buChar char="•"/>
            </a:pPr>
            <a:r>
              <a:rPr sz="1800" b="0">
                <a:solidFill>
                  <a:srgbClr val="152230"/>
                </a:solidFill>
                <a:latin typeface="Gartner Sans"/>
                <a:ea typeface="Gartner Sans"/>
                <a:cs typeface="Gartner Sans"/>
              </a:rPr>
              <a:t>AI agents are fit for purpose, not fit for everything.</a:t>
            </a:r>
          </a:p>
          <a:p>
            <a:pPr marL="171450" indent="-171450" algn="l">
              <a:spcBef>
                <a:spcPts val="1000"/>
              </a:spcBef>
              <a:buFont typeface="Arial"/>
              <a:buChar char="•"/>
            </a:pPr>
            <a:r>
              <a:rPr sz="1800" b="0">
                <a:solidFill>
                  <a:srgbClr val="152230"/>
                </a:solidFill>
                <a:latin typeface="Gartner Sans"/>
                <a:ea typeface="Gartner Sans"/>
                <a:cs typeface="Gartner Sans"/>
              </a:rPr>
              <a:t>Without clear context, agents drift.</a:t>
            </a:r>
          </a:p>
          <a:p>
            <a:pPr marL="171450" indent="-171450" algn="l">
              <a:spcBef>
                <a:spcPts val="1000"/>
              </a:spcBef>
              <a:buFont typeface="Arial"/>
              <a:buChar char="•"/>
            </a:pPr>
            <a:r>
              <a:rPr sz="1800" b="0">
                <a:solidFill>
                  <a:srgbClr val="152230"/>
                </a:solidFill>
                <a:latin typeface="Gartner Sans"/>
                <a:ea typeface="Gartner Sans"/>
                <a:cs typeface="Gartner Sans"/>
              </a:rPr>
              <a:t>The AI agent drafts. People stay accountable for the result.</a:t>
            </a:r>
          </a:p>
        </p:txBody>
      </p:sp>
      <p:sp>
        <p:nvSpPr>
          <p:cNvPr id="12" name="Card heading"/>
          <p:cNvSpPr/>
          <p:nvPr/>
        </p:nvSpPr>
        <p:spPr>
          <a:xfrm>
            <a:off x="6623913" y="1325880"/>
            <a:ext cx="5074920" cy="502920"/>
          </a:xfrm>
          <a:prstGeom prst="rect">
            <a:avLst/>
          </a:prstGeom>
          <a:solidFill>
            <a:srgbClr val="002869"/>
          </a:solidFill>
          <a:ln w="12700">
            <a:solidFill>
              <a:srgbClr val="002869"/>
            </a:solidFill>
          </a:ln>
        </p:spPr>
        <p:txBody>
          <a:bodyPr wrap="square" lIns="228600" tIns="0" rIns="228600" bIns="0" rtlCol="0" anchor="ctr"/>
          <a:lstStyle/>
          <a:p>
            <a:pPr algn="l"/>
            <a:r>
              <a:rPr sz="1800" b="1">
                <a:solidFill>
                  <a:srgbClr val="FFFFFF"/>
                </a:solidFill>
                <a:latin typeface="Gartner Sans"/>
                <a:ea typeface="Gartner Sans"/>
                <a:cs typeface="Gartner Sans"/>
              </a:rPr>
              <a:t>In your context</a:t>
            </a:r>
          </a:p>
        </p:txBody>
      </p:sp>
      <p:sp>
        <p:nvSpPr>
          <p:cNvPr id="13" name="Card body"/>
          <p:cNvSpPr/>
          <p:nvPr/>
        </p:nvSpPr>
        <p:spPr>
          <a:xfrm>
            <a:off x="6623913" y="1828800"/>
            <a:ext cx="5074920" cy="2788920"/>
          </a:xfrm>
          <a:prstGeom prst="rect">
            <a:avLst/>
          </a:prstGeom>
          <a:solidFill>
            <a:srgbClr val="FFFFFF"/>
          </a:solidFill>
          <a:ln w="12700">
            <a:solidFill>
              <a:srgbClr val="002869"/>
            </a:solidFill>
          </a:ln>
        </p:spPr>
        <p:txBody>
          <a:bodyPr wrap="square" lIns="274320" tIns="274320" rIns="228600" bIns="137160" rtlCol="0" anchor="t"/>
          <a:lstStyle/>
          <a:p>
            <a:pPr marL="171450" indent="-171450" algn="l">
              <a:buFont typeface="Arial"/>
              <a:buChar char="•"/>
            </a:pPr>
            <a:r>
              <a:rPr sz="1800" b="0">
                <a:solidFill>
                  <a:srgbClr val="152230"/>
                </a:solidFill>
                <a:latin typeface="Gartner Sans"/>
                <a:ea typeface="Gartner Sans"/>
                <a:cs typeface="Gartner Sans"/>
              </a:rPr>
              <a:t>Pick one task from your future SDLC.</a:t>
            </a:r>
          </a:p>
          <a:p>
            <a:pPr marL="171450" indent="-171450" algn="l">
              <a:spcBef>
                <a:spcPts val="1000"/>
              </a:spcBef>
              <a:buFont typeface="Arial"/>
              <a:buChar char="•"/>
            </a:pPr>
            <a:r>
              <a:rPr sz="1800" b="0">
                <a:solidFill>
                  <a:srgbClr val="152230"/>
                </a:solidFill>
                <a:latin typeface="Gartner Sans"/>
                <a:ea typeface="Gartner Sans"/>
                <a:cs typeface="Gartner Sans"/>
              </a:rPr>
              <a:t>Work through the seven boxes of the canvas.</a:t>
            </a:r>
          </a:p>
          <a:p>
            <a:pPr marL="171450" indent="-171450" algn="l">
              <a:spcBef>
                <a:spcPts val="1000"/>
              </a:spcBef>
              <a:buFont typeface="Arial"/>
              <a:buChar char="•"/>
            </a:pPr>
            <a:r>
              <a:rPr sz="1800" b="0">
                <a:solidFill>
                  <a:srgbClr val="152230"/>
                </a:solidFill>
                <a:latin typeface="Gartner Sans"/>
                <a:ea typeface="Gartner Sans"/>
                <a:cs typeface="Gartner Sans"/>
              </a:rPr>
              <a:t>Agree a small test.</a:t>
            </a:r>
          </a:p>
        </p:txBody>
      </p:sp>
      <p:sp>
        <p:nvSpPr>
          <p:cNvPr id="14" name="Arrow"/>
          <p:cNvSpPr/>
          <p:nvPr/>
        </p:nvSpPr>
        <p:spPr>
          <a:xfrm>
            <a:off x="5810097" y="2743200"/>
            <a:ext cx="630935" cy="548640"/>
          </a:xfrm>
          <a:prstGeom prst="rightArrow">
            <a:avLst/>
          </a:prstGeom>
          <a:solidFill>
            <a:srgbClr val="002869"/>
          </a:solidFill>
          <a:ln>
            <a:noFill/>
          </a:ln>
        </p:spPr>
        <p:txBody>
          <a:bodyPr rtlCol="0" anchor="ctr"/>
          <a:lstStyle/>
          <a:p>
            <a:pPr algn="ctr"/>
            <a:endParaRPr/>
          </a:p>
        </p:txBody>
      </p:sp>
      <p:sp>
        <p:nvSpPr>
          <p:cNvPr id="15" name="Note"/>
          <p:cNvSpPr/>
          <p:nvPr/>
        </p:nvSpPr>
        <p:spPr>
          <a:xfrm>
            <a:off x="552297" y="4892040"/>
            <a:ext cx="11146536" cy="68580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The exercise: </a:t>
            </a:r>
            <a:r>
              <a:rPr sz="1800" b="0">
                <a:solidFill>
                  <a:srgbClr val="152230"/>
                </a:solidFill>
                <a:latin typeface="Gartner Sans"/>
                <a:ea typeface="Gartner Sans"/>
                <a:cs typeface="Gartner Sans"/>
              </a:rPr>
              <a:t>1 hour 50 minutes in your teams.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Your team's turn</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76</a:t>
            </a:r>
          </a:p>
        </p:txBody>
      </p:sp>
      <p:sp>
        <p:nvSpPr>
          <p:cNvPr id="10" name="Number 1"/>
          <p:cNvSpPr/>
          <p:nvPr/>
        </p:nvSpPr>
        <p:spPr>
          <a:xfrm>
            <a:off x="552297" y="1434550"/>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1</a:t>
            </a:r>
          </a:p>
        </p:txBody>
      </p:sp>
      <p:sp>
        <p:nvSpPr>
          <p:cNvPr id="11" name="Step 1"/>
          <p:cNvSpPr txBox="1"/>
          <p:nvPr/>
        </p:nvSpPr>
        <p:spPr>
          <a:xfrm>
            <a:off x="1027785" y="1362456"/>
            <a:ext cx="5010912" cy="455085"/>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Pick one task from your future SDLC where an AI agent might help.</a:t>
            </a:r>
          </a:p>
        </p:txBody>
      </p:sp>
      <p:sp>
        <p:nvSpPr>
          <p:cNvPr id="12" name="Step 1 time"/>
          <p:cNvSpPr txBox="1"/>
          <p:nvPr/>
        </p:nvSpPr>
        <p:spPr>
          <a:xfrm>
            <a:off x="6130137" y="1372288"/>
            <a:ext cx="1005840" cy="435421"/>
          </a:xfrm>
          <a:prstGeom prst="rect">
            <a:avLst/>
          </a:prstGeom>
          <a:noFill/>
        </p:spPr>
        <p:txBody>
          <a:bodyPr wrap="square" lIns="0" tIns="0" rIns="0" bIns="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526273"/>
                </a:solidFill>
                <a:effectLst/>
                <a:uLnTx/>
                <a:uFillTx/>
                <a:latin typeface="Gartner Sans"/>
                <a:ea typeface="Gartner Sans"/>
                <a:cs typeface="Gartner Sans"/>
              </a:rPr>
              <a:t>10 min</a:t>
            </a:r>
          </a:p>
        </p:txBody>
      </p:sp>
      <p:cxnSp>
        <p:nvCxnSpPr>
          <p:cNvPr id="13" name="Divider"/>
          <p:cNvCxnSpPr/>
          <p:nvPr/>
        </p:nvCxnSpPr>
        <p:spPr>
          <a:xfrm>
            <a:off x="552297" y="1856870"/>
            <a:ext cx="6583680" cy="0"/>
          </a:xfrm>
          <a:prstGeom prst="line">
            <a:avLst/>
          </a:prstGeom>
          <a:ln w="9525">
            <a:solidFill>
              <a:srgbClr val="D0D7DF"/>
            </a:solidFill>
          </a:ln>
        </p:spPr>
      </p:cxnSp>
      <p:sp>
        <p:nvSpPr>
          <p:cNvPr id="14" name="Number 2"/>
          <p:cNvSpPr/>
          <p:nvPr/>
        </p:nvSpPr>
        <p:spPr>
          <a:xfrm>
            <a:off x="552297" y="1968293"/>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2</a:t>
            </a:r>
          </a:p>
        </p:txBody>
      </p:sp>
      <p:sp>
        <p:nvSpPr>
          <p:cNvPr id="15" name="Step 2"/>
          <p:cNvSpPr txBox="1"/>
          <p:nvPr/>
        </p:nvSpPr>
        <p:spPr>
          <a:xfrm>
            <a:off x="1027785" y="1896198"/>
            <a:ext cx="5010912" cy="455085"/>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Draw the conversation and act it out once.</a:t>
            </a:r>
          </a:p>
        </p:txBody>
      </p:sp>
      <p:sp>
        <p:nvSpPr>
          <p:cNvPr id="16" name="Step 2 time"/>
          <p:cNvSpPr txBox="1"/>
          <p:nvPr/>
        </p:nvSpPr>
        <p:spPr>
          <a:xfrm>
            <a:off x="6130137" y="1906030"/>
            <a:ext cx="1005840" cy="435421"/>
          </a:xfrm>
          <a:prstGeom prst="rect">
            <a:avLst/>
          </a:prstGeom>
          <a:noFill/>
        </p:spPr>
        <p:txBody>
          <a:bodyPr wrap="square" lIns="0" tIns="0" rIns="0" bIns="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526273"/>
                </a:solidFill>
                <a:effectLst/>
                <a:uLnTx/>
                <a:uFillTx/>
                <a:latin typeface="Gartner Sans"/>
                <a:ea typeface="Gartner Sans"/>
                <a:cs typeface="Gartner Sans"/>
              </a:rPr>
              <a:t>20 min</a:t>
            </a:r>
          </a:p>
        </p:txBody>
      </p:sp>
      <p:cxnSp>
        <p:nvCxnSpPr>
          <p:cNvPr id="17" name="Divider"/>
          <p:cNvCxnSpPr/>
          <p:nvPr/>
        </p:nvCxnSpPr>
        <p:spPr>
          <a:xfrm>
            <a:off x="552297" y="2390613"/>
            <a:ext cx="6583680" cy="0"/>
          </a:xfrm>
          <a:prstGeom prst="line">
            <a:avLst/>
          </a:prstGeom>
          <a:ln w="9525">
            <a:solidFill>
              <a:srgbClr val="D0D7DF"/>
            </a:solidFill>
          </a:ln>
        </p:spPr>
      </p:cxnSp>
      <p:sp>
        <p:nvSpPr>
          <p:cNvPr id="18" name="Number 3"/>
          <p:cNvSpPr/>
          <p:nvPr/>
        </p:nvSpPr>
        <p:spPr>
          <a:xfrm>
            <a:off x="552297" y="250203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3</a:t>
            </a:r>
          </a:p>
        </p:txBody>
      </p:sp>
      <p:sp>
        <p:nvSpPr>
          <p:cNvPr id="19" name="Step 3"/>
          <p:cNvSpPr txBox="1"/>
          <p:nvPr/>
        </p:nvSpPr>
        <p:spPr>
          <a:xfrm>
            <a:off x="1027785" y="2429942"/>
            <a:ext cx="5010912" cy="455085"/>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List what the AI agent needs.</a:t>
            </a:r>
          </a:p>
        </p:txBody>
      </p:sp>
      <p:sp>
        <p:nvSpPr>
          <p:cNvPr id="20" name="Step 3 time"/>
          <p:cNvSpPr txBox="1"/>
          <p:nvPr/>
        </p:nvSpPr>
        <p:spPr>
          <a:xfrm>
            <a:off x="6130137" y="2439774"/>
            <a:ext cx="1005840" cy="435421"/>
          </a:xfrm>
          <a:prstGeom prst="rect">
            <a:avLst/>
          </a:prstGeom>
          <a:noFill/>
        </p:spPr>
        <p:txBody>
          <a:bodyPr wrap="square" lIns="0" tIns="0" rIns="0" bIns="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526273"/>
                </a:solidFill>
                <a:effectLst/>
                <a:uLnTx/>
                <a:uFillTx/>
                <a:latin typeface="Gartner Sans"/>
                <a:ea typeface="Gartner Sans"/>
                <a:cs typeface="Gartner Sans"/>
              </a:rPr>
              <a:t>20 min</a:t>
            </a:r>
          </a:p>
        </p:txBody>
      </p:sp>
      <p:cxnSp>
        <p:nvCxnSpPr>
          <p:cNvPr id="21" name="Divider"/>
          <p:cNvCxnSpPr/>
          <p:nvPr/>
        </p:nvCxnSpPr>
        <p:spPr>
          <a:xfrm>
            <a:off x="552297" y="2924356"/>
            <a:ext cx="6583680" cy="0"/>
          </a:xfrm>
          <a:prstGeom prst="line">
            <a:avLst/>
          </a:prstGeom>
          <a:ln w="9525">
            <a:solidFill>
              <a:srgbClr val="D0D7DF"/>
            </a:solidFill>
          </a:ln>
        </p:spPr>
      </p:cxnSp>
      <p:sp>
        <p:nvSpPr>
          <p:cNvPr id="22" name="Number 4"/>
          <p:cNvSpPr/>
          <p:nvPr/>
        </p:nvSpPr>
        <p:spPr>
          <a:xfrm>
            <a:off x="552297" y="3035779"/>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4</a:t>
            </a:r>
          </a:p>
        </p:txBody>
      </p:sp>
      <p:sp>
        <p:nvSpPr>
          <p:cNvPr id="23" name="Step 4"/>
          <p:cNvSpPr txBox="1"/>
          <p:nvPr/>
        </p:nvSpPr>
        <p:spPr>
          <a:xfrm>
            <a:off x="1027785" y="2963684"/>
            <a:ext cx="5010912" cy="455085"/>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Say what the AI agent does: steps, rules and policies.</a:t>
            </a:r>
          </a:p>
        </p:txBody>
      </p:sp>
      <p:sp>
        <p:nvSpPr>
          <p:cNvPr id="24" name="Step 4 time"/>
          <p:cNvSpPr txBox="1"/>
          <p:nvPr/>
        </p:nvSpPr>
        <p:spPr>
          <a:xfrm>
            <a:off x="6130137" y="2973516"/>
            <a:ext cx="1005840" cy="435421"/>
          </a:xfrm>
          <a:prstGeom prst="rect">
            <a:avLst/>
          </a:prstGeom>
          <a:noFill/>
        </p:spPr>
        <p:txBody>
          <a:bodyPr wrap="square" lIns="0" tIns="0" rIns="0" bIns="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526273"/>
                </a:solidFill>
                <a:effectLst/>
                <a:uLnTx/>
                <a:uFillTx/>
                <a:latin typeface="Gartner Sans"/>
                <a:ea typeface="Gartner Sans"/>
                <a:cs typeface="Gartner Sans"/>
              </a:rPr>
              <a:t>20 min</a:t>
            </a:r>
          </a:p>
        </p:txBody>
      </p:sp>
      <p:cxnSp>
        <p:nvCxnSpPr>
          <p:cNvPr id="25" name="Divider"/>
          <p:cNvCxnSpPr/>
          <p:nvPr/>
        </p:nvCxnSpPr>
        <p:spPr>
          <a:xfrm>
            <a:off x="552297" y="3458099"/>
            <a:ext cx="6583680" cy="0"/>
          </a:xfrm>
          <a:prstGeom prst="line">
            <a:avLst/>
          </a:prstGeom>
          <a:ln w="9525">
            <a:solidFill>
              <a:srgbClr val="D0D7DF"/>
            </a:solidFill>
          </a:ln>
        </p:spPr>
      </p:cxnSp>
      <p:sp>
        <p:nvSpPr>
          <p:cNvPr id="26" name="Number 5"/>
          <p:cNvSpPr/>
          <p:nvPr/>
        </p:nvSpPr>
        <p:spPr>
          <a:xfrm>
            <a:off x="552297" y="3569523"/>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5</a:t>
            </a:r>
          </a:p>
        </p:txBody>
      </p:sp>
      <p:sp>
        <p:nvSpPr>
          <p:cNvPr id="27" name="Step 5"/>
          <p:cNvSpPr txBox="1"/>
          <p:nvPr/>
        </p:nvSpPr>
        <p:spPr>
          <a:xfrm>
            <a:off x="1027785" y="3497428"/>
            <a:ext cx="5010912" cy="455085"/>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Say what comes back and who checks it.</a:t>
            </a:r>
          </a:p>
        </p:txBody>
      </p:sp>
      <p:sp>
        <p:nvSpPr>
          <p:cNvPr id="28" name="Step 5 time"/>
          <p:cNvSpPr txBox="1"/>
          <p:nvPr/>
        </p:nvSpPr>
        <p:spPr>
          <a:xfrm>
            <a:off x="6130137" y="3507260"/>
            <a:ext cx="1005840" cy="435421"/>
          </a:xfrm>
          <a:prstGeom prst="rect">
            <a:avLst/>
          </a:prstGeom>
          <a:noFill/>
        </p:spPr>
        <p:txBody>
          <a:bodyPr wrap="square" lIns="0" tIns="0" rIns="0" bIns="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526273"/>
                </a:solidFill>
                <a:effectLst/>
                <a:uLnTx/>
                <a:uFillTx/>
                <a:latin typeface="Gartner Sans"/>
                <a:ea typeface="Gartner Sans"/>
                <a:cs typeface="Gartner Sans"/>
              </a:rPr>
              <a:t>15 min</a:t>
            </a:r>
          </a:p>
        </p:txBody>
      </p:sp>
      <p:cxnSp>
        <p:nvCxnSpPr>
          <p:cNvPr id="29" name="Divider"/>
          <p:cNvCxnSpPr/>
          <p:nvPr/>
        </p:nvCxnSpPr>
        <p:spPr>
          <a:xfrm>
            <a:off x="552297" y="3991842"/>
            <a:ext cx="6583680" cy="0"/>
          </a:xfrm>
          <a:prstGeom prst="line">
            <a:avLst/>
          </a:prstGeom>
          <a:ln w="9525">
            <a:solidFill>
              <a:srgbClr val="D0D7DF"/>
            </a:solidFill>
          </a:ln>
        </p:spPr>
      </p:cxnSp>
      <p:sp>
        <p:nvSpPr>
          <p:cNvPr id="30" name="Number 6"/>
          <p:cNvSpPr/>
          <p:nvPr/>
        </p:nvSpPr>
        <p:spPr>
          <a:xfrm>
            <a:off x="552297" y="410326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6</a:t>
            </a:r>
          </a:p>
        </p:txBody>
      </p:sp>
      <p:sp>
        <p:nvSpPr>
          <p:cNvPr id="31" name="Step 6"/>
          <p:cNvSpPr txBox="1"/>
          <p:nvPr/>
        </p:nvSpPr>
        <p:spPr>
          <a:xfrm>
            <a:off x="1027785" y="4031170"/>
            <a:ext cx="5010912" cy="455085"/>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Act out what could go wrong.</a:t>
            </a:r>
          </a:p>
        </p:txBody>
      </p:sp>
      <p:sp>
        <p:nvSpPr>
          <p:cNvPr id="32" name="Step 6 time"/>
          <p:cNvSpPr txBox="1"/>
          <p:nvPr/>
        </p:nvSpPr>
        <p:spPr>
          <a:xfrm>
            <a:off x="6130137" y="4041002"/>
            <a:ext cx="1005840" cy="435421"/>
          </a:xfrm>
          <a:prstGeom prst="rect">
            <a:avLst/>
          </a:prstGeom>
          <a:noFill/>
        </p:spPr>
        <p:txBody>
          <a:bodyPr wrap="square" lIns="0" tIns="0" rIns="0" bIns="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526273"/>
                </a:solidFill>
                <a:effectLst/>
                <a:uLnTx/>
                <a:uFillTx/>
                <a:latin typeface="Gartner Sans"/>
                <a:ea typeface="Gartner Sans"/>
                <a:cs typeface="Gartner Sans"/>
              </a:rPr>
              <a:t>15 min</a:t>
            </a:r>
          </a:p>
        </p:txBody>
      </p:sp>
      <p:cxnSp>
        <p:nvCxnSpPr>
          <p:cNvPr id="33" name="Divider"/>
          <p:cNvCxnSpPr/>
          <p:nvPr/>
        </p:nvCxnSpPr>
        <p:spPr>
          <a:xfrm>
            <a:off x="552297" y="4525585"/>
            <a:ext cx="6583680" cy="0"/>
          </a:xfrm>
          <a:prstGeom prst="line">
            <a:avLst/>
          </a:prstGeom>
          <a:ln w="9525">
            <a:solidFill>
              <a:srgbClr val="D0D7DF"/>
            </a:solidFill>
          </a:ln>
        </p:spPr>
      </p:cxnSp>
      <p:sp>
        <p:nvSpPr>
          <p:cNvPr id="34" name="Number 7"/>
          <p:cNvSpPr/>
          <p:nvPr/>
        </p:nvSpPr>
        <p:spPr>
          <a:xfrm>
            <a:off x="552297" y="4637009"/>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7</a:t>
            </a:r>
          </a:p>
        </p:txBody>
      </p:sp>
      <p:sp>
        <p:nvSpPr>
          <p:cNvPr id="35" name="Step 7"/>
          <p:cNvSpPr txBox="1"/>
          <p:nvPr/>
        </p:nvSpPr>
        <p:spPr>
          <a:xfrm>
            <a:off x="1027785" y="4564914"/>
            <a:ext cx="5010912" cy="455085"/>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350" b="0" i="0" u="none" strike="noStrike" kern="1200" cap="none" spc="0" normalizeH="0" baseline="0" noProof="0">
                <a:ln>
                  <a:noFill/>
                </a:ln>
                <a:solidFill>
                  <a:srgbClr val="152230"/>
                </a:solidFill>
                <a:effectLst/>
                <a:uLnTx/>
                <a:uFillTx/>
                <a:latin typeface="Gartner Sans"/>
                <a:ea typeface="Gartner Sans"/>
                <a:cs typeface="Gartner Sans"/>
              </a:rPr>
              <a:t>Agree a small test.</a:t>
            </a:r>
          </a:p>
        </p:txBody>
      </p:sp>
      <p:sp>
        <p:nvSpPr>
          <p:cNvPr id="36" name="Step 7 time"/>
          <p:cNvSpPr txBox="1"/>
          <p:nvPr/>
        </p:nvSpPr>
        <p:spPr>
          <a:xfrm>
            <a:off x="6130137" y="4574746"/>
            <a:ext cx="1005840" cy="435421"/>
          </a:xfrm>
          <a:prstGeom prst="rect">
            <a:avLst/>
          </a:prstGeom>
          <a:noFill/>
        </p:spPr>
        <p:txBody>
          <a:bodyPr wrap="square" lIns="0" tIns="0" rIns="0" bIns="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526273"/>
                </a:solidFill>
                <a:effectLst/>
                <a:uLnTx/>
                <a:uFillTx/>
                <a:latin typeface="Gartner Sans"/>
                <a:ea typeface="Gartner Sans"/>
                <a:cs typeface="Gartner Sans"/>
              </a:rPr>
              <a:t>10 min</a:t>
            </a:r>
          </a:p>
        </p:txBody>
      </p:sp>
      <p:sp>
        <p:nvSpPr>
          <p:cNvPr id="37" name="Card heading"/>
          <p:cNvSpPr/>
          <p:nvPr/>
        </p:nvSpPr>
        <p:spPr>
          <a:xfrm>
            <a:off x="7589520" y="1325880"/>
            <a:ext cx="4109313" cy="502920"/>
          </a:xfrm>
          <a:prstGeom prst="rect">
            <a:avLst/>
          </a:prstGeom>
          <a:solidFill>
            <a:srgbClr val="002869"/>
          </a:solidFill>
          <a:ln w="12700">
            <a:solidFill>
              <a:srgbClr val="002869"/>
            </a:solidFill>
          </a:ln>
        </p:spPr>
        <p:txBody>
          <a:bodyPr wrap="square" lIns="201168" tIns="0" rIns="182880" bIns="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Gartner Sans"/>
                <a:ea typeface="Gartner Sans"/>
                <a:cs typeface="Gartner Sans"/>
              </a:rPr>
              <a:t>Choose your roles</a:t>
            </a:r>
          </a:p>
        </p:txBody>
      </p:sp>
      <p:sp>
        <p:nvSpPr>
          <p:cNvPr id="38" name="Card body"/>
          <p:cNvSpPr/>
          <p:nvPr/>
        </p:nvSpPr>
        <p:spPr>
          <a:xfrm>
            <a:off x="7589520" y="1828800"/>
            <a:ext cx="4109313" cy="2880360"/>
          </a:xfrm>
          <a:prstGeom prst="rect">
            <a:avLst/>
          </a:prstGeom>
          <a:solidFill>
            <a:srgbClr val="FFFFFF"/>
          </a:solidFill>
          <a:ln w="12700">
            <a:solidFill>
              <a:srgbClr val="002869"/>
            </a:solidFill>
          </a:ln>
        </p:spPr>
        <p:txBody>
          <a:bodyPr wrap="square" lIns="228600" tIns="182880" rIns="182880" bIns="109728" rtlCol="0" anchor="t"/>
          <a:lstStyle/>
          <a:p>
            <a:pPr marL="171450" marR="0" lvl="0" indent="-171450" algn="l" defTabSz="914400" eaLnBrk="1" fontAlgn="auto" latinLnBrk="0" hangingPunct="1">
              <a:lnSpc>
                <a:spcPct val="100000"/>
              </a:lnSpc>
              <a:spcBef>
                <a:spcPts val="0"/>
              </a:spcBef>
              <a:spcAft>
                <a:spcPts val="0"/>
              </a:spcAft>
              <a:buClrTx/>
              <a:buSzTx/>
              <a:buFont typeface="Arial"/>
              <a:buChar char="•"/>
              <a:tabLst/>
              <a:defRPr/>
            </a:pPr>
            <a:r>
              <a:rPr kumimoji="0" sz="1550" b="0" i="0" u="none" strike="noStrike" kern="1200" cap="none" spc="0" normalizeH="0" baseline="0" noProof="0">
                <a:ln>
                  <a:noFill/>
                </a:ln>
                <a:solidFill>
                  <a:srgbClr val="152230"/>
                </a:solidFill>
                <a:effectLst/>
                <a:uLnTx/>
                <a:uFillTx/>
                <a:latin typeface="Gartner Sans"/>
                <a:ea typeface="Gartner Sans"/>
                <a:cs typeface="Gartner Sans"/>
              </a:rPr>
              <a:t>One person plays the AI agent</a:t>
            </a:r>
          </a:p>
          <a:p>
            <a:pPr marL="171450" marR="0" lvl="0" indent="-171450" algn="l" defTabSz="914400" eaLnBrk="1" fontAlgn="auto" latinLnBrk="0" hangingPunct="1">
              <a:lnSpc>
                <a:spcPct val="100000"/>
              </a:lnSpc>
              <a:spcBef>
                <a:spcPts val="600"/>
              </a:spcBef>
              <a:spcAft>
                <a:spcPts val="0"/>
              </a:spcAft>
              <a:buClrTx/>
              <a:buSzTx/>
              <a:buFont typeface="Arial"/>
              <a:buChar char="•"/>
              <a:tabLst/>
              <a:defRPr/>
            </a:pPr>
            <a:r>
              <a:rPr kumimoji="0" sz="1550" b="0" i="0" u="none" strike="noStrike" kern="1200" cap="none" spc="0" normalizeH="0" baseline="0" noProof="0">
                <a:ln>
                  <a:noFill/>
                </a:ln>
                <a:solidFill>
                  <a:srgbClr val="152230"/>
                </a:solidFill>
                <a:effectLst/>
                <a:uLnTx/>
                <a:uFillTx/>
                <a:latin typeface="Gartner Sans"/>
                <a:ea typeface="Gartner Sans"/>
                <a:cs typeface="Gartner Sans"/>
              </a:rPr>
              <a:t>One asks the AI agent for help</a:t>
            </a:r>
          </a:p>
          <a:p>
            <a:pPr marL="171450" marR="0" lvl="0" indent="-171450" algn="l" defTabSz="914400" eaLnBrk="1" fontAlgn="auto" latinLnBrk="0" hangingPunct="1">
              <a:lnSpc>
                <a:spcPct val="100000"/>
              </a:lnSpc>
              <a:spcBef>
                <a:spcPts val="600"/>
              </a:spcBef>
              <a:spcAft>
                <a:spcPts val="0"/>
              </a:spcAft>
              <a:buClrTx/>
              <a:buSzTx/>
              <a:buFont typeface="Arial"/>
              <a:buChar char="•"/>
              <a:tabLst/>
              <a:defRPr/>
            </a:pPr>
            <a:r>
              <a:rPr kumimoji="0" sz="1550" b="0" i="0" u="none" strike="noStrike" kern="1200" cap="none" spc="0" normalizeH="0" baseline="0" noProof="0">
                <a:ln>
                  <a:noFill/>
                </a:ln>
                <a:solidFill>
                  <a:srgbClr val="152230"/>
                </a:solidFill>
                <a:effectLst/>
                <a:uLnTx/>
                <a:uFillTx/>
                <a:latin typeface="Gartner Sans"/>
                <a:ea typeface="Gartner Sans"/>
                <a:cs typeface="Gartner Sans"/>
              </a:rPr>
              <a:t>One answers its questions</a:t>
            </a:r>
          </a:p>
          <a:p>
            <a:pPr marL="171450" marR="0" lvl="0" indent="-171450" algn="l" defTabSz="914400" eaLnBrk="1" fontAlgn="auto" latinLnBrk="0" hangingPunct="1">
              <a:lnSpc>
                <a:spcPct val="100000"/>
              </a:lnSpc>
              <a:spcBef>
                <a:spcPts val="600"/>
              </a:spcBef>
              <a:spcAft>
                <a:spcPts val="0"/>
              </a:spcAft>
              <a:buClrTx/>
              <a:buSzTx/>
              <a:buFont typeface="Arial"/>
              <a:buChar char="•"/>
              <a:tabLst/>
              <a:defRPr/>
            </a:pPr>
            <a:r>
              <a:rPr kumimoji="0" sz="1550" b="0" i="0" u="none" strike="noStrike" kern="1200" cap="none" spc="0" normalizeH="0" baseline="0" noProof="0">
                <a:ln>
                  <a:noFill/>
                </a:ln>
                <a:solidFill>
                  <a:srgbClr val="152230"/>
                </a:solidFill>
                <a:effectLst/>
                <a:uLnTx/>
                <a:uFillTx/>
                <a:latin typeface="Gartner Sans"/>
                <a:ea typeface="Gartner Sans"/>
                <a:cs typeface="Gartner Sans"/>
              </a:rPr>
              <a:t>A scribe writes the answers</a:t>
            </a:r>
          </a:p>
          <a:p>
            <a:pPr marL="171450" marR="0" lvl="0" indent="-171450" algn="l" defTabSz="914400" eaLnBrk="1" fontAlgn="auto" latinLnBrk="0" hangingPunct="1">
              <a:lnSpc>
                <a:spcPct val="100000"/>
              </a:lnSpc>
              <a:spcBef>
                <a:spcPts val="600"/>
              </a:spcBef>
              <a:spcAft>
                <a:spcPts val="0"/>
              </a:spcAft>
              <a:buClrTx/>
              <a:buSzTx/>
              <a:buFont typeface="Arial"/>
              <a:buChar char="•"/>
              <a:tabLst/>
              <a:defRPr/>
            </a:pPr>
            <a:r>
              <a:rPr kumimoji="0" sz="1550" b="0" i="0" u="none" strike="noStrike" kern="1200" cap="none" spc="0" normalizeH="0" baseline="0" noProof="0">
                <a:ln>
                  <a:noFill/>
                </a:ln>
                <a:solidFill>
                  <a:srgbClr val="152230"/>
                </a:solidFill>
                <a:effectLst/>
                <a:uLnTx/>
                <a:uFillTx/>
                <a:latin typeface="Gartner Sans"/>
                <a:ea typeface="Gartner Sans"/>
                <a:cs typeface="Gartner Sans"/>
              </a:rPr>
              <a:t>Everyone else provides information or checks the results</a:t>
            </a:r>
          </a:p>
        </p:txBody>
      </p:sp>
      <p:sp>
        <p:nvSpPr>
          <p:cNvPr id="39" name="Note"/>
          <p:cNvSpPr/>
          <p:nvPr/>
        </p:nvSpPr>
        <p:spPr>
          <a:xfrm>
            <a:off x="552297" y="5137760"/>
            <a:ext cx="11146536" cy="640080"/>
          </a:xfrm>
          <a:prstGeom prst="rect">
            <a:avLst/>
          </a:prstGeom>
          <a:solidFill>
            <a:srgbClr val="F0F7FD"/>
          </a:solidFill>
          <a:ln>
            <a:noFill/>
          </a:ln>
        </p:spPr>
        <p:txBody>
          <a:bodyPr wrap="square" lIns="228600" rIns="228600"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002869"/>
                </a:solidFill>
                <a:effectLst/>
                <a:uLnTx/>
                <a:uFillTx/>
                <a:latin typeface="Gartner Sans"/>
                <a:ea typeface="Gartner Sans"/>
                <a:cs typeface="Gartner Sans"/>
              </a:rPr>
              <a:t>If you do not know, </a:t>
            </a:r>
            <a:r>
              <a:rPr kumimoji="0" sz="1600" b="0" i="0" u="none" strike="noStrike" kern="1200" cap="none" spc="0" normalizeH="0" baseline="0" noProof="0">
                <a:ln>
                  <a:noFill/>
                </a:ln>
                <a:solidFill>
                  <a:srgbClr val="152230"/>
                </a:solidFill>
                <a:effectLst/>
                <a:uLnTx/>
                <a:uFillTx/>
                <a:latin typeface="Gartner Sans"/>
                <a:ea typeface="Gartner Sans"/>
                <a:cs typeface="Gartner Sans"/>
              </a:rPr>
              <a:t>write "We need to find out" and name someone who can help. Then each team shares its diagram and its test.</a:t>
            </a:r>
          </a:p>
        </p:txBody>
      </p:sp>
      <p:sp>
        <p:nvSpPr>
          <p:cNvPr id="40"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 workshop guide (simplified, seven steps)</a:t>
            </a:r>
          </a:p>
        </p:txBody>
      </p:sp>
    </p:spTree>
    <p:extLst>
      <p:ext uri="{BB962C8B-B14F-4D97-AF65-F5344CB8AC3E}">
        <p14:creationId xmlns:p14="http://schemas.microsoft.com/office/powerpoint/2010/main" val="34482829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The agent design canvas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77</a:t>
            </a:r>
          </a:p>
        </p:txBody>
      </p:sp>
      <p:pic>
        <p:nvPicPr>
          <p:cNvPr id="10" name="Canvas" descr="The agent design canvas: seven boxes, one for each step of the exercise"/>
          <p:cNvPicPr>
            <a:picLocks noChangeAspect="1"/>
          </p:cNvPicPr>
          <p:nvPr/>
        </p:nvPicPr>
        <p:blipFill>
          <a:blip r:embed="rId2"/>
          <a:stretch>
            <a:fillRect/>
          </a:stretch>
        </p:blipFill>
        <p:spPr>
          <a:xfrm>
            <a:off x="552297" y="1188720"/>
            <a:ext cx="7851168" cy="5030070"/>
          </a:xfrm>
          <a:prstGeom prst="rect">
            <a:avLst/>
          </a:prstGeom>
        </p:spPr>
      </p:pic>
      <p:sp>
        <p:nvSpPr>
          <p:cNvPr id="11" name="Card heading"/>
          <p:cNvSpPr/>
          <p:nvPr/>
        </p:nvSpPr>
        <p:spPr>
          <a:xfrm>
            <a:off x="8723505" y="1188720"/>
            <a:ext cx="2975327"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How to use it</a:t>
            </a:r>
          </a:p>
        </p:txBody>
      </p:sp>
      <p:sp>
        <p:nvSpPr>
          <p:cNvPr id="12" name="Card body"/>
          <p:cNvSpPr/>
          <p:nvPr/>
        </p:nvSpPr>
        <p:spPr>
          <a:xfrm>
            <a:off x="8723505" y="1691640"/>
            <a:ext cx="2975327" cy="329184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800" b="0">
                <a:solidFill>
                  <a:srgbClr val="152230"/>
                </a:solidFill>
                <a:latin typeface="Gartner Sans"/>
                <a:ea typeface="Gartner Sans"/>
                <a:cs typeface="Gartner Sans"/>
              </a:rPr>
              <a:t>One canvas for each team, printed at A3.</a:t>
            </a:r>
          </a:p>
          <a:p>
            <a:pPr marL="171450" indent="-171450" algn="l">
              <a:spcBef>
                <a:spcPts val="800"/>
              </a:spcBef>
              <a:buFont typeface="Arial"/>
              <a:buChar char="•"/>
            </a:pPr>
            <a:r>
              <a:rPr sz="1800" b="0">
                <a:solidFill>
                  <a:srgbClr val="152230"/>
                </a:solidFill>
                <a:latin typeface="Gartner Sans"/>
                <a:ea typeface="Gartner Sans"/>
                <a:cs typeface="Gartner Sans"/>
              </a:rPr>
              <a:t>Work through the seven boxes in order.</a:t>
            </a:r>
          </a:p>
          <a:p>
            <a:pPr marL="171450" indent="-171450" algn="l">
              <a:spcBef>
                <a:spcPts val="800"/>
              </a:spcBef>
              <a:buFont typeface="Arial"/>
              <a:buChar char="•"/>
            </a:pPr>
            <a:r>
              <a:rPr sz="1800" b="0">
                <a:solidFill>
                  <a:srgbClr val="152230"/>
                </a:solidFill>
                <a:latin typeface="Gartner Sans"/>
                <a:ea typeface="Gartner Sans"/>
                <a:cs typeface="Gartner Sans"/>
              </a:rPr>
              <a:t>Use it with the workshop guide, which has the example answers.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Example: the canvas completed</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78</a:t>
            </a:r>
          </a:p>
        </p:txBody>
      </p:sp>
      <p:pic>
        <p:nvPicPr>
          <p:cNvPr id="10" name="Canvas" descr="Hand-drawn example of the canvas, with an index card marking each box and sticky notes carrying the answers"/>
          <p:cNvPicPr>
            <a:picLocks noChangeAspect="1"/>
          </p:cNvPicPr>
          <p:nvPr/>
        </p:nvPicPr>
        <p:blipFill>
          <a:blip r:embed="rId2"/>
          <a:stretch>
            <a:fillRect/>
          </a:stretch>
        </p:blipFill>
        <p:spPr>
          <a:xfrm>
            <a:off x="552297" y="1188720"/>
            <a:ext cx="7746178" cy="5423322"/>
          </a:xfrm>
          <a:prstGeom prst="rect">
            <a:avLst/>
          </a:prstGeom>
        </p:spPr>
      </p:pic>
      <p:sp>
        <p:nvSpPr>
          <p:cNvPr id="11" name="Card heading"/>
          <p:cNvSpPr/>
          <p:nvPr/>
        </p:nvSpPr>
        <p:spPr>
          <a:xfrm>
            <a:off x="8618515" y="1188720"/>
            <a:ext cx="3080317"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How to use it</a:t>
            </a:r>
          </a:p>
        </p:txBody>
      </p:sp>
      <p:sp>
        <p:nvSpPr>
          <p:cNvPr id="12" name="Card body"/>
          <p:cNvSpPr/>
          <p:nvPr/>
        </p:nvSpPr>
        <p:spPr>
          <a:xfrm>
            <a:off x="8618515" y="1691640"/>
            <a:ext cx="3080317" cy="329184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800" b="0">
                <a:solidFill>
                  <a:srgbClr val="152230"/>
                </a:solidFill>
                <a:latin typeface="Gartner Sans"/>
                <a:ea typeface="Gartner Sans"/>
                <a:cs typeface="Gartner Sans"/>
              </a:rPr>
              <a:t>Index cards mark each box.</a:t>
            </a:r>
          </a:p>
          <a:p>
            <a:pPr marL="171450" indent="-171450" algn="l">
              <a:spcBef>
                <a:spcPts val="800"/>
              </a:spcBef>
              <a:buFont typeface="Arial"/>
              <a:buChar char="•"/>
            </a:pPr>
            <a:r>
              <a:rPr sz="1800" b="0">
                <a:solidFill>
                  <a:srgbClr val="152230"/>
                </a:solidFill>
                <a:latin typeface="Gartner Sans"/>
                <a:ea typeface="Gartner Sans"/>
                <a:cs typeface="Gartner Sans"/>
              </a:rPr>
              <a:t>Sticky notes carry the answers of the team.</a:t>
            </a:r>
          </a:p>
          <a:p>
            <a:pPr marL="171450" indent="-171450" algn="l">
              <a:spcBef>
                <a:spcPts val="800"/>
              </a:spcBef>
              <a:buFont typeface="Arial"/>
              <a:buChar char="•"/>
            </a:pPr>
            <a:r>
              <a:rPr sz="1800" b="0">
                <a:solidFill>
                  <a:srgbClr val="152230"/>
                </a:solidFill>
                <a:latin typeface="Gartner Sans"/>
                <a:ea typeface="Gartner Sans"/>
                <a:cs typeface="Gartner Sans"/>
              </a:rPr>
              <a:t>The example uses the address-change story from the guide.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 title"/>
          <p:cNvSpPr txBox="1"/>
          <p:nvPr/>
        </p:nvSpPr>
        <p:spPr>
          <a:xfrm>
            <a:off x="1856231" y="2194560"/>
            <a:ext cx="6309360" cy="1463040"/>
          </a:xfrm>
          <a:prstGeom prst="rect">
            <a:avLst/>
          </a:prstGeom>
          <a:noFill/>
        </p:spPr>
        <p:txBody>
          <a:bodyPr wrap="square" lIns="0" tIns="0" rIns="0" bIns="0" anchor="b">
            <a:spAutoFit/>
          </a:bodyPr>
          <a:lstStyle/>
          <a:p>
            <a:pPr algn="l"/>
            <a:r>
              <a:rPr sz="2800" b="0">
                <a:solidFill>
                  <a:srgbClr val="FFFFFF"/>
                </a:solidFill>
                <a:latin typeface="Gartner Sans"/>
                <a:ea typeface="Gartner Sans"/>
                <a:cs typeface="Gartner Sans"/>
              </a:rPr>
              <a:t>Overcoming challenges to adoption</a:t>
            </a:r>
          </a:p>
        </p:txBody>
      </p:sp>
      <p:sp>
        <p:nvSpPr>
          <p:cNvPr id="3" name="Section subtitle"/>
          <p:cNvSpPr txBox="1"/>
          <p:nvPr/>
        </p:nvSpPr>
        <p:spPr>
          <a:xfrm>
            <a:off x="1856231" y="3794760"/>
            <a:ext cx="6309360" cy="685800"/>
          </a:xfrm>
          <a:prstGeom prst="rect">
            <a:avLst/>
          </a:prstGeom>
          <a:noFill/>
        </p:spPr>
        <p:txBody>
          <a:bodyPr wrap="square" lIns="0" tIns="0" rIns="0" bIns="0" anchor="t">
            <a:spAutoFit/>
          </a:bodyPr>
          <a:lstStyle/>
          <a:p>
            <a:pPr algn="l"/>
            <a:r>
              <a:rPr sz="1800" b="0">
                <a:solidFill>
                  <a:srgbClr val="FFFFFF"/>
                </a:solidFill>
                <a:latin typeface="Gartner Sans"/>
                <a:ea typeface="Gartner Sans"/>
                <a:cs typeface="Gartner Sans"/>
              </a:rPr>
              <a:t>The barriers Gartner sees, and what helps people who work in requirements, review, delivery and support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Most organisations do not feel ready for AI-driven change</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80</a:t>
            </a:r>
          </a:p>
        </p:txBody>
      </p:sp>
      <p:sp>
        <p:nvSpPr>
          <p:cNvPr id="10" name="Stat"/>
          <p:cNvSpPr/>
          <p:nvPr/>
        </p:nvSpPr>
        <p:spPr>
          <a:xfrm>
            <a:off x="552297" y="1325880"/>
            <a:ext cx="2580894" cy="2377440"/>
          </a:xfrm>
          <a:prstGeom prst="rect">
            <a:avLst/>
          </a:prstGeom>
          <a:solidFill>
            <a:srgbClr val="F0F7FD"/>
          </a:solidFill>
          <a:ln>
            <a:noFill/>
          </a:ln>
        </p:spPr>
        <p:txBody>
          <a:bodyPr rtlCol="0" anchor="ctr"/>
          <a:lstStyle/>
          <a:p>
            <a:pPr algn="ctr"/>
            <a:endParaRPr/>
          </a:p>
        </p:txBody>
      </p:sp>
      <p:sp>
        <p:nvSpPr>
          <p:cNvPr id="11" name="Stat value"/>
          <p:cNvSpPr txBox="1"/>
          <p:nvPr/>
        </p:nvSpPr>
        <p:spPr>
          <a:xfrm>
            <a:off x="753465" y="1435607"/>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90%</a:t>
            </a:r>
          </a:p>
        </p:txBody>
      </p:sp>
      <p:sp>
        <p:nvSpPr>
          <p:cNvPr id="12" name="Stat label"/>
          <p:cNvSpPr txBox="1"/>
          <p:nvPr/>
        </p:nvSpPr>
        <p:spPr>
          <a:xfrm>
            <a:off x="753465" y="2221991"/>
            <a:ext cx="2178558" cy="1463040"/>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Almost 90% of software engineering leaders and staff say their technology is not AI-ready</a:t>
            </a:r>
          </a:p>
        </p:txBody>
      </p:sp>
      <p:sp>
        <p:nvSpPr>
          <p:cNvPr id="13" name="Stat"/>
          <p:cNvSpPr/>
          <p:nvPr/>
        </p:nvSpPr>
        <p:spPr>
          <a:xfrm>
            <a:off x="3407511" y="1325880"/>
            <a:ext cx="2580894" cy="2377440"/>
          </a:xfrm>
          <a:prstGeom prst="rect">
            <a:avLst/>
          </a:prstGeom>
          <a:solidFill>
            <a:srgbClr val="F0F7FD"/>
          </a:solidFill>
          <a:ln>
            <a:noFill/>
          </a:ln>
        </p:spPr>
        <p:txBody>
          <a:bodyPr rtlCol="0" anchor="ctr"/>
          <a:lstStyle/>
          <a:p>
            <a:pPr algn="ctr"/>
            <a:endParaRPr/>
          </a:p>
        </p:txBody>
      </p:sp>
      <p:sp>
        <p:nvSpPr>
          <p:cNvPr id="14" name="Stat value"/>
          <p:cNvSpPr txBox="1"/>
          <p:nvPr/>
        </p:nvSpPr>
        <p:spPr>
          <a:xfrm>
            <a:off x="3608679" y="1435607"/>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86%</a:t>
            </a:r>
          </a:p>
        </p:txBody>
      </p:sp>
      <p:sp>
        <p:nvSpPr>
          <p:cNvPr id="15" name="Stat label"/>
          <p:cNvSpPr txBox="1"/>
          <p:nvPr/>
        </p:nvSpPr>
        <p:spPr>
          <a:xfrm>
            <a:off x="3608679" y="2221991"/>
            <a:ext cx="2178558" cy="1463040"/>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Say their workforce is not equipped for the changes AI will bring</a:t>
            </a:r>
          </a:p>
        </p:txBody>
      </p:sp>
      <p:sp>
        <p:nvSpPr>
          <p:cNvPr id="16" name="Stat"/>
          <p:cNvSpPr/>
          <p:nvPr/>
        </p:nvSpPr>
        <p:spPr>
          <a:xfrm>
            <a:off x="6262725" y="1325880"/>
            <a:ext cx="2580894" cy="2377440"/>
          </a:xfrm>
          <a:prstGeom prst="rect">
            <a:avLst/>
          </a:prstGeom>
          <a:solidFill>
            <a:srgbClr val="F0F7FD"/>
          </a:solidFill>
          <a:ln>
            <a:noFill/>
          </a:ln>
        </p:spPr>
        <p:txBody>
          <a:bodyPr rtlCol="0" anchor="ctr"/>
          <a:lstStyle/>
          <a:p>
            <a:pPr algn="ctr"/>
            <a:endParaRPr/>
          </a:p>
        </p:txBody>
      </p:sp>
      <p:sp>
        <p:nvSpPr>
          <p:cNvPr id="17" name="Stat value"/>
          <p:cNvSpPr txBox="1"/>
          <p:nvPr/>
        </p:nvSpPr>
        <p:spPr>
          <a:xfrm>
            <a:off x="6463893" y="1435607"/>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84%</a:t>
            </a:r>
          </a:p>
        </p:txBody>
      </p:sp>
      <p:sp>
        <p:nvSpPr>
          <p:cNvPr id="18" name="Stat label"/>
          <p:cNvSpPr txBox="1"/>
          <p:nvPr/>
        </p:nvSpPr>
        <p:spPr>
          <a:xfrm>
            <a:off x="6463893" y="2221991"/>
            <a:ext cx="2178558" cy="1463040"/>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Say their processes are not ready</a:t>
            </a:r>
          </a:p>
        </p:txBody>
      </p:sp>
      <p:sp>
        <p:nvSpPr>
          <p:cNvPr id="19" name="Stat"/>
          <p:cNvSpPr/>
          <p:nvPr/>
        </p:nvSpPr>
        <p:spPr>
          <a:xfrm>
            <a:off x="9117939" y="1325880"/>
            <a:ext cx="2580894" cy="2377440"/>
          </a:xfrm>
          <a:prstGeom prst="rect">
            <a:avLst/>
          </a:prstGeom>
          <a:solidFill>
            <a:srgbClr val="F0F7FD"/>
          </a:solidFill>
          <a:ln>
            <a:noFill/>
          </a:ln>
        </p:spPr>
        <p:txBody>
          <a:bodyPr rtlCol="0" anchor="ctr"/>
          <a:lstStyle/>
          <a:p>
            <a:pPr algn="ctr"/>
            <a:endParaRPr/>
          </a:p>
        </p:txBody>
      </p:sp>
      <p:sp>
        <p:nvSpPr>
          <p:cNvPr id="20" name="Stat value"/>
          <p:cNvSpPr txBox="1"/>
          <p:nvPr/>
        </p:nvSpPr>
        <p:spPr>
          <a:xfrm>
            <a:off x="9319107" y="1435607"/>
            <a:ext cx="2178558" cy="731520"/>
          </a:xfrm>
          <a:prstGeom prst="rect">
            <a:avLst/>
          </a:prstGeom>
          <a:noFill/>
        </p:spPr>
        <p:txBody>
          <a:bodyPr wrap="square" lIns="0" tIns="0" rIns="0" bIns="0" anchor="t">
            <a:spAutoFit/>
          </a:bodyPr>
          <a:lstStyle/>
          <a:p>
            <a:pPr algn="l"/>
            <a:r>
              <a:rPr sz="4000" b="1">
                <a:solidFill>
                  <a:srgbClr val="002869"/>
                </a:solidFill>
                <a:latin typeface="Gartner Sans"/>
                <a:ea typeface="Gartner Sans"/>
                <a:cs typeface="Gartner Sans"/>
              </a:rPr>
              <a:t>65%</a:t>
            </a:r>
          </a:p>
        </p:txBody>
      </p:sp>
      <p:sp>
        <p:nvSpPr>
          <p:cNvPr id="21" name="Stat label"/>
          <p:cNvSpPr txBox="1"/>
          <p:nvPr/>
        </p:nvSpPr>
        <p:spPr>
          <a:xfrm>
            <a:off x="9319107" y="2221991"/>
            <a:ext cx="2178558" cy="1463040"/>
          </a:xfrm>
          <a:prstGeom prst="rect">
            <a:avLst/>
          </a:prstGeom>
          <a:noFill/>
        </p:spPr>
        <p:txBody>
          <a:bodyPr wrap="square" lIns="0" tIns="0" rIns="0" bIns="0" anchor="t">
            <a:spAutoFit/>
          </a:bodyPr>
          <a:lstStyle/>
          <a:p>
            <a:pPr algn="l"/>
            <a:r>
              <a:rPr sz="1450" b="0">
                <a:solidFill>
                  <a:srgbClr val="152230"/>
                </a:solidFill>
                <a:latin typeface="Gartner Sans"/>
                <a:ea typeface="Gartner Sans"/>
                <a:cs typeface="Gartner Sans"/>
              </a:rPr>
              <a:t>Of software engineering organisations report a lack of AI engineering skills as a barrier to meeting business objectives</a:t>
            </a:r>
          </a:p>
        </p:txBody>
      </p:sp>
      <p:sp>
        <p:nvSpPr>
          <p:cNvPr id="22" name="Note"/>
          <p:cNvSpPr/>
          <p:nvPr/>
        </p:nvSpPr>
        <p:spPr>
          <a:xfrm>
            <a:off x="552297" y="4069080"/>
            <a:ext cx="11146536" cy="114300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The barriers are practical, not a lack of belief. </a:t>
            </a:r>
            <a:r>
              <a:rPr sz="1800" b="0">
                <a:solidFill>
                  <a:srgbClr val="152230"/>
                </a:solidFill>
                <a:latin typeface="Gartner Sans"/>
                <a:ea typeface="Gartner Sans"/>
                <a:cs typeface="Gartner Sans"/>
              </a:rPr>
              <a:t>People are more likely to agree than disagree that AI tools have improved their work outcomes and fit their context.</a:t>
            </a:r>
          </a:p>
        </p:txBody>
      </p:sp>
      <p:sp>
        <p:nvSpPr>
          <p:cNvPr id="23"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G00836860 (90%, 86% and 84%); G00845017 (65%); G00855654 (note)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Four practical barriers hold back adoption</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81</a:t>
            </a:r>
          </a:p>
        </p:txBody>
      </p:sp>
      <p:sp>
        <p:nvSpPr>
          <p:cNvPr id="10" name="Chart heading"/>
          <p:cNvSpPr txBox="1"/>
          <p:nvPr/>
        </p:nvSpPr>
        <p:spPr>
          <a:xfrm>
            <a:off x="552297" y="1325880"/>
            <a:ext cx="6035040"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Share of developers who report each barrier</a:t>
            </a:r>
          </a:p>
        </p:txBody>
      </p:sp>
      <p:graphicFrame>
        <p:nvGraphicFramePr>
          <p:cNvPr id="11" name="Chart"/>
          <p:cNvGraphicFramePr>
            <a:graphicFrameLocks noGrp="1"/>
          </p:cNvGraphicFramePr>
          <p:nvPr/>
        </p:nvGraphicFramePr>
        <p:xfrm>
          <a:off x="460857" y="1691640"/>
          <a:ext cx="6309360" cy="3840480"/>
        </p:xfrm>
        <a:graphic>
          <a:graphicData uri="http://schemas.openxmlformats.org/drawingml/2006/chart">
            <c:chart xmlns:c="http://schemas.openxmlformats.org/drawingml/2006/chart" xmlns:r="http://schemas.openxmlformats.org/officeDocument/2006/relationships" r:id="rId2"/>
          </a:graphicData>
        </a:graphic>
      </p:graphicFrame>
      <p:sp>
        <p:nvSpPr>
          <p:cNvPr id="12" name="Number 1"/>
          <p:cNvSpPr/>
          <p:nvPr/>
        </p:nvSpPr>
        <p:spPr>
          <a:xfrm>
            <a:off x="7132320" y="191262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3" name="Point 1"/>
          <p:cNvSpPr txBox="1"/>
          <p:nvPr/>
        </p:nvSpPr>
        <p:spPr>
          <a:xfrm>
            <a:off x="7607808" y="1388706"/>
            <a:ext cx="4091025" cy="1358723"/>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Uneven adoption is often read as resistance. Gartner sees a rational response to unclear tool choices, fast change, unreliable output and unclear accountability.</a:t>
            </a:r>
          </a:p>
        </p:txBody>
      </p:sp>
      <p:cxnSp>
        <p:nvCxnSpPr>
          <p:cNvPr id="14" name="Divider"/>
          <p:cNvCxnSpPr/>
          <p:nvPr/>
        </p:nvCxnSpPr>
        <p:spPr>
          <a:xfrm>
            <a:off x="7132320" y="2810256"/>
            <a:ext cx="4566513" cy="0"/>
          </a:xfrm>
          <a:prstGeom prst="line">
            <a:avLst/>
          </a:prstGeom>
          <a:ln w="9525">
            <a:solidFill>
              <a:srgbClr val="D0D7DF"/>
            </a:solidFill>
          </a:ln>
        </p:spPr>
      </p:cxnSp>
      <p:sp>
        <p:nvSpPr>
          <p:cNvPr id="15" name="Number 2"/>
          <p:cNvSpPr/>
          <p:nvPr/>
        </p:nvSpPr>
        <p:spPr>
          <a:xfrm>
            <a:off x="7132320" y="339699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6" name="Point 2"/>
          <p:cNvSpPr txBox="1"/>
          <p:nvPr/>
        </p:nvSpPr>
        <p:spPr>
          <a:xfrm>
            <a:off x="7607808" y="2883408"/>
            <a:ext cx="4091025" cy="1338072"/>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People feel accountable for the output of AI tools that they do not fully trust, control or understand.</a:t>
            </a:r>
          </a:p>
        </p:txBody>
      </p:sp>
      <p:cxnSp>
        <p:nvCxnSpPr>
          <p:cNvPr id="17" name="Divider"/>
          <p:cNvCxnSpPr/>
          <p:nvPr/>
        </p:nvCxnSpPr>
        <p:spPr>
          <a:xfrm>
            <a:off x="7132320" y="4294632"/>
            <a:ext cx="4566513" cy="0"/>
          </a:xfrm>
          <a:prstGeom prst="line">
            <a:avLst/>
          </a:prstGeom>
          <a:ln w="9525">
            <a:solidFill>
              <a:srgbClr val="D0D7DF"/>
            </a:solidFill>
          </a:ln>
        </p:spPr>
      </p:cxnSp>
      <p:sp>
        <p:nvSpPr>
          <p:cNvPr id="18" name="Number 3"/>
          <p:cNvSpPr/>
          <p:nvPr/>
        </p:nvSpPr>
        <p:spPr>
          <a:xfrm>
            <a:off x="7132320" y="488137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9" name="Point 3"/>
          <p:cNvSpPr txBox="1"/>
          <p:nvPr/>
        </p:nvSpPr>
        <p:spPr>
          <a:xfrm>
            <a:off x="7607808" y="4367784"/>
            <a:ext cx="4091025" cy="1338072"/>
          </a:xfrm>
          <a:prstGeom prst="rect">
            <a:avLst/>
          </a:prstGeom>
          <a:noFill/>
        </p:spPr>
        <p:txBody>
          <a:bodyPr wrap="square" lIns="0" tIns="0" rIns="0" bIns="0" anchor="ctr">
            <a:spAutoFit/>
          </a:bodyPr>
          <a:lstStyle/>
          <a:p>
            <a:pPr algn="l"/>
            <a:r>
              <a:rPr sz="1700" b="0">
                <a:solidFill>
                  <a:srgbClr val="152230"/>
                </a:solidFill>
                <a:latin typeface="Gartner Sans"/>
                <a:ea typeface="Gartner Sans"/>
                <a:cs typeface="Gartner Sans"/>
              </a:rPr>
              <a:t>The survey asked developers. The same four barriers apply to anyone asked to use AI in their work.</a:t>
            </a:r>
          </a:p>
        </p:txBody>
      </p:sp>
      <p:sp>
        <p:nvSpPr>
          <p:cNvPr id="20"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G00855654 (2026 Gartner Impact of AI on Software Developers Survey, n = 303). Point 3 is an interpretation for this audience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AI moves effort to review, validation and risk</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82</a:t>
            </a:r>
          </a:p>
        </p:txBody>
      </p:sp>
      <p:sp>
        <p:nvSpPr>
          <p:cNvPr id="10" name="Chart heading"/>
          <p:cNvSpPr txBox="1"/>
          <p:nvPr/>
        </p:nvSpPr>
        <p:spPr>
          <a:xfrm>
            <a:off x="552297" y="1325880"/>
            <a:ext cx="6035040" cy="274320"/>
          </a:xfrm>
          <a:prstGeom prst="rect">
            <a:avLst/>
          </a:prstGeom>
          <a:noFill/>
        </p:spPr>
        <p:txBody>
          <a:bodyPr wrap="square" lIns="0" tIns="0" rIns="0" bIns="0" anchor="t">
            <a:spAutoFit/>
          </a:bodyPr>
          <a:lstStyle/>
          <a:p>
            <a:pPr algn="l"/>
            <a:r>
              <a:rPr sz="1600" b="1">
                <a:solidFill>
                  <a:srgbClr val="002869"/>
                </a:solidFill>
                <a:latin typeface="Gartner Sans"/>
                <a:ea typeface="Gartner Sans"/>
                <a:cs typeface="Gartner Sans"/>
              </a:rPr>
              <a:t>Developers who now spend more time, not less, on each task</a:t>
            </a:r>
          </a:p>
        </p:txBody>
      </p:sp>
      <p:graphicFrame>
        <p:nvGraphicFramePr>
          <p:cNvPr id="11" name="Chart"/>
          <p:cNvGraphicFramePr>
            <a:graphicFrameLocks noGrp="1"/>
          </p:cNvGraphicFramePr>
          <p:nvPr/>
        </p:nvGraphicFramePr>
        <p:xfrm>
          <a:off x="460857" y="1691640"/>
          <a:ext cx="6309360" cy="3840480"/>
        </p:xfrm>
        <a:graphic>
          <a:graphicData uri="http://schemas.openxmlformats.org/drawingml/2006/chart">
            <c:chart xmlns:c="http://schemas.openxmlformats.org/drawingml/2006/chart" xmlns:r="http://schemas.openxmlformats.org/officeDocument/2006/relationships" r:id="rId2"/>
          </a:graphicData>
        </a:graphic>
      </p:graphicFrame>
      <p:sp>
        <p:nvSpPr>
          <p:cNvPr id="12" name="Number 1"/>
          <p:cNvSpPr/>
          <p:nvPr/>
        </p:nvSpPr>
        <p:spPr>
          <a:xfrm>
            <a:off x="7132320" y="191262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3" name="Point 1"/>
          <p:cNvSpPr txBox="1"/>
          <p:nvPr/>
        </p:nvSpPr>
        <p:spPr>
          <a:xfrm>
            <a:off x="7607808" y="1399032"/>
            <a:ext cx="4091025" cy="1338072"/>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AI is not so much saving time as redistributing it.</a:t>
            </a:r>
          </a:p>
        </p:txBody>
      </p:sp>
      <p:cxnSp>
        <p:nvCxnSpPr>
          <p:cNvPr id="14" name="Divider"/>
          <p:cNvCxnSpPr/>
          <p:nvPr/>
        </p:nvCxnSpPr>
        <p:spPr>
          <a:xfrm>
            <a:off x="7132320" y="2810256"/>
            <a:ext cx="4566513" cy="0"/>
          </a:xfrm>
          <a:prstGeom prst="line">
            <a:avLst/>
          </a:prstGeom>
          <a:ln w="9525">
            <a:solidFill>
              <a:srgbClr val="D0D7DF"/>
            </a:solidFill>
          </a:ln>
        </p:spPr>
      </p:cxnSp>
      <p:sp>
        <p:nvSpPr>
          <p:cNvPr id="15" name="Number 2"/>
          <p:cNvSpPr/>
          <p:nvPr/>
        </p:nvSpPr>
        <p:spPr>
          <a:xfrm>
            <a:off x="7132320" y="339699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6" name="Point 2"/>
          <p:cNvSpPr txBox="1"/>
          <p:nvPr/>
        </p:nvSpPr>
        <p:spPr>
          <a:xfrm>
            <a:off x="7607808" y="2883408"/>
            <a:ext cx="4091025" cy="1338072"/>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The effort moves to review, validation and risk management. This is the work of people who review deliverables and assure quality.</a:t>
            </a:r>
          </a:p>
        </p:txBody>
      </p:sp>
      <p:cxnSp>
        <p:nvCxnSpPr>
          <p:cNvPr id="17" name="Divider"/>
          <p:cNvCxnSpPr/>
          <p:nvPr/>
        </p:nvCxnSpPr>
        <p:spPr>
          <a:xfrm>
            <a:off x="7132320" y="4294632"/>
            <a:ext cx="4566513" cy="0"/>
          </a:xfrm>
          <a:prstGeom prst="line">
            <a:avLst/>
          </a:prstGeom>
          <a:ln w="9525">
            <a:solidFill>
              <a:srgbClr val="D0D7DF"/>
            </a:solidFill>
          </a:ln>
        </p:spPr>
      </p:cxnSp>
      <p:sp>
        <p:nvSpPr>
          <p:cNvPr id="18" name="Number 3"/>
          <p:cNvSpPr/>
          <p:nvPr/>
        </p:nvSpPr>
        <p:spPr>
          <a:xfrm>
            <a:off x="7132320" y="4881372"/>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9" name="Point 3"/>
          <p:cNvSpPr txBox="1"/>
          <p:nvPr/>
        </p:nvSpPr>
        <p:spPr>
          <a:xfrm>
            <a:off x="7607808" y="4367784"/>
            <a:ext cx="4091025" cy="1338072"/>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Count a change as a gain only when it improves the whole flow, cost or quality, not when one task gets faster.</a:t>
            </a:r>
          </a:p>
        </p:txBody>
      </p:sp>
      <p:sp>
        <p:nvSpPr>
          <p:cNvPr id="20" name="Source"/>
          <p:cNvSpPr txBox="1"/>
          <p:nvPr/>
        </p:nvSpPr>
        <p:spPr>
          <a:xfrm>
            <a:off x="552450" y="5981700"/>
            <a:ext cx="9700000" cy="295275"/>
          </a:xfrm>
          <a:prstGeom prst="rect">
            <a:avLst/>
          </a:prstGeom>
          <a:noFill/>
        </p:spPr>
        <p:txBody>
          <a:bodyPr wrap="square" lIns="0" tIns="0" rIns="0" bIns="0" anchor="t">
            <a:spAutoFit/>
          </a:bodyPr>
          <a:lstStyle/>
          <a:p>
            <a:pPr algn="l"/>
            <a:r>
              <a:rPr sz="1000" b="0">
                <a:solidFill>
                  <a:srgbClr val="526273"/>
                </a:solidFill>
                <a:latin typeface="Gartner Sans"/>
                <a:ea typeface="Gartner Sans"/>
                <a:cs typeface="Gartner Sans"/>
              </a:rPr>
              <a:t>Source: G00855654 (2026 Gartner Impact of AI on Software Developers Survey, n = 303). The second sentence of point 2 is an interpretation for this audience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What the barriers mean for roles that do not write code</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83</a:t>
            </a:r>
          </a:p>
        </p:txBody>
      </p:sp>
      <p:graphicFrame>
        <p:nvGraphicFramePr>
          <p:cNvPr id="10" name="Table"/>
          <p:cNvGraphicFramePr>
            <a:graphicFrameLocks noGrp="1"/>
          </p:cNvGraphicFramePr>
          <p:nvPr/>
        </p:nvGraphicFramePr>
        <p:xfrm>
          <a:off x="552297" y="1325880"/>
          <a:ext cx="11146536" cy="3858768"/>
        </p:xfrm>
        <a:graphic>
          <a:graphicData uri="http://schemas.openxmlformats.org/drawingml/2006/table">
            <a:tbl>
              <a:tblPr>
                <a:tableStyleId>{2D5ABB26-0587-4C30-8999-92F81FD0307C}</a:tableStyleId>
              </a:tblPr>
              <a:tblGrid>
                <a:gridCol w="24688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288536">
                  <a:extLst>
                    <a:ext uri="{9D8B030D-6E8A-4147-A177-3AD203B41FA5}">
                      <a16:colId xmlns:a16="http://schemas.microsoft.com/office/drawing/2014/main" val="20002"/>
                    </a:ext>
                  </a:extLst>
                </a:gridCol>
              </a:tblGrid>
              <a:tr h="384048">
                <a:tc>
                  <a:txBody>
                    <a:bodyPr/>
                    <a:lstStyle/>
                    <a:p>
                      <a:pPr algn="l"/>
                      <a:r>
                        <a:rPr sz="1500" b="1">
                          <a:solidFill>
                            <a:srgbClr val="FFFFFF"/>
                          </a:solidFill>
                          <a:latin typeface="Gartner Sans"/>
                          <a:ea typeface="Gartner Sans"/>
                          <a:cs typeface="Gartner Sans"/>
                        </a:rPr>
                        <a:t>Challenge</a:t>
                      </a:r>
                    </a:p>
                  </a:txBody>
                  <a:tcPr marL="137160" marR="137160" anchor="ctr">
                    <a:solidFill>
                      <a:srgbClr val="002869"/>
                    </a:solidFill>
                  </a:tcPr>
                </a:tc>
                <a:tc>
                  <a:txBody>
                    <a:bodyPr/>
                    <a:lstStyle/>
                    <a:p>
                      <a:pPr algn="l"/>
                      <a:r>
                        <a:rPr sz="1500" b="1">
                          <a:solidFill>
                            <a:srgbClr val="FFFFFF"/>
                          </a:solidFill>
                          <a:latin typeface="Gartner Sans"/>
                          <a:ea typeface="Gartner Sans"/>
                          <a:cs typeface="Gartner Sans"/>
                        </a:rPr>
                        <a:t>What Gartner sees</a:t>
                      </a:r>
                    </a:p>
                  </a:txBody>
                  <a:tcPr marL="137160" marR="137160" anchor="ctr">
                    <a:solidFill>
                      <a:srgbClr val="002869"/>
                    </a:solidFill>
                  </a:tcPr>
                </a:tc>
                <a:tc>
                  <a:txBody>
                    <a:bodyPr/>
                    <a:lstStyle/>
                    <a:p>
                      <a:pPr algn="l"/>
                      <a:r>
                        <a:rPr sz="1500" b="1">
                          <a:solidFill>
                            <a:srgbClr val="FFFFFF"/>
                          </a:solidFill>
                          <a:latin typeface="Gartner Sans"/>
                          <a:ea typeface="Gartner Sans"/>
                          <a:cs typeface="Gartner Sans"/>
                        </a:rPr>
                        <a:t>For requirements, review, delivery and support roles</a:t>
                      </a:r>
                    </a:p>
                  </a:txBody>
                  <a:tcPr marL="137160" marR="137160" anchor="ctr">
                    <a:solidFill>
                      <a:srgbClr val="002869"/>
                    </a:solidFill>
                  </a:tcPr>
                </a:tc>
                <a:extLst>
                  <a:ext uri="{0D108BD9-81ED-4DB2-BD59-A6C34878D82A}">
                    <a16:rowId xmlns:a16="http://schemas.microsoft.com/office/drawing/2014/main" val="10000"/>
                  </a:ext>
                </a:extLst>
              </a:tr>
              <a:tr h="694944">
                <a:tc>
                  <a:txBody>
                    <a:bodyPr/>
                    <a:lstStyle/>
                    <a:p>
                      <a:pPr algn="l"/>
                      <a:r>
                        <a:rPr sz="1500" b="1">
                          <a:solidFill>
                            <a:srgbClr val="152230"/>
                          </a:solidFill>
                          <a:latin typeface="Gartner Sans"/>
                          <a:ea typeface="Gartner Sans"/>
                          <a:cs typeface="Gartner Sans"/>
                        </a:rPr>
                        <a:t>Requirements become the bottleneck</a:t>
                      </a:r>
                    </a:p>
                  </a:txBody>
                  <a:tcPr marL="137160" marR="137160" anchor="ctr">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Product teams struggle to turn business intent into engineering-ready work as fast as AI-assisted developers can use it.</a:t>
                      </a:r>
                    </a:p>
                  </a:txBody>
                  <a:tcPr marL="137160" marR="137160" anchor="ctr">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Business analysts and specification authors become the constraint, and the place where AI helps most.</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694944">
                <a:tc>
                  <a:txBody>
                    <a:bodyPr/>
                    <a:lstStyle/>
                    <a:p>
                      <a:pPr algn="l"/>
                      <a:r>
                        <a:rPr sz="1500" b="1">
                          <a:solidFill>
                            <a:srgbClr val="152230"/>
                          </a:solidFill>
                          <a:latin typeface="Gartner Sans"/>
                          <a:ea typeface="Gartner Sans"/>
                          <a:cs typeface="Gartner Sans"/>
                        </a:rPr>
                        <a:t>The review burden grows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41% of developers cite the burden of reviewing and validating AI output. Review queues overload.</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People who review deliverables receive more to check, and receive it faster.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694944">
                <a:tc>
                  <a:txBody>
                    <a:bodyPr/>
                    <a:lstStyle/>
                    <a:p>
                      <a:pPr algn="l"/>
                      <a:r>
                        <a:rPr sz="1500" b="1">
                          <a:solidFill>
                            <a:srgbClr val="152230"/>
                          </a:solidFill>
                          <a:latin typeface="Gartner Sans"/>
                          <a:ea typeface="Gartner Sans"/>
                          <a:cs typeface="Gartner Sans"/>
                        </a:rPr>
                        <a:t>Context is missing</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Agents drift when they rely on tacit knowledge. They need structured, current context.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Business rules, specifications and knowledge of legacy systems have to be written down and kept current.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3"/>
                  </a:ext>
                </a:extLst>
              </a:tr>
              <a:tr h="694944">
                <a:tc>
                  <a:txBody>
                    <a:bodyPr/>
                    <a:lstStyle/>
                    <a:p>
                      <a:pPr algn="l"/>
                      <a:r>
                        <a:rPr sz="1500" b="1">
                          <a:solidFill>
                            <a:srgbClr val="152230"/>
                          </a:solidFill>
                          <a:latin typeface="Gartner Sans"/>
                          <a:ea typeface="Gartner Sans"/>
                          <a:cs typeface="Gartner Sans"/>
                        </a:rPr>
                        <a:t>Roles and handoffs blur</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Role compression is uneven. Unclear human-agent handoffs increase errors and reduce trust.</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Delivery managers need to agree who decides, who approves and who is accountable.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4"/>
                  </a:ext>
                </a:extLst>
              </a:tr>
              <a:tr h="694944">
                <a:tc>
                  <a:txBody>
                    <a:bodyPr/>
                    <a:lstStyle/>
                    <a:p>
                      <a:pPr algn="l"/>
                      <a:r>
                        <a:rPr sz="1500" b="1">
                          <a:solidFill>
                            <a:srgbClr val="152230"/>
                          </a:solidFill>
                          <a:latin typeface="Gartner Sans"/>
                          <a:ea typeface="Gartner Sans"/>
                          <a:cs typeface="Gartner Sans"/>
                        </a:rPr>
                        <a:t>Skills and confidence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500" b="0">
                          <a:solidFill>
                            <a:srgbClr val="152230"/>
                          </a:solidFill>
                          <a:latin typeface="Gartner Sans"/>
                          <a:ea typeface="Gartner Sans"/>
                          <a:cs typeface="Gartner Sans"/>
                        </a:rPr>
                        <a:t>86% say the workforce is not equipped. People worry about job loss and skill erosion.</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People need time to learn on real work, and a clear account of how their role changes.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5"/>
                  </a:ext>
                </a:extLst>
              </a:tr>
            </a:tbl>
          </a:graphicData>
        </a:graphic>
      </p:graphicFrame>
      <p:sp>
        <p:nvSpPr>
          <p:cNvPr id="11" name="Source"/>
          <p:cNvSpPr txBox="1"/>
          <p:nvPr/>
        </p:nvSpPr>
        <p:spPr>
          <a:xfrm>
            <a:off x="552450" y="5981700"/>
            <a:ext cx="9700000" cy="295275"/>
          </a:xfrm>
          <a:prstGeom prst="rect">
            <a:avLst/>
          </a:prstGeom>
          <a:noFill/>
        </p:spPr>
        <p:txBody>
          <a:bodyPr wrap="square" lIns="0" tIns="0" rIns="0" bIns="0" anchor="t">
            <a:spAutoFit/>
          </a:bodyPr>
          <a:lstStyle/>
          <a:p>
            <a:pPr algn="l"/>
            <a:r>
              <a:rPr sz="1100" b="0">
                <a:solidFill>
                  <a:srgbClr val="526273"/>
                </a:solidFill>
                <a:latin typeface="Gartner Sans"/>
                <a:ea typeface="Gartner Sans"/>
                <a:cs typeface="Gartner Sans"/>
              </a:rPr>
              <a:t>Sources: G00858533; G00855654; G00850352; G00857393; G00845017; G00836860. The right-hand column is an interpretation for this audience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Culture decides whether adoption holds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84</a:t>
            </a:r>
          </a:p>
        </p:txBody>
      </p:sp>
      <p:sp>
        <p:nvSpPr>
          <p:cNvPr id="10" name="Visible tooling and practices"/>
          <p:cNvSpPr/>
          <p:nvPr/>
        </p:nvSpPr>
        <p:spPr>
          <a:xfrm>
            <a:off x="552297" y="1325880"/>
            <a:ext cx="3108960" cy="1051560"/>
          </a:xfrm>
          <a:prstGeom prst="rect">
            <a:avLst/>
          </a:prstGeom>
          <a:solidFill>
            <a:srgbClr val="002869"/>
          </a:solidFill>
          <a:ln>
            <a:noFill/>
          </a:ln>
        </p:spPr>
        <p:txBody>
          <a:bodyPr wrap="square" lIns="228600" tIns="0" rIns="182880" bIns="0" rtlCol="0" anchor="ctr"/>
          <a:lstStyle/>
          <a:p>
            <a:pPr algn="l"/>
            <a:r>
              <a:rPr sz="1550" b="1">
                <a:solidFill>
                  <a:srgbClr val="FFFFFF"/>
                </a:solidFill>
                <a:latin typeface="Gartner Sans"/>
                <a:ea typeface="Gartner Sans"/>
                <a:cs typeface="Gartner Sans"/>
              </a:rPr>
              <a:t>Visible tooling and practices</a:t>
            </a:r>
          </a:p>
        </p:txBody>
      </p:sp>
      <p:sp>
        <p:nvSpPr>
          <p:cNvPr id="11" name="Visible tooling and practices detail"/>
          <p:cNvSpPr/>
          <p:nvPr/>
        </p:nvSpPr>
        <p:spPr>
          <a:xfrm>
            <a:off x="3661257" y="1325880"/>
            <a:ext cx="8037575" cy="1051560"/>
          </a:xfrm>
          <a:prstGeom prst="rect">
            <a:avLst/>
          </a:prstGeom>
          <a:solidFill>
            <a:srgbClr val="F0F7FD"/>
          </a:solidFill>
          <a:ln>
            <a:noFill/>
          </a:ln>
        </p:spPr>
        <p:txBody>
          <a:bodyPr wrap="square" lIns="274320" tIns="0" rIns="274320" bIns="0" rtlCol="0" anchor="ctr"/>
          <a:lstStyle/>
          <a:p>
            <a:pPr algn="l"/>
            <a:r>
              <a:rPr sz="1700" b="0">
                <a:solidFill>
                  <a:srgbClr val="152230"/>
                </a:solidFill>
                <a:latin typeface="Gartner Sans"/>
                <a:ea typeface="Gartner Sans"/>
                <a:cs typeface="Gartner Sans"/>
              </a:rPr>
              <a:t>AI tools and practices arrive piecemeal, team by team. Knowledge and the gains are not shared across the organisation.</a:t>
            </a:r>
          </a:p>
        </p:txBody>
      </p:sp>
      <p:sp>
        <p:nvSpPr>
          <p:cNvPr id="12" name="Core values"/>
          <p:cNvSpPr/>
          <p:nvPr/>
        </p:nvSpPr>
        <p:spPr>
          <a:xfrm>
            <a:off x="552297" y="2514600"/>
            <a:ext cx="3108960" cy="1051560"/>
          </a:xfrm>
          <a:prstGeom prst="rect">
            <a:avLst/>
          </a:prstGeom>
          <a:solidFill>
            <a:srgbClr val="0A5CD5"/>
          </a:solidFill>
          <a:ln>
            <a:noFill/>
          </a:ln>
        </p:spPr>
        <p:txBody>
          <a:bodyPr wrap="square" lIns="228600" tIns="0" rIns="182880" bIns="0" rtlCol="0" anchor="ctr"/>
          <a:lstStyle/>
          <a:p>
            <a:pPr algn="l"/>
            <a:r>
              <a:rPr sz="1550" b="1">
                <a:solidFill>
                  <a:srgbClr val="FFFFFF"/>
                </a:solidFill>
                <a:latin typeface="Gartner Sans"/>
                <a:ea typeface="Gartner Sans"/>
                <a:cs typeface="Gartner Sans"/>
              </a:rPr>
              <a:t>Core values</a:t>
            </a:r>
          </a:p>
        </p:txBody>
      </p:sp>
      <p:sp>
        <p:nvSpPr>
          <p:cNvPr id="13" name="Core values detail"/>
          <p:cNvSpPr/>
          <p:nvPr/>
        </p:nvSpPr>
        <p:spPr>
          <a:xfrm>
            <a:off x="3661257" y="2514600"/>
            <a:ext cx="8037575" cy="1051560"/>
          </a:xfrm>
          <a:prstGeom prst="rect">
            <a:avLst/>
          </a:prstGeom>
          <a:solidFill>
            <a:srgbClr val="F0F7FD"/>
          </a:solidFill>
          <a:ln>
            <a:noFill/>
          </a:ln>
        </p:spPr>
        <p:txBody>
          <a:bodyPr wrap="square" lIns="274320" tIns="0" rIns="274320" bIns="0" rtlCol="0" anchor="ctr"/>
          <a:lstStyle/>
          <a:p>
            <a:pPr algn="l"/>
            <a:r>
              <a:rPr sz="1700" b="0">
                <a:solidFill>
                  <a:srgbClr val="152230"/>
                </a:solidFill>
                <a:latin typeface="Gartner Sans"/>
                <a:ea typeface="Gartner Sans"/>
                <a:cs typeface="Gartner Sans"/>
              </a:rPr>
              <a:t>Leaders and teams do not share values on how AI is used. Statements conflict, such as "we put quality first" against "we use AI to remove reviews".</a:t>
            </a:r>
          </a:p>
        </p:txBody>
      </p:sp>
      <p:sp>
        <p:nvSpPr>
          <p:cNvPr id="14" name="Implicit beliefs and norms"/>
          <p:cNvSpPr/>
          <p:nvPr/>
        </p:nvSpPr>
        <p:spPr>
          <a:xfrm>
            <a:off x="552297" y="3703320"/>
            <a:ext cx="3108960" cy="1051560"/>
          </a:xfrm>
          <a:prstGeom prst="rect">
            <a:avLst/>
          </a:prstGeom>
          <a:solidFill>
            <a:srgbClr val="526273"/>
          </a:solidFill>
          <a:ln>
            <a:noFill/>
          </a:ln>
        </p:spPr>
        <p:txBody>
          <a:bodyPr wrap="square" lIns="228600" tIns="0" rIns="182880" bIns="0" rtlCol="0" anchor="ctr"/>
          <a:lstStyle/>
          <a:p>
            <a:pPr algn="l"/>
            <a:r>
              <a:rPr sz="1550" b="1">
                <a:solidFill>
                  <a:srgbClr val="FFFFFF"/>
                </a:solidFill>
                <a:latin typeface="Gartner Sans"/>
                <a:ea typeface="Gartner Sans"/>
                <a:cs typeface="Gartner Sans"/>
              </a:rPr>
              <a:t>Implicit beliefs and norms</a:t>
            </a:r>
          </a:p>
        </p:txBody>
      </p:sp>
      <p:sp>
        <p:nvSpPr>
          <p:cNvPr id="15" name="Implicit beliefs and norms detail"/>
          <p:cNvSpPr/>
          <p:nvPr/>
        </p:nvSpPr>
        <p:spPr>
          <a:xfrm>
            <a:off x="3661257" y="3703320"/>
            <a:ext cx="8037575" cy="1051560"/>
          </a:xfrm>
          <a:prstGeom prst="rect">
            <a:avLst/>
          </a:prstGeom>
          <a:solidFill>
            <a:srgbClr val="F0F7FD"/>
          </a:solidFill>
          <a:ln>
            <a:noFill/>
          </a:ln>
        </p:spPr>
        <p:txBody>
          <a:bodyPr wrap="square" lIns="274320" tIns="0" rIns="274320" bIns="0" rtlCol="0" anchor="ctr"/>
          <a:lstStyle/>
          <a:p>
            <a:pPr algn="l"/>
            <a:r>
              <a:rPr sz="1700" b="0">
                <a:solidFill>
                  <a:srgbClr val="152230"/>
                </a:solidFill>
                <a:latin typeface="Gartner Sans"/>
                <a:ea typeface="Gartner Sans"/>
                <a:cs typeface="Gartner Sans"/>
              </a:rPr>
              <a:t>The hardest level to change. Distrust of AI tools, status built on what each person produces alone, long hours as proof of commitment, and ranking that discourages sharing.</a:t>
            </a:r>
          </a:p>
        </p:txBody>
      </p:sp>
      <p:sp>
        <p:nvSpPr>
          <p:cNvPr id="16" name="Note"/>
          <p:cNvSpPr/>
          <p:nvPr/>
        </p:nvSpPr>
        <p:spPr>
          <a:xfrm>
            <a:off x="552297" y="4983480"/>
            <a:ext cx="5390388" cy="777240"/>
          </a:xfrm>
          <a:prstGeom prst="rect">
            <a:avLst/>
          </a:prstGeom>
          <a:solidFill>
            <a:srgbClr val="F0F7FD"/>
          </a:solidFill>
          <a:ln>
            <a:noFill/>
          </a:ln>
        </p:spPr>
        <p:txBody>
          <a:bodyPr wrap="square" lIns="228600" rIns="228600" rtlCol="0" anchor="ctr"/>
          <a:lstStyle/>
          <a:p>
            <a:pPr algn="l"/>
            <a:r>
              <a:rPr sz="1650" b="1">
                <a:solidFill>
                  <a:srgbClr val="002869"/>
                </a:solidFill>
                <a:latin typeface="Gartner Sans"/>
                <a:ea typeface="Gartner Sans"/>
                <a:cs typeface="Gartner Sans"/>
              </a:rPr>
              <a:t>66% </a:t>
            </a:r>
            <a:r>
              <a:rPr sz="1650" b="0">
                <a:solidFill>
                  <a:srgbClr val="152230"/>
                </a:solidFill>
                <a:latin typeface="Gartner Sans"/>
                <a:ea typeface="Gartner Sans"/>
                <a:cs typeface="Gartner Sans"/>
              </a:rPr>
              <a:t>of professional developers distrust AI tooling.</a:t>
            </a:r>
          </a:p>
        </p:txBody>
      </p:sp>
      <p:sp>
        <p:nvSpPr>
          <p:cNvPr id="17" name="Note"/>
          <p:cNvSpPr/>
          <p:nvPr/>
        </p:nvSpPr>
        <p:spPr>
          <a:xfrm>
            <a:off x="6308445" y="4983480"/>
            <a:ext cx="5390388" cy="777240"/>
          </a:xfrm>
          <a:prstGeom prst="rect">
            <a:avLst/>
          </a:prstGeom>
          <a:solidFill>
            <a:srgbClr val="F0F7FD"/>
          </a:solidFill>
          <a:ln>
            <a:noFill/>
          </a:ln>
        </p:spPr>
        <p:txBody>
          <a:bodyPr wrap="square" lIns="228600" rIns="228600" rtlCol="0" anchor="ctr"/>
          <a:lstStyle/>
          <a:p>
            <a:pPr algn="l"/>
            <a:r>
              <a:rPr sz="1650" b="1">
                <a:solidFill>
                  <a:srgbClr val="002869"/>
                </a:solidFill>
                <a:latin typeface="Gartner Sans"/>
                <a:ea typeface="Gartner Sans"/>
                <a:cs typeface="Gartner Sans"/>
              </a:rPr>
              <a:t>Seven-fold </a:t>
            </a:r>
            <a:r>
              <a:rPr sz="1650" b="0">
                <a:solidFill>
                  <a:srgbClr val="152230"/>
                </a:solidFill>
                <a:latin typeface="Gartner Sans"/>
                <a:ea typeface="Gartner Sans"/>
                <a:cs typeface="Gartner Sans"/>
              </a:rPr>
              <a:t>rise in Gartner client discussions on AI and culture between 2023 and 2025.</a:t>
            </a:r>
          </a:p>
        </p:txBody>
      </p:sp>
      <p:sp>
        <p:nvSpPr>
          <p:cNvPr id="18"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G00834021 (three levels adapted from Edgar Schein)</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Shape the culture at each of the three levels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85</a:t>
            </a:r>
          </a:p>
        </p:txBody>
      </p:sp>
      <p:sp>
        <p:nvSpPr>
          <p:cNvPr id="10" name="Make AI use visible heading"/>
          <p:cNvSpPr/>
          <p:nvPr/>
        </p:nvSpPr>
        <p:spPr>
          <a:xfrm>
            <a:off x="552297" y="1325880"/>
            <a:ext cx="3532632" cy="502920"/>
          </a:xfrm>
          <a:prstGeom prst="rect">
            <a:avLst/>
          </a:prstGeom>
          <a:solidFill>
            <a:srgbClr val="002869"/>
          </a:solidFill>
          <a:ln>
            <a:noFill/>
          </a:ln>
        </p:spPr>
        <p:txBody>
          <a:bodyPr wrap="square" lIns="201168" tIns="0" rIns="182880" bIns="0" rtlCol="0" anchor="ctr"/>
          <a:lstStyle/>
          <a:p>
            <a:pPr algn="l"/>
            <a:r>
              <a:rPr sz="1750" b="1">
                <a:solidFill>
                  <a:srgbClr val="FFFFFF"/>
                </a:solidFill>
                <a:latin typeface="Gartner Sans"/>
                <a:ea typeface="Gartner Sans"/>
                <a:cs typeface="Gartner Sans"/>
              </a:rPr>
              <a:t>1  Make AI use visible</a:t>
            </a:r>
          </a:p>
        </p:txBody>
      </p:sp>
      <p:sp>
        <p:nvSpPr>
          <p:cNvPr id="11" name="Make AI use visible body"/>
          <p:cNvSpPr/>
          <p:nvPr/>
        </p:nvSpPr>
        <p:spPr>
          <a:xfrm>
            <a:off x="552297" y="1828800"/>
            <a:ext cx="3532632" cy="3017520"/>
          </a:xfrm>
          <a:prstGeom prst="rect">
            <a:avLst/>
          </a:prstGeom>
          <a:solidFill>
            <a:srgbClr val="F0F7FD"/>
          </a:solidFill>
          <a:ln>
            <a:noFill/>
          </a:ln>
        </p:spPr>
        <p:txBody>
          <a:bodyPr wrap="square" lIns="201168" tIns="182880" rIns="182880" bIns="91440" rtlCol="0" anchor="t"/>
          <a:lstStyle/>
          <a:p>
            <a:pPr marL="171450" indent="-171450" algn="l">
              <a:buFont typeface="Arial"/>
              <a:buChar char="•"/>
            </a:pPr>
            <a:r>
              <a:rPr sz="1500" b="0">
                <a:solidFill>
                  <a:srgbClr val="152230"/>
                </a:solidFill>
                <a:latin typeface="Gartner Sans"/>
                <a:ea typeface="Gartner Sans"/>
                <a:cs typeface="Gartner Sans"/>
              </a:rPr>
              <a:t>Provide and endorse the tools openly, with training</a:t>
            </a:r>
          </a:p>
          <a:p>
            <a:pPr marL="171450" indent="-171450" algn="l">
              <a:spcBef>
                <a:spcPts val="600"/>
              </a:spcBef>
              <a:buFont typeface="Arial"/>
              <a:buChar char="•"/>
            </a:pPr>
            <a:r>
              <a:rPr sz="1500" b="0">
                <a:solidFill>
                  <a:srgbClr val="152230"/>
                </a:solidFill>
                <a:latin typeface="Gartner Sans"/>
                <a:ea typeface="Gartner Sans"/>
                <a:cs typeface="Gartner Sans"/>
              </a:rPr>
              <a:t>Show the practice changes: shorter iterations, AI-assisted review, new roles</a:t>
            </a:r>
          </a:p>
          <a:p>
            <a:pPr marL="171450" indent="-171450" algn="l">
              <a:spcBef>
                <a:spcPts val="600"/>
              </a:spcBef>
              <a:buFont typeface="Arial"/>
              <a:buChar char="•"/>
            </a:pPr>
            <a:r>
              <a:rPr sz="1500" b="0">
                <a:solidFill>
                  <a:srgbClr val="152230"/>
                </a:solidFill>
                <a:latin typeface="Gartner Sans"/>
                <a:ea typeface="Gartner Sans"/>
                <a:cs typeface="Gartner Sans"/>
              </a:rPr>
              <a:t>Set up communities of practice to share what works</a:t>
            </a:r>
          </a:p>
        </p:txBody>
      </p:sp>
      <p:sp>
        <p:nvSpPr>
          <p:cNvPr id="12" name="Agree the values heading"/>
          <p:cNvSpPr/>
          <p:nvPr/>
        </p:nvSpPr>
        <p:spPr>
          <a:xfrm>
            <a:off x="4359249" y="1325880"/>
            <a:ext cx="3532632" cy="502920"/>
          </a:xfrm>
          <a:prstGeom prst="rect">
            <a:avLst/>
          </a:prstGeom>
          <a:solidFill>
            <a:srgbClr val="002869"/>
          </a:solidFill>
          <a:ln>
            <a:noFill/>
          </a:ln>
        </p:spPr>
        <p:txBody>
          <a:bodyPr wrap="square" lIns="201168" tIns="0" rIns="182880" bIns="0" rtlCol="0" anchor="ctr"/>
          <a:lstStyle/>
          <a:p>
            <a:pPr algn="l"/>
            <a:r>
              <a:rPr sz="1750" b="1">
                <a:solidFill>
                  <a:srgbClr val="FFFFFF"/>
                </a:solidFill>
                <a:latin typeface="Gartner Sans"/>
                <a:ea typeface="Gartner Sans"/>
                <a:cs typeface="Gartner Sans"/>
              </a:rPr>
              <a:t>2  Agree the values</a:t>
            </a:r>
          </a:p>
        </p:txBody>
      </p:sp>
      <p:sp>
        <p:nvSpPr>
          <p:cNvPr id="13" name="Agree the values body"/>
          <p:cNvSpPr/>
          <p:nvPr/>
        </p:nvSpPr>
        <p:spPr>
          <a:xfrm>
            <a:off x="4359249" y="1828800"/>
            <a:ext cx="3532632" cy="3017520"/>
          </a:xfrm>
          <a:prstGeom prst="rect">
            <a:avLst/>
          </a:prstGeom>
          <a:solidFill>
            <a:srgbClr val="F0F7FD"/>
          </a:solidFill>
          <a:ln>
            <a:noFill/>
          </a:ln>
        </p:spPr>
        <p:txBody>
          <a:bodyPr wrap="square" lIns="201168" tIns="182880" rIns="182880" bIns="91440" rtlCol="0" anchor="t"/>
          <a:lstStyle/>
          <a:p>
            <a:pPr marL="171450" indent="-171450" algn="l">
              <a:buFont typeface="Arial"/>
              <a:buChar char="•"/>
            </a:pPr>
            <a:r>
              <a:rPr sz="1500" b="0">
                <a:solidFill>
                  <a:srgbClr val="152230"/>
                </a:solidFill>
                <a:latin typeface="Gartner Sans"/>
                <a:ea typeface="Gartner Sans"/>
                <a:cs typeface="Gartner Sans"/>
              </a:rPr>
              <a:t>Define with teams "the things we say about ourselves"</a:t>
            </a:r>
          </a:p>
          <a:p>
            <a:pPr marL="171450" indent="-171450" algn="l">
              <a:spcBef>
                <a:spcPts val="600"/>
              </a:spcBef>
              <a:buFont typeface="Arial"/>
              <a:buChar char="•"/>
            </a:pPr>
            <a:r>
              <a:rPr sz="1500" b="0">
                <a:solidFill>
                  <a:srgbClr val="152230"/>
                </a:solidFill>
                <a:latin typeface="Gartner Sans"/>
                <a:ea typeface="Gartner Sans"/>
                <a:cs typeface="Gartner Sans"/>
              </a:rPr>
              <a:t>Examples: curiosity, frequent experimentation, adaptability, ongoing learning</a:t>
            </a:r>
          </a:p>
          <a:p>
            <a:pPr marL="171450" indent="-171450" algn="l">
              <a:spcBef>
                <a:spcPts val="600"/>
              </a:spcBef>
              <a:buFont typeface="Arial"/>
              <a:buChar char="•"/>
            </a:pPr>
            <a:r>
              <a:rPr sz="1500" b="0">
                <a:solidFill>
                  <a:srgbClr val="152230"/>
                </a:solidFill>
                <a:latin typeface="Gartner Sans"/>
                <a:ea typeface="Gartner Sans"/>
                <a:cs typeface="Gartner Sans"/>
              </a:rPr>
              <a:t>Check that the values support quality and can be acted on</a:t>
            </a:r>
          </a:p>
        </p:txBody>
      </p:sp>
      <p:sp>
        <p:nvSpPr>
          <p:cNvPr id="14" name="Rewrite the norms heading"/>
          <p:cNvSpPr/>
          <p:nvPr/>
        </p:nvSpPr>
        <p:spPr>
          <a:xfrm>
            <a:off x="8166201" y="1325880"/>
            <a:ext cx="3532632" cy="502920"/>
          </a:xfrm>
          <a:prstGeom prst="rect">
            <a:avLst/>
          </a:prstGeom>
          <a:solidFill>
            <a:srgbClr val="002869"/>
          </a:solidFill>
          <a:ln>
            <a:noFill/>
          </a:ln>
        </p:spPr>
        <p:txBody>
          <a:bodyPr wrap="square" lIns="201168" tIns="0" rIns="182880" bIns="0" rtlCol="0" anchor="ctr"/>
          <a:lstStyle/>
          <a:p>
            <a:pPr algn="l"/>
            <a:r>
              <a:rPr sz="1750" b="1">
                <a:solidFill>
                  <a:srgbClr val="FFFFFF"/>
                </a:solidFill>
                <a:latin typeface="Gartner Sans"/>
                <a:ea typeface="Gartner Sans"/>
                <a:cs typeface="Gartner Sans"/>
              </a:rPr>
              <a:t>3  Rewrite the norms</a:t>
            </a:r>
          </a:p>
        </p:txBody>
      </p:sp>
      <p:sp>
        <p:nvSpPr>
          <p:cNvPr id="15" name="Rewrite the norms body"/>
          <p:cNvSpPr/>
          <p:nvPr/>
        </p:nvSpPr>
        <p:spPr>
          <a:xfrm>
            <a:off x="8166201" y="1828800"/>
            <a:ext cx="3532632" cy="3017520"/>
          </a:xfrm>
          <a:prstGeom prst="rect">
            <a:avLst/>
          </a:prstGeom>
          <a:solidFill>
            <a:srgbClr val="F0F7FD"/>
          </a:solidFill>
          <a:ln>
            <a:noFill/>
          </a:ln>
        </p:spPr>
        <p:txBody>
          <a:bodyPr wrap="square" lIns="201168" tIns="182880" rIns="182880" bIns="91440" rtlCol="0" anchor="t"/>
          <a:lstStyle/>
          <a:p>
            <a:pPr marL="171450" indent="-171450" algn="l">
              <a:buFont typeface="Arial"/>
              <a:buChar char="•"/>
            </a:pPr>
            <a:r>
              <a:rPr sz="1500" b="0">
                <a:solidFill>
                  <a:srgbClr val="152230"/>
                </a:solidFill>
                <a:latin typeface="Gartner Sans"/>
                <a:ea typeface="Gartner Sans"/>
                <a:cs typeface="Gartner Sans"/>
              </a:rPr>
              <a:t>Repeated, successful use of AI changes beliefs</a:t>
            </a:r>
          </a:p>
          <a:p>
            <a:pPr marL="171450" indent="-171450" algn="l">
              <a:spcBef>
                <a:spcPts val="600"/>
              </a:spcBef>
              <a:buFont typeface="Arial"/>
              <a:buChar char="•"/>
            </a:pPr>
            <a:r>
              <a:rPr sz="1500" b="0">
                <a:solidFill>
                  <a:srgbClr val="152230"/>
                </a:solidFill>
                <a:latin typeface="Gartner Sans"/>
                <a:ea typeface="Gartner Sans"/>
                <a:cs typeface="Gartner Sans"/>
              </a:rPr>
              <a:t>Tell people their judgement is the guardrail that keeps AI output sound</a:t>
            </a:r>
          </a:p>
          <a:p>
            <a:pPr marL="171450" indent="-171450" algn="l">
              <a:spcBef>
                <a:spcPts val="600"/>
              </a:spcBef>
              <a:buFont typeface="Arial"/>
              <a:buChar char="•"/>
            </a:pPr>
            <a:r>
              <a:rPr sz="1500" b="0">
                <a:solidFill>
                  <a:srgbClr val="152230"/>
                </a:solidFill>
                <a:latin typeface="Gartner Sans"/>
                <a:ea typeface="Gartner Sans"/>
                <a:cs typeface="Gartner Sans"/>
              </a:rPr>
              <a:t>Remove incentives that discourage sharing</a:t>
            </a:r>
          </a:p>
          <a:p>
            <a:pPr marL="171450" indent="-171450" algn="l">
              <a:spcBef>
                <a:spcPts val="600"/>
              </a:spcBef>
              <a:buFont typeface="Arial"/>
              <a:buChar char="•"/>
            </a:pPr>
            <a:r>
              <a:rPr sz="1500" b="0">
                <a:solidFill>
                  <a:srgbClr val="152230"/>
                </a:solidFill>
                <a:latin typeface="Gartner Sans"/>
                <a:ea typeface="Gartner Sans"/>
                <a:cs typeface="Gartner Sans"/>
              </a:rPr>
              <a:t>Aim for: AI augments people, and teams stay responsible for what they deliver</a:t>
            </a:r>
          </a:p>
        </p:txBody>
      </p:sp>
      <p:sp>
        <p:nvSpPr>
          <p:cNvPr id="16" name="Note"/>
          <p:cNvSpPr/>
          <p:nvPr/>
        </p:nvSpPr>
        <p:spPr>
          <a:xfrm>
            <a:off x="552297" y="5029200"/>
            <a:ext cx="11146536" cy="73152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Address job concerns openly. </a:t>
            </a:r>
            <a:r>
              <a:rPr sz="1800" b="0">
                <a:solidFill>
                  <a:srgbClr val="152230"/>
                </a:solidFill>
                <a:latin typeface="Gartner Sans"/>
                <a:ea typeface="Gartner Sans"/>
                <a:cs typeface="Gartner Sans"/>
              </a:rPr>
              <a:t>Vizient uses an empathy map for each role to answer three questions: how will AI affect my job, my responsibility and my schedule?</a:t>
            </a:r>
          </a:p>
        </p:txBody>
      </p:sp>
      <p:sp>
        <p:nvSpPr>
          <p:cNvPr id="17"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G00834021; G00843405 (Vizient)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Move the burden from individuals to shared practices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86</a:t>
            </a:r>
          </a:p>
        </p:txBody>
      </p:sp>
      <p:sp>
        <p:nvSpPr>
          <p:cNvPr id="10" name="Column 1 heading"/>
          <p:cNvSpPr/>
          <p:nvPr/>
        </p:nvSpPr>
        <p:spPr>
          <a:xfrm>
            <a:off x="552297" y="1325880"/>
            <a:ext cx="2615184" cy="502920"/>
          </a:xfrm>
          <a:prstGeom prst="rect">
            <a:avLst/>
          </a:prstGeom>
          <a:solidFill>
            <a:srgbClr val="002869"/>
          </a:solidFill>
          <a:ln>
            <a:noFill/>
          </a:ln>
        </p:spPr>
        <p:txBody>
          <a:bodyPr wrap="square" lIns="137160" tIns="0" bIns="0" rtlCol="0" anchor="ctr"/>
          <a:lstStyle/>
          <a:p>
            <a:pPr algn="l"/>
            <a:r>
              <a:rPr sz="1800" b="1">
                <a:solidFill>
                  <a:srgbClr val="FFFFFF"/>
                </a:solidFill>
                <a:latin typeface="Gartner Sans"/>
                <a:ea typeface="Gartner Sans"/>
                <a:cs typeface="Gartner Sans"/>
              </a:rPr>
              <a:t>Tool sprawl</a:t>
            </a:r>
          </a:p>
        </p:txBody>
      </p:sp>
      <p:sp>
        <p:nvSpPr>
          <p:cNvPr id="11" name="Column 1 items"/>
          <p:cNvSpPr/>
          <p:nvPr/>
        </p:nvSpPr>
        <p:spPr>
          <a:xfrm>
            <a:off x="552297" y="1828800"/>
            <a:ext cx="2615184" cy="3429000"/>
          </a:xfrm>
          <a:prstGeom prst="rect">
            <a:avLst/>
          </a:prstGeom>
          <a:solidFill>
            <a:srgbClr val="F0F7FD"/>
          </a:solidFill>
          <a:ln>
            <a:noFill/>
          </a:ln>
        </p:spPr>
        <p:txBody>
          <a:bodyPr wrap="square" lIns="137160" tIns="128016" rtlCol="0" anchor="t"/>
          <a:lstStyle/>
          <a:p>
            <a:pPr marL="171450" indent="-171450" algn="l">
              <a:buFont typeface="Arial"/>
              <a:buChar char="•"/>
            </a:pPr>
            <a:r>
              <a:rPr sz="1550" b="0">
                <a:solidFill>
                  <a:srgbClr val="152230"/>
                </a:solidFill>
                <a:latin typeface="Gartner Sans"/>
                <a:ea typeface="Gartner Sans"/>
                <a:cs typeface="Gartner Sans"/>
              </a:rPr>
              <a:t>Curate a set of approved AI tools</a:t>
            </a:r>
          </a:p>
          <a:p>
            <a:pPr marL="171450" indent="-171450" algn="l">
              <a:spcBef>
                <a:spcPts val="400"/>
              </a:spcBef>
              <a:buFont typeface="Arial"/>
              <a:buChar char="•"/>
            </a:pPr>
            <a:r>
              <a:rPr sz="1550" b="0">
                <a:solidFill>
                  <a:srgbClr val="152230"/>
                </a:solidFill>
                <a:latin typeface="Gartner Sans"/>
                <a:ea typeface="Gartner Sans"/>
                <a:cs typeface="Gartner Sans"/>
              </a:rPr>
              <a:t>Define a paved road for each common task</a:t>
            </a:r>
          </a:p>
          <a:p>
            <a:pPr marL="171450" indent="-171450" algn="l">
              <a:spcBef>
                <a:spcPts val="400"/>
              </a:spcBef>
              <a:buFont typeface="Arial"/>
              <a:buChar char="•"/>
            </a:pPr>
            <a:r>
              <a:rPr sz="1550" b="0">
                <a:solidFill>
                  <a:srgbClr val="152230"/>
                </a:solidFill>
                <a:latin typeface="Gartner Sans"/>
                <a:ea typeface="Gartner Sans"/>
                <a:cs typeface="Gartner Sans"/>
              </a:rPr>
              <a:t>For each use case, state the tool, the workflow, the data that may be used and the review required</a:t>
            </a:r>
          </a:p>
        </p:txBody>
      </p:sp>
      <p:sp>
        <p:nvSpPr>
          <p:cNvPr id="12" name="Column 2 heading"/>
          <p:cNvSpPr/>
          <p:nvPr/>
        </p:nvSpPr>
        <p:spPr>
          <a:xfrm>
            <a:off x="3396081" y="1325880"/>
            <a:ext cx="2615184" cy="502920"/>
          </a:xfrm>
          <a:prstGeom prst="rect">
            <a:avLst/>
          </a:prstGeom>
          <a:solidFill>
            <a:srgbClr val="002869"/>
          </a:solidFill>
          <a:ln>
            <a:noFill/>
          </a:ln>
        </p:spPr>
        <p:txBody>
          <a:bodyPr wrap="square" lIns="137160" tIns="0" bIns="0" rtlCol="0" anchor="ctr"/>
          <a:lstStyle/>
          <a:p>
            <a:pPr algn="l"/>
            <a:r>
              <a:rPr sz="1800" b="1">
                <a:solidFill>
                  <a:srgbClr val="FFFFFF"/>
                </a:solidFill>
                <a:latin typeface="Gartner Sans"/>
                <a:ea typeface="Gartner Sans"/>
                <a:cs typeface="Gartner Sans"/>
              </a:rPr>
              <a:t>Rapid AI change</a:t>
            </a:r>
          </a:p>
        </p:txBody>
      </p:sp>
      <p:sp>
        <p:nvSpPr>
          <p:cNvPr id="13" name="Column 2 items"/>
          <p:cNvSpPr/>
          <p:nvPr/>
        </p:nvSpPr>
        <p:spPr>
          <a:xfrm>
            <a:off x="3396081" y="1828800"/>
            <a:ext cx="2615184" cy="3429000"/>
          </a:xfrm>
          <a:prstGeom prst="rect">
            <a:avLst/>
          </a:prstGeom>
          <a:solidFill>
            <a:srgbClr val="F0F7FD"/>
          </a:solidFill>
          <a:ln>
            <a:noFill/>
          </a:ln>
        </p:spPr>
        <p:txBody>
          <a:bodyPr wrap="square" lIns="137160" tIns="128016" rtlCol="0" anchor="t"/>
          <a:lstStyle/>
          <a:p>
            <a:pPr marL="171450" indent="-171450" algn="l">
              <a:buFont typeface="Arial"/>
              <a:buChar char="•"/>
            </a:pPr>
            <a:r>
              <a:rPr sz="1550" b="0">
                <a:solidFill>
                  <a:srgbClr val="152230"/>
                </a:solidFill>
                <a:latin typeface="Gartner Sans"/>
                <a:ea typeface="Gartner Sans"/>
                <a:cs typeface="Gartner Sans"/>
              </a:rPr>
              <a:t>Fund continuous learning as part of the work</a:t>
            </a:r>
          </a:p>
          <a:p>
            <a:pPr marL="171450" indent="-171450" algn="l">
              <a:spcBef>
                <a:spcPts val="400"/>
              </a:spcBef>
              <a:buFont typeface="Arial"/>
              <a:buChar char="•"/>
            </a:pPr>
            <a:r>
              <a:rPr sz="1550" b="0">
                <a:solidFill>
                  <a:srgbClr val="152230"/>
                </a:solidFill>
                <a:latin typeface="Gartner Sans"/>
                <a:ea typeface="Gartner Sans"/>
                <a:cs typeface="Gartner Sans"/>
              </a:rPr>
              <a:t>Use peer-led demonstrations, AI champions and communities of practice</a:t>
            </a:r>
          </a:p>
          <a:p>
            <a:pPr marL="171450" indent="-171450" algn="l">
              <a:spcBef>
                <a:spcPts val="400"/>
              </a:spcBef>
              <a:buFont typeface="Arial"/>
              <a:buChar char="•"/>
            </a:pPr>
            <a:r>
              <a:rPr sz="1550" b="0">
                <a:solidFill>
                  <a:srgbClr val="152230"/>
                </a:solidFill>
                <a:latin typeface="Gartner Sans"/>
                <a:ea typeface="Gartner Sans"/>
                <a:cs typeface="Gartner Sans"/>
              </a:rPr>
              <a:t>Hold office hours with platform and security experts</a:t>
            </a:r>
          </a:p>
          <a:p>
            <a:pPr marL="171450" indent="-171450" algn="l">
              <a:spcBef>
                <a:spcPts val="400"/>
              </a:spcBef>
              <a:buFont typeface="Arial"/>
              <a:buChar char="•"/>
            </a:pPr>
            <a:r>
              <a:rPr sz="1550" b="0">
                <a:solidFill>
                  <a:srgbClr val="152230"/>
                </a:solidFill>
                <a:latin typeface="Gartner Sans"/>
                <a:ea typeface="Gartner Sans"/>
                <a:cs typeface="Gartner Sans"/>
              </a:rPr>
              <a:t>Share patterns that worked</a:t>
            </a:r>
          </a:p>
        </p:txBody>
      </p:sp>
      <p:sp>
        <p:nvSpPr>
          <p:cNvPr id="14" name="Column 3 heading"/>
          <p:cNvSpPr/>
          <p:nvPr/>
        </p:nvSpPr>
        <p:spPr>
          <a:xfrm>
            <a:off x="6239865" y="1325880"/>
            <a:ext cx="2615184" cy="502920"/>
          </a:xfrm>
          <a:prstGeom prst="rect">
            <a:avLst/>
          </a:prstGeom>
          <a:solidFill>
            <a:srgbClr val="002869"/>
          </a:solidFill>
          <a:ln>
            <a:noFill/>
          </a:ln>
        </p:spPr>
        <p:txBody>
          <a:bodyPr wrap="square" lIns="137160" tIns="0" bIns="0" rtlCol="0" anchor="ctr"/>
          <a:lstStyle/>
          <a:p>
            <a:pPr algn="l"/>
            <a:r>
              <a:rPr sz="1800" b="1">
                <a:solidFill>
                  <a:srgbClr val="FFFFFF"/>
                </a:solidFill>
                <a:latin typeface="Gartner Sans"/>
                <a:ea typeface="Gartner Sans"/>
                <a:cs typeface="Gartner Sans"/>
              </a:rPr>
              <a:t>Review burden</a:t>
            </a:r>
          </a:p>
        </p:txBody>
      </p:sp>
      <p:sp>
        <p:nvSpPr>
          <p:cNvPr id="15" name="Column 3 items"/>
          <p:cNvSpPr/>
          <p:nvPr/>
        </p:nvSpPr>
        <p:spPr>
          <a:xfrm>
            <a:off x="6239865" y="1828800"/>
            <a:ext cx="2615184" cy="3429000"/>
          </a:xfrm>
          <a:prstGeom prst="rect">
            <a:avLst/>
          </a:prstGeom>
          <a:solidFill>
            <a:srgbClr val="F0F7FD"/>
          </a:solidFill>
          <a:ln>
            <a:noFill/>
          </a:ln>
        </p:spPr>
        <p:txBody>
          <a:bodyPr wrap="square" lIns="137160" tIns="128016" rtlCol="0" anchor="t"/>
          <a:lstStyle/>
          <a:p>
            <a:pPr marL="171450" indent="-171450" algn="l">
              <a:buFont typeface="Arial"/>
              <a:buChar char="•"/>
            </a:pPr>
            <a:r>
              <a:rPr sz="1550" b="0">
                <a:solidFill>
                  <a:srgbClr val="152230"/>
                </a:solidFill>
                <a:latin typeface="Gartner Sans"/>
                <a:ea typeface="Gartner Sans"/>
                <a:cs typeface="Gartner Sans"/>
              </a:rPr>
              <a:t>Give AI better inputs: context kept in version-controlled artefacts</a:t>
            </a:r>
          </a:p>
          <a:p>
            <a:pPr marL="171450" indent="-171450" algn="l">
              <a:spcBef>
                <a:spcPts val="400"/>
              </a:spcBef>
              <a:buFont typeface="Arial"/>
              <a:buChar char="•"/>
            </a:pPr>
            <a:r>
              <a:rPr sz="1550" b="0">
                <a:solidFill>
                  <a:srgbClr val="152230"/>
                </a:solidFill>
                <a:latin typeface="Gartner Sans"/>
                <a:ea typeface="Gartner Sans"/>
                <a:cs typeface="Gartner Sans"/>
              </a:rPr>
              <a:t>Automate routine checks before human review</a:t>
            </a:r>
          </a:p>
          <a:p>
            <a:pPr marL="171450" indent="-171450" algn="l">
              <a:spcBef>
                <a:spcPts val="400"/>
              </a:spcBef>
              <a:buFont typeface="Arial"/>
              <a:buChar char="•"/>
            </a:pPr>
            <a:r>
              <a:rPr sz="1550" b="0">
                <a:solidFill>
                  <a:srgbClr val="152230"/>
                </a:solidFill>
                <a:latin typeface="Gartner Sans"/>
                <a:ea typeface="Gartner Sans"/>
                <a:cs typeface="Gartner Sans"/>
              </a:rPr>
              <a:t>Set review tiers by risk, so that people check what matters</a:t>
            </a:r>
          </a:p>
        </p:txBody>
      </p:sp>
      <p:sp>
        <p:nvSpPr>
          <p:cNvPr id="16" name="Column 4 heading"/>
          <p:cNvSpPr/>
          <p:nvPr/>
        </p:nvSpPr>
        <p:spPr>
          <a:xfrm>
            <a:off x="9083649" y="1325880"/>
            <a:ext cx="2615184" cy="502920"/>
          </a:xfrm>
          <a:prstGeom prst="rect">
            <a:avLst/>
          </a:prstGeom>
          <a:solidFill>
            <a:srgbClr val="002869"/>
          </a:solidFill>
          <a:ln>
            <a:noFill/>
          </a:ln>
        </p:spPr>
        <p:txBody>
          <a:bodyPr wrap="square" lIns="137160" tIns="0" bIns="0" rtlCol="0" anchor="ctr"/>
          <a:lstStyle/>
          <a:p>
            <a:pPr algn="l"/>
            <a:r>
              <a:rPr sz="1800" b="1">
                <a:solidFill>
                  <a:srgbClr val="FFFFFF"/>
                </a:solidFill>
                <a:latin typeface="Gartner Sans"/>
                <a:ea typeface="Gartner Sans"/>
                <a:cs typeface="Gartner Sans"/>
              </a:rPr>
              <a:t>Risk concerns</a:t>
            </a:r>
          </a:p>
        </p:txBody>
      </p:sp>
      <p:sp>
        <p:nvSpPr>
          <p:cNvPr id="17" name="Column 4 items"/>
          <p:cNvSpPr/>
          <p:nvPr/>
        </p:nvSpPr>
        <p:spPr>
          <a:xfrm>
            <a:off x="9083649" y="1828800"/>
            <a:ext cx="2615184" cy="3429000"/>
          </a:xfrm>
          <a:prstGeom prst="rect">
            <a:avLst/>
          </a:prstGeom>
          <a:solidFill>
            <a:srgbClr val="F0F7FD"/>
          </a:solidFill>
          <a:ln>
            <a:noFill/>
          </a:ln>
        </p:spPr>
        <p:txBody>
          <a:bodyPr wrap="square" lIns="137160" tIns="128016" rtlCol="0" anchor="t"/>
          <a:lstStyle/>
          <a:p>
            <a:pPr marL="171450" indent="-171450" algn="l">
              <a:buFont typeface="Arial"/>
              <a:buChar char="•"/>
            </a:pPr>
            <a:r>
              <a:rPr sz="1550" b="0">
                <a:solidFill>
                  <a:srgbClr val="152230"/>
                </a:solidFill>
                <a:latin typeface="Gartner Sans"/>
                <a:ea typeface="Gartner Sans"/>
                <a:cs typeface="Gartner Sans"/>
              </a:rPr>
              <a:t>Build data-use, security and compliance rules into tools and pipelines</a:t>
            </a:r>
          </a:p>
          <a:p>
            <a:pPr marL="171450" indent="-171450" algn="l">
              <a:spcBef>
                <a:spcPts val="400"/>
              </a:spcBef>
              <a:buFont typeface="Arial"/>
              <a:buChar char="•"/>
            </a:pPr>
            <a:r>
              <a:rPr sz="1550" b="0">
                <a:solidFill>
                  <a:srgbClr val="152230"/>
                </a:solidFill>
                <a:latin typeface="Gartner Sans"/>
                <a:ea typeface="Gartner Sans"/>
                <a:cs typeface="Gartner Sans"/>
              </a:rPr>
              <a:t>Keep human approval for high-risk changes</a:t>
            </a:r>
          </a:p>
          <a:p>
            <a:pPr marL="171450" indent="-171450" algn="l">
              <a:spcBef>
                <a:spcPts val="400"/>
              </a:spcBef>
              <a:buFont typeface="Arial"/>
              <a:buChar char="•"/>
            </a:pPr>
            <a:r>
              <a:rPr sz="1550" b="0">
                <a:solidFill>
                  <a:srgbClr val="152230"/>
                </a:solidFill>
                <a:latin typeface="Gartner Sans"/>
                <a:ea typeface="Gartner Sans"/>
                <a:cs typeface="Gartner Sans"/>
              </a:rPr>
              <a:t>Do not make each person the manual backstop for every risk</a:t>
            </a:r>
          </a:p>
        </p:txBody>
      </p:sp>
      <p:sp>
        <p:nvSpPr>
          <p:cNvPr id="18" name="Note"/>
          <p:cNvSpPr/>
          <p:nvPr/>
        </p:nvSpPr>
        <p:spPr>
          <a:xfrm>
            <a:off x="552297" y="5394960"/>
            <a:ext cx="11146536" cy="41148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Gartner: </a:t>
            </a:r>
            <a:r>
              <a:rPr sz="1800" b="0">
                <a:solidFill>
                  <a:srgbClr val="152230"/>
                </a:solidFill>
                <a:latin typeface="Gartner Sans"/>
                <a:ea typeface="Gartner Sans"/>
                <a:cs typeface="Gartner Sans"/>
              </a:rPr>
              <a:t>"go safe to go fast". Make the compliant route easier than the unmanaged one.</a:t>
            </a:r>
          </a:p>
        </p:txBody>
      </p:sp>
      <p:sp>
        <p:nvSpPr>
          <p:cNvPr id="19"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G00855654</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Most AI agent failures are leadership failures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87</a:t>
            </a:r>
          </a:p>
        </p:txBody>
      </p:sp>
      <p:sp>
        <p:nvSpPr>
          <p:cNvPr id="10" name="Treat agents as products heading"/>
          <p:cNvSpPr/>
          <p:nvPr/>
        </p:nvSpPr>
        <p:spPr>
          <a:xfrm>
            <a:off x="552297" y="1325880"/>
            <a:ext cx="3532632" cy="594360"/>
          </a:xfrm>
          <a:prstGeom prst="rect">
            <a:avLst/>
          </a:prstGeom>
          <a:solidFill>
            <a:srgbClr val="002869"/>
          </a:solidFill>
          <a:ln>
            <a:noFill/>
          </a:ln>
        </p:spPr>
        <p:txBody>
          <a:bodyPr wrap="square" lIns="201168" tIns="0" rIns="182880" bIns="0" rtlCol="0" anchor="ctr"/>
          <a:lstStyle/>
          <a:p>
            <a:pPr algn="l"/>
            <a:r>
              <a:rPr sz="1750" b="1">
                <a:solidFill>
                  <a:srgbClr val="FFFFFF"/>
                </a:solidFill>
                <a:latin typeface="Gartner Sans"/>
                <a:ea typeface="Gartner Sans"/>
                <a:cs typeface="Gartner Sans"/>
              </a:rPr>
              <a:t>1  Treat agents as products</a:t>
            </a:r>
          </a:p>
        </p:txBody>
      </p:sp>
      <p:sp>
        <p:nvSpPr>
          <p:cNvPr id="11" name="Treat agents as products body"/>
          <p:cNvSpPr/>
          <p:nvPr/>
        </p:nvSpPr>
        <p:spPr>
          <a:xfrm>
            <a:off x="552297" y="1920240"/>
            <a:ext cx="3532632" cy="2606040"/>
          </a:xfrm>
          <a:prstGeom prst="rect">
            <a:avLst/>
          </a:prstGeom>
          <a:solidFill>
            <a:srgbClr val="F0F7FD"/>
          </a:solidFill>
          <a:ln>
            <a:noFill/>
          </a:ln>
        </p:spPr>
        <p:txBody>
          <a:bodyPr wrap="square" lIns="201168" tIns="201168" rIns="182880" bIns="137160" rtlCol="0" anchor="t"/>
          <a:lstStyle/>
          <a:p>
            <a:pPr algn="l"/>
            <a:r>
              <a:rPr sz="1700" b="0">
                <a:solidFill>
                  <a:srgbClr val="152230"/>
                </a:solidFill>
                <a:latin typeface="Gartner Sans"/>
                <a:ea typeface="Gartner Sans"/>
                <a:cs typeface="Gartner Sans"/>
              </a:rPr>
              <a:t>Before approving an agent, define its outcome, its level of autonomy, its risk boundary and how value will be measured. If a leader cannot explain these in one paragraph, the agent should not be approved.</a:t>
            </a:r>
          </a:p>
        </p:txBody>
      </p:sp>
      <p:sp>
        <p:nvSpPr>
          <p:cNvPr id="12" name="Be selective and keep it simple heading"/>
          <p:cNvSpPr/>
          <p:nvPr/>
        </p:nvSpPr>
        <p:spPr>
          <a:xfrm>
            <a:off x="4359249" y="1325880"/>
            <a:ext cx="3532632" cy="594360"/>
          </a:xfrm>
          <a:prstGeom prst="rect">
            <a:avLst/>
          </a:prstGeom>
          <a:solidFill>
            <a:srgbClr val="002869"/>
          </a:solidFill>
          <a:ln>
            <a:noFill/>
          </a:ln>
        </p:spPr>
        <p:txBody>
          <a:bodyPr wrap="square" lIns="201168" tIns="0" rIns="182880" bIns="0" rtlCol="0" anchor="ctr"/>
          <a:lstStyle/>
          <a:p>
            <a:pPr algn="l"/>
            <a:r>
              <a:rPr sz="1750" b="1">
                <a:solidFill>
                  <a:srgbClr val="FFFFFF"/>
                </a:solidFill>
                <a:latin typeface="Gartner Sans"/>
                <a:ea typeface="Gartner Sans"/>
                <a:cs typeface="Gartner Sans"/>
              </a:rPr>
              <a:t>2  Be selective and keep it simple</a:t>
            </a:r>
          </a:p>
        </p:txBody>
      </p:sp>
      <p:sp>
        <p:nvSpPr>
          <p:cNvPr id="13" name="Be selective and keep it simple body"/>
          <p:cNvSpPr/>
          <p:nvPr/>
        </p:nvSpPr>
        <p:spPr>
          <a:xfrm>
            <a:off x="4359249" y="1920240"/>
            <a:ext cx="3532632" cy="2606040"/>
          </a:xfrm>
          <a:prstGeom prst="rect">
            <a:avLst/>
          </a:prstGeom>
          <a:solidFill>
            <a:srgbClr val="F0F7FD"/>
          </a:solidFill>
          <a:ln>
            <a:noFill/>
          </a:ln>
        </p:spPr>
        <p:txBody>
          <a:bodyPr wrap="square" lIns="201168" tIns="201168" rIns="182880" bIns="137160" rtlCol="0" anchor="t"/>
          <a:lstStyle/>
          <a:p>
            <a:pPr algn="l"/>
            <a:r>
              <a:rPr sz="1700" b="0">
                <a:solidFill>
                  <a:srgbClr val="152230"/>
                </a:solidFill>
                <a:latin typeface="Gartner Sans"/>
                <a:ea typeface="Gartner Sans"/>
                <a:cs typeface="Gartner Sans"/>
              </a:rPr>
              <a:t>Use agents where the work is too dynamic for traditional automation and the impact of errors is low. Where simpler automation gives the same outcome, use that. Review agents regularly and retire those that do not deliver.</a:t>
            </a:r>
          </a:p>
        </p:txBody>
      </p:sp>
      <p:sp>
        <p:nvSpPr>
          <p:cNvPr id="14" name="Realign teams around the workflow heading"/>
          <p:cNvSpPr/>
          <p:nvPr/>
        </p:nvSpPr>
        <p:spPr>
          <a:xfrm>
            <a:off x="8166201" y="1325880"/>
            <a:ext cx="3532632" cy="594360"/>
          </a:xfrm>
          <a:prstGeom prst="rect">
            <a:avLst/>
          </a:prstGeom>
          <a:solidFill>
            <a:srgbClr val="002869"/>
          </a:solidFill>
          <a:ln>
            <a:noFill/>
          </a:ln>
        </p:spPr>
        <p:txBody>
          <a:bodyPr wrap="square" lIns="201168" tIns="0" rIns="182880" bIns="0" rtlCol="0" anchor="ctr"/>
          <a:lstStyle/>
          <a:p>
            <a:pPr algn="l"/>
            <a:r>
              <a:rPr sz="1750" b="1">
                <a:solidFill>
                  <a:srgbClr val="FFFFFF"/>
                </a:solidFill>
                <a:latin typeface="Gartner Sans"/>
                <a:ea typeface="Gartner Sans"/>
                <a:cs typeface="Gartner Sans"/>
              </a:rPr>
              <a:t>3  Realign teams around the workflow</a:t>
            </a:r>
          </a:p>
        </p:txBody>
      </p:sp>
      <p:sp>
        <p:nvSpPr>
          <p:cNvPr id="15" name="Realign teams around the workflow body"/>
          <p:cNvSpPr/>
          <p:nvPr/>
        </p:nvSpPr>
        <p:spPr>
          <a:xfrm>
            <a:off x="8166201" y="1920240"/>
            <a:ext cx="3532632" cy="2606040"/>
          </a:xfrm>
          <a:prstGeom prst="rect">
            <a:avLst/>
          </a:prstGeom>
          <a:solidFill>
            <a:srgbClr val="F0F7FD"/>
          </a:solidFill>
          <a:ln>
            <a:noFill/>
          </a:ln>
        </p:spPr>
        <p:txBody>
          <a:bodyPr wrap="square" lIns="201168" tIns="201168" rIns="182880" bIns="137160" rtlCol="0" anchor="t"/>
          <a:lstStyle/>
          <a:p>
            <a:pPr algn="l"/>
            <a:r>
              <a:rPr sz="1700" b="0">
                <a:solidFill>
                  <a:srgbClr val="152230"/>
                </a:solidFill>
                <a:latin typeface="Gartner Sans"/>
                <a:ea typeface="Gartner Sans"/>
                <a:cs typeface="Gartner Sans"/>
              </a:rPr>
              <a:t>Organise around AI-augmented workflows, not tools. Define when agents act alone, when people approve and how exceptions are handled. Invest in skills and continuous evaluation.</a:t>
            </a:r>
          </a:p>
        </p:txBody>
      </p:sp>
      <p:sp>
        <p:nvSpPr>
          <p:cNvPr id="16" name="Note"/>
          <p:cNvSpPr/>
          <p:nvPr/>
        </p:nvSpPr>
        <p:spPr>
          <a:xfrm>
            <a:off x="552297" y="4709160"/>
            <a:ext cx="11146536" cy="1051560"/>
          </a:xfrm>
          <a:prstGeom prst="rect">
            <a:avLst/>
          </a:prstGeom>
          <a:solidFill>
            <a:srgbClr val="FFF3EB"/>
          </a:solidFill>
          <a:ln w="12700">
            <a:solidFill>
              <a:srgbClr val="C8460A"/>
            </a:solidFill>
          </a:ln>
        </p:spPr>
        <p:txBody>
          <a:bodyPr wrap="square" lIns="228600" rIns="228600" rtlCol="0" anchor="ctr"/>
          <a:lstStyle/>
          <a:p>
            <a:pPr algn="l"/>
            <a:r>
              <a:rPr sz="1650" b="1">
                <a:solidFill>
                  <a:srgbClr val="152230"/>
                </a:solidFill>
                <a:latin typeface="Gartner Sans"/>
                <a:ea typeface="Gartner Sans"/>
                <a:cs typeface="Gartner Sans"/>
              </a:rPr>
              <a:t>Gartner prediction: </a:t>
            </a:r>
            <a:r>
              <a:rPr sz="1650" b="0">
                <a:solidFill>
                  <a:srgbClr val="152230"/>
                </a:solidFill>
                <a:latin typeface="Gartner Sans"/>
                <a:ea typeface="Gartner Sans"/>
                <a:cs typeface="Gartner Sans"/>
              </a:rPr>
              <a:t>by 2028, organisations that transform their operating model around AI agents will achieve three times higher productivity and 50% lower operational risk than peers that deploy agents opportunistically.</a:t>
            </a:r>
          </a:p>
        </p:txBody>
      </p:sp>
      <p:sp>
        <p:nvSpPr>
          <p:cNvPr id="17"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G00845017</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Govern the new SDLC with a continuous view of flow</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88</a:t>
            </a:r>
          </a:p>
        </p:txBody>
      </p:sp>
      <p:graphicFrame>
        <p:nvGraphicFramePr>
          <p:cNvPr id="10" name="Table"/>
          <p:cNvGraphicFramePr>
            <a:graphicFrameLocks noGrp="1"/>
          </p:cNvGraphicFramePr>
          <p:nvPr/>
        </p:nvGraphicFramePr>
        <p:xfrm>
          <a:off x="552297" y="1325880"/>
          <a:ext cx="6858000" cy="3456432"/>
        </p:xfrm>
        <a:graphic>
          <a:graphicData uri="http://schemas.openxmlformats.org/drawingml/2006/table">
            <a:tbl>
              <a:tblPr>
                <a:tableStyleId>{2D5ABB26-0587-4C30-8999-92F81FD0307C}</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457200">
                <a:tc>
                  <a:txBody>
                    <a:bodyPr/>
                    <a:lstStyle/>
                    <a:p>
                      <a:pPr algn="l"/>
                      <a:r>
                        <a:rPr sz="1500" b="1">
                          <a:solidFill>
                            <a:srgbClr val="FFFFFF"/>
                          </a:solidFill>
                          <a:latin typeface="Gartner Sans"/>
                          <a:ea typeface="Gartner Sans"/>
                          <a:cs typeface="Gartner Sans"/>
                        </a:rPr>
                        <a:t>Governance built for the old SDLC</a:t>
                      </a:r>
                    </a:p>
                  </a:txBody>
                  <a:tcPr marL="137160" marR="137160" anchor="ctr">
                    <a:solidFill>
                      <a:srgbClr val="002869"/>
                    </a:solidFill>
                  </a:tcPr>
                </a:tc>
                <a:tc>
                  <a:txBody>
                    <a:bodyPr/>
                    <a:lstStyle/>
                    <a:p>
                      <a:pPr algn="l"/>
                      <a:r>
                        <a:rPr sz="1500" b="1">
                          <a:solidFill>
                            <a:srgbClr val="FFFFFF"/>
                          </a:solidFill>
                          <a:latin typeface="Gartner Sans"/>
                          <a:ea typeface="Gartner Sans"/>
                          <a:cs typeface="Gartner Sans"/>
                        </a:rPr>
                        <a:t>Governance for a continuous flow</a:t>
                      </a:r>
                    </a:p>
                  </a:txBody>
                  <a:tcPr marL="137160" marR="137160" anchor="ctr">
                    <a:solidFill>
                      <a:srgbClr val="002869"/>
                    </a:solidFill>
                  </a:tcPr>
                </a:tc>
                <a:extLst>
                  <a:ext uri="{0D108BD9-81ED-4DB2-BD59-A6C34878D82A}">
                    <a16:rowId xmlns:a16="http://schemas.microsoft.com/office/drawing/2014/main" val="10000"/>
                  </a:ext>
                </a:extLst>
              </a:tr>
              <a:tr h="749808">
                <a:tc>
                  <a:txBody>
                    <a:bodyPr/>
                    <a:lstStyle/>
                    <a:p>
                      <a:pPr algn="l"/>
                      <a:r>
                        <a:rPr sz="1500" b="0">
                          <a:solidFill>
                            <a:srgbClr val="152230"/>
                          </a:solidFill>
                          <a:latin typeface="Gartner Sans"/>
                          <a:ea typeface="Gartner Sans"/>
                          <a:cs typeface="Gartner Sans"/>
                        </a:rPr>
                        <a:t>Periodic stage gates and sign-offs</a:t>
                      </a:r>
                    </a:p>
                  </a:txBody>
                  <a:tcPr marL="137160" marR="137160" anchor="ctr">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Continuous evaluation and monitoring of the work and of the agents</a:t>
                      </a:r>
                    </a:p>
                  </a:txBody>
                  <a:tcPr marL="137160" marR="137160" anchor="ctr">
                    <a:lnB w="9525">
                      <a:solidFill>
                        <a:srgbClr val="D0D7DF"/>
                      </a:solidFill>
                    </a:lnB>
                    <a:solidFill>
                      <a:srgbClr val="FFFFFF"/>
                    </a:solidFill>
                  </a:tcPr>
                </a:tc>
                <a:extLst>
                  <a:ext uri="{0D108BD9-81ED-4DB2-BD59-A6C34878D82A}">
                    <a16:rowId xmlns:a16="http://schemas.microsoft.com/office/drawing/2014/main" val="10001"/>
                  </a:ext>
                </a:extLst>
              </a:tr>
              <a:tr h="749808">
                <a:tc>
                  <a:txBody>
                    <a:bodyPr/>
                    <a:lstStyle/>
                    <a:p>
                      <a:pPr algn="l"/>
                      <a:r>
                        <a:rPr sz="1500" b="0">
                          <a:solidFill>
                            <a:srgbClr val="152230"/>
                          </a:solidFill>
                          <a:latin typeface="Gartner Sans"/>
                          <a:ea typeface="Gartner Sans"/>
                          <a:cs typeface="Gartner Sans"/>
                        </a:rPr>
                        <a:t>Activity measures, such as story points and velocity</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Flow and outcome measures, such as quality, security and stability</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2"/>
                  </a:ext>
                </a:extLst>
              </a:tr>
              <a:tr h="749808">
                <a:tc>
                  <a:txBody>
                    <a:bodyPr/>
                    <a:lstStyle/>
                    <a:p>
                      <a:pPr algn="l"/>
                      <a:r>
                        <a:rPr sz="1500" b="0">
                          <a:solidFill>
                            <a:srgbClr val="152230"/>
                          </a:solidFill>
                          <a:latin typeface="Gartner Sans"/>
                          <a:ea typeface="Gartner Sans"/>
                          <a:cs typeface="Gartner Sans"/>
                        </a:rPr>
                        <a:t>Manual checks by each person</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Guardrails built into the tools and the pipeline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3"/>
                  </a:ext>
                </a:extLst>
              </a:tr>
              <a:tr h="749808">
                <a:tc>
                  <a:txBody>
                    <a:bodyPr/>
                    <a:lstStyle/>
                    <a:p>
                      <a:pPr algn="l"/>
                      <a:r>
                        <a:rPr sz="1500" b="0">
                          <a:solidFill>
                            <a:srgbClr val="152230"/>
                          </a:solidFill>
                          <a:latin typeface="Gartner Sans"/>
                          <a:ea typeface="Gartner Sans"/>
                          <a:cs typeface="Gartner Sans"/>
                        </a:rPr>
                        <a:t>Approval of every change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500" b="0">
                          <a:solidFill>
                            <a:srgbClr val="152230"/>
                          </a:solidFill>
                          <a:latin typeface="Gartner Sans"/>
                          <a:ea typeface="Gartner Sans"/>
                          <a:cs typeface="Gartner Sans"/>
                        </a:rPr>
                        <a:t>Human approval kept for high-risk changes and for release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4"/>
                  </a:ext>
                </a:extLst>
              </a:tr>
            </a:tbl>
          </a:graphicData>
        </a:graphic>
      </p:graphicFrame>
      <p:sp>
        <p:nvSpPr>
          <p:cNvPr id="11" name="Why"/>
          <p:cNvSpPr/>
          <p:nvPr/>
        </p:nvSpPr>
        <p:spPr>
          <a:xfrm>
            <a:off x="552297" y="4983480"/>
            <a:ext cx="6858000" cy="777240"/>
          </a:xfrm>
          <a:prstGeom prst="rect">
            <a:avLst/>
          </a:prstGeom>
          <a:solidFill>
            <a:srgbClr val="F0F7FD"/>
          </a:solidFill>
          <a:ln>
            <a:noFill/>
          </a:ln>
        </p:spPr>
        <p:txBody>
          <a:bodyPr wrap="square" lIns="182880" rIns="182880" rtlCol="0" anchor="ctr"/>
          <a:lstStyle/>
          <a:p>
            <a:pPr algn="l"/>
            <a:r>
              <a:rPr sz="1350" b="1">
                <a:solidFill>
                  <a:srgbClr val="002869"/>
                </a:solidFill>
                <a:latin typeface="Gartner Sans"/>
                <a:ea typeface="Gartner Sans"/>
                <a:cs typeface="Gartner Sans"/>
              </a:rPr>
              <a:t>Why: </a:t>
            </a:r>
            <a:r>
              <a:rPr sz="1350" b="0">
                <a:solidFill>
                  <a:srgbClr val="152230"/>
                </a:solidFill>
                <a:latin typeface="Gartner Sans"/>
                <a:ea typeface="Gartner Sans"/>
                <a:cs typeface="Gartner Sans"/>
              </a:rPr>
              <a:t>approval-based controls do not work for systems that operate continuously. Oversight has to sit in day-to-day operations, not in a periodic review.</a:t>
            </a:r>
          </a:p>
        </p:txBody>
      </p:sp>
      <p:sp>
        <p:nvSpPr>
          <p:cNvPr id="12" name="Card heading"/>
          <p:cNvSpPr/>
          <p:nvPr/>
        </p:nvSpPr>
        <p:spPr>
          <a:xfrm>
            <a:off x="7776057" y="1325880"/>
            <a:ext cx="3922775"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What to watch, continuously</a:t>
            </a:r>
          </a:p>
        </p:txBody>
      </p:sp>
      <p:sp>
        <p:nvSpPr>
          <p:cNvPr id="13" name="Card body"/>
          <p:cNvSpPr/>
          <p:nvPr/>
        </p:nvSpPr>
        <p:spPr>
          <a:xfrm>
            <a:off x="7776057" y="1828800"/>
            <a:ext cx="3922775" cy="393192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800" b="0">
                <a:solidFill>
                  <a:srgbClr val="152230"/>
                </a:solidFill>
                <a:latin typeface="Gartner Sans"/>
                <a:ea typeface="Gartner Sans"/>
                <a:cs typeface="Gartner Sans"/>
              </a:rPr>
              <a:t>Lead time and cycle time</a:t>
            </a:r>
          </a:p>
          <a:p>
            <a:pPr marL="171450" indent="-171450" algn="l">
              <a:spcBef>
                <a:spcPts val="900"/>
              </a:spcBef>
              <a:buFont typeface="Arial"/>
              <a:buChar char="•"/>
            </a:pPr>
            <a:r>
              <a:rPr sz="1800" b="0">
                <a:solidFill>
                  <a:srgbClr val="152230"/>
                </a:solidFill>
                <a:latin typeface="Gartner Sans"/>
                <a:ea typeface="Gartner Sans"/>
                <a:cs typeface="Gartner Sans"/>
              </a:rPr>
              <a:t>Wait time between steps</a:t>
            </a:r>
          </a:p>
          <a:p>
            <a:pPr marL="171450" indent="-171450" algn="l">
              <a:spcBef>
                <a:spcPts val="900"/>
              </a:spcBef>
              <a:buFont typeface="Arial"/>
              <a:buChar char="•"/>
            </a:pPr>
            <a:r>
              <a:rPr sz="1800" b="0">
                <a:solidFill>
                  <a:srgbClr val="152230"/>
                </a:solidFill>
                <a:latin typeface="Gartner Sans"/>
                <a:ea typeface="Gartner Sans"/>
                <a:cs typeface="Gartner Sans"/>
              </a:rPr>
              <a:t>Defects that escape to users</a:t>
            </a:r>
          </a:p>
          <a:p>
            <a:pPr marL="171450" indent="-171450" algn="l">
              <a:spcBef>
                <a:spcPts val="900"/>
              </a:spcBef>
              <a:buFont typeface="Arial"/>
              <a:buChar char="•"/>
            </a:pPr>
            <a:r>
              <a:rPr sz="1800" b="0">
                <a:solidFill>
                  <a:srgbClr val="152230"/>
                </a:solidFill>
                <a:latin typeface="Gartner Sans"/>
                <a:ea typeface="Gartner Sans"/>
                <a:cs typeface="Gartner Sans"/>
              </a:rPr>
              <a:t>Rework: review churn and failed handoffs</a:t>
            </a:r>
          </a:p>
          <a:p>
            <a:pPr marL="171450" indent="-171450" algn="l">
              <a:spcBef>
                <a:spcPts val="900"/>
              </a:spcBef>
              <a:buFont typeface="Arial"/>
              <a:buChar char="•"/>
            </a:pPr>
            <a:r>
              <a:rPr sz="1800" b="0">
                <a:solidFill>
                  <a:srgbClr val="152230"/>
                </a:solidFill>
                <a:latin typeface="Gartner Sans"/>
                <a:ea typeface="Gartner Sans"/>
                <a:cs typeface="Gartner Sans"/>
              </a:rPr>
              <a:t>Share of AI work that runs through approved, controlled workflows</a:t>
            </a:r>
          </a:p>
        </p:txBody>
      </p:sp>
      <p:sp>
        <p:nvSpPr>
          <p:cNvPr id="14"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G00845017 (continuous evaluation); G00857393 (flow measures and release); G00850352 (rework); G00855654 (guardrails)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Prepare people through planning, practice and communication</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89</a:t>
            </a:r>
          </a:p>
        </p:txBody>
      </p:sp>
      <p:sp>
        <p:nvSpPr>
          <p:cNvPr id="10" name="Scenario planning heading"/>
          <p:cNvSpPr/>
          <p:nvPr/>
        </p:nvSpPr>
        <p:spPr>
          <a:xfrm>
            <a:off x="552297" y="1325880"/>
            <a:ext cx="3532632" cy="502920"/>
          </a:xfrm>
          <a:prstGeom prst="rect">
            <a:avLst/>
          </a:prstGeom>
          <a:solidFill>
            <a:srgbClr val="002869"/>
          </a:solidFill>
          <a:ln>
            <a:noFill/>
          </a:ln>
        </p:spPr>
        <p:txBody>
          <a:bodyPr wrap="square" lIns="201168" tIns="0" rIns="182880" bIns="0" rtlCol="0" anchor="ctr"/>
          <a:lstStyle/>
          <a:p>
            <a:pPr algn="l"/>
            <a:r>
              <a:rPr sz="1750" b="1">
                <a:solidFill>
                  <a:srgbClr val="FFFFFF"/>
                </a:solidFill>
                <a:latin typeface="Gartner Sans"/>
                <a:ea typeface="Gartner Sans"/>
                <a:cs typeface="Gartner Sans"/>
              </a:rPr>
              <a:t>Scenario planning</a:t>
            </a:r>
          </a:p>
        </p:txBody>
      </p:sp>
      <p:sp>
        <p:nvSpPr>
          <p:cNvPr id="11" name="Scenario planning body"/>
          <p:cNvSpPr/>
          <p:nvPr/>
        </p:nvSpPr>
        <p:spPr>
          <a:xfrm>
            <a:off x="552297" y="1828800"/>
            <a:ext cx="3532632" cy="2971800"/>
          </a:xfrm>
          <a:prstGeom prst="rect">
            <a:avLst/>
          </a:prstGeom>
          <a:solidFill>
            <a:srgbClr val="F0F7FD"/>
          </a:solidFill>
          <a:ln>
            <a:noFill/>
          </a:ln>
        </p:spPr>
        <p:txBody>
          <a:bodyPr wrap="square" lIns="201168" tIns="182880" rIns="182880" bIns="91440" rtlCol="0" anchor="t"/>
          <a:lstStyle/>
          <a:p>
            <a:pPr marL="171450" indent="-171450" algn="l">
              <a:buFont typeface="Arial"/>
              <a:buChar char="•"/>
            </a:pPr>
            <a:r>
              <a:rPr sz="1650" b="0">
                <a:solidFill>
                  <a:srgbClr val="152230"/>
                </a:solidFill>
                <a:latin typeface="Gartner Sans"/>
                <a:ea typeface="Gartner Sans"/>
                <a:cs typeface="Gartner Sans"/>
              </a:rPr>
              <a:t>Run workshops on how AI will reshape workflows, responsibilities and collaboration</a:t>
            </a:r>
          </a:p>
          <a:p>
            <a:pPr marL="171450" indent="-171450" algn="l">
              <a:spcBef>
                <a:spcPts val="600"/>
              </a:spcBef>
              <a:buFont typeface="Arial"/>
              <a:buChar char="•"/>
            </a:pPr>
            <a:r>
              <a:rPr sz="1650" b="0">
                <a:solidFill>
                  <a:srgbClr val="152230"/>
                </a:solidFill>
                <a:latin typeface="Gartner Sans"/>
                <a:ea typeface="Gartner Sans"/>
                <a:cs typeface="Gartner Sans"/>
              </a:rPr>
              <a:t>Identify which tasks will be automated, augmented or newly created</a:t>
            </a:r>
          </a:p>
          <a:p>
            <a:pPr marL="171450" indent="-171450" algn="l">
              <a:spcBef>
                <a:spcPts val="600"/>
              </a:spcBef>
              <a:buFont typeface="Arial"/>
              <a:buChar char="•"/>
            </a:pPr>
            <a:r>
              <a:rPr sz="1650" b="0">
                <a:solidFill>
                  <a:srgbClr val="152230"/>
                </a:solidFill>
                <a:latin typeface="Gartner Sans"/>
                <a:ea typeface="Gartner Sans"/>
                <a:cs typeface="Gartner Sans"/>
              </a:rPr>
              <a:t>Surface cultural concerns as well as technical ones</a:t>
            </a:r>
          </a:p>
        </p:txBody>
      </p:sp>
      <p:sp>
        <p:nvSpPr>
          <p:cNvPr id="12" name="Hands-on learning heading"/>
          <p:cNvSpPr/>
          <p:nvPr/>
        </p:nvSpPr>
        <p:spPr>
          <a:xfrm>
            <a:off x="4359249" y="1325880"/>
            <a:ext cx="3532632" cy="502920"/>
          </a:xfrm>
          <a:prstGeom prst="rect">
            <a:avLst/>
          </a:prstGeom>
          <a:solidFill>
            <a:srgbClr val="002869"/>
          </a:solidFill>
          <a:ln>
            <a:noFill/>
          </a:ln>
        </p:spPr>
        <p:txBody>
          <a:bodyPr wrap="square" lIns="201168" tIns="0" rIns="182880" bIns="0" rtlCol="0" anchor="ctr"/>
          <a:lstStyle/>
          <a:p>
            <a:pPr algn="l"/>
            <a:r>
              <a:rPr sz="1750" b="1">
                <a:solidFill>
                  <a:srgbClr val="FFFFFF"/>
                </a:solidFill>
                <a:latin typeface="Gartner Sans"/>
                <a:ea typeface="Gartner Sans"/>
                <a:cs typeface="Gartner Sans"/>
              </a:rPr>
              <a:t>Hands-on learning</a:t>
            </a:r>
          </a:p>
        </p:txBody>
      </p:sp>
      <p:sp>
        <p:nvSpPr>
          <p:cNvPr id="13" name="Hands-on learning body"/>
          <p:cNvSpPr/>
          <p:nvPr/>
        </p:nvSpPr>
        <p:spPr>
          <a:xfrm>
            <a:off x="4359249" y="1828800"/>
            <a:ext cx="3532632" cy="2971800"/>
          </a:xfrm>
          <a:prstGeom prst="rect">
            <a:avLst/>
          </a:prstGeom>
          <a:solidFill>
            <a:srgbClr val="F0F7FD"/>
          </a:solidFill>
          <a:ln>
            <a:noFill/>
          </a:ln>
        </p:spPr>
        <p:txBody>
          <a:bodyPr wrap="square" lIns="201168" tIns="182880" rIns="182880" bIns="91440" rtlCol="0" anchor="t"/>
          <a:lstStyle/>
          <a:p>
            <a:pPr marL="171450" indent="-171450" algn="l">
              <a:buFont typeface="Arial"/>
              <a:buChar char="•"/>
            </a:pPr>
            <a:r>
              <a:rPr sz="1650" b="0">
                <a:solidFill>
                  <a:srgbClr val="152230"/>
                </a:solidFill>
                <a:latin typeface="Gartner Sans"/>
                <a:ea typeface="Gartner Sans"/>
                <a:cs typeface="Gartner Sans"/>
              </a:rPr>
              <a:t>Build learning into day-to-day work</a:t>
            </a:r>
          </a:p>
          <a:p>
            <a:pPr marL="171450" indent="-171450" algn="l">
              <a:spcBef>
                <a:spcPts val="600"/>
              </a:spcBef>
              <a:buFont typeface="Arial"/>
              <a:buChar char="•"/>
            </a:pPr>
            <a:r>
              <a:rPr sz="1650" b="0">
                <a:solidFill>
                  <a:srgbClr val="152230"/>
                </a:solidFill>
                <a:latin typeface="Gartner Sans"/>
                <a:ea typeface="Gartner Sans"/>
                <a:cs typeface="Gartner Sans"/>
              </a:rPr>
              <a:t>Run pilots that pair people with AI tools</a:t>
            </a:r>
          </a:p>
          <a:p>
            <a:pPr marL="171450" indent="-171450" algn="l">
              <a:spcBef>
                <a:spcPts val="600"/>
              </a:spcBef>
              <a:buFont typeface="Arial"/>
              <a:buChar char="•"/>
            </a:pPr>
            <a:r>
              <a:rPr sz="1650" b="0">
                <a:solidFill>
                  <a:srgbClr val="152230"/>
                </a:solidFill>
                <a:latin typeface="Gartner Sans"/>
                <a:ea typeface="Gartner Sans"/>
                <a:cs typeface="Gartner Sans"/>
              </a:rPr>
              <a:t>Tie guilds and bootcamps to live projects</a:t>
            </a:r>
          </a:p>
          <a:p>
            <a:pPr marL="171450" indent="-171450" algn="l">
              <a:spcBef>
                <a:spcPts val="600"/>
              </a:spcBef>
              <a:buFont typeface="Arial"/>
              <a:buChar char="•"/>
            </a:pPr>
            <a:r>
              <a:rPr sz="1650" b="0">
                <a:solidFill>
                  <a:srgbClr val="152230"/>
                </a:solidFill>
                <a:latin typeface="Gartner Sans"/>
                <a:ea typeface="Gartner Sans"/>
                <a:cs typeface="Gartner Sans"/>
              </a:rPr>
              <a:t>Develop creativity, critical thinking and the ability to work with AI agents</a:t>
            </a:r>
          </a:p>
        </p:txBody>
      </p:sp>
      <p:sp>
        <p:nvSpPr>
          <p:cNvPr id="14" name="Two-way communication heading"/>
          <p:cNvSpPr/>
          <p:nvPr/>
        </p:nvSpPr>
        <p:spPr>
          <a:xfrm>
            <a:off x="8166201" y="1325880"/>
            <a:ext cx="3532632" cy="502920"/>
          </a:xfrm>
          <a:prstGeom prst="rect">
            <a:avLst/>
          </a:prstGeom>
          <a:solidFill>
            <a:srgbClr val="002869"/>
          </a:solidFill>
          <a:ln>
            <a:noFill/>
          </a:ln>
        </p:spPr>
        <p:txBody>
          <a:bodyPr wrap="square" lIns="201168" tIns="0" rIns="182880" bIns="0" rtlCol="0" anchor="ctr"/>
          <a:lstStyle/>
          <a:p>
            <a:pPr algn="l"/>
            <a:r>
              <a:rPr sz="1750" b="1">
                <a:solidFill>
                  <a:srgbClr val="FFFFFF"/>
                </a:solidFill>
                <a:latin typeface="Gartner Sans"/>
                <a:ea typeface="Gartner Sans"/>
                <a:cs typeface="Gartner Sans"/>
              </a:rPr>
              <a:t>Two-way communication</a:t>
            </a:r>
          </a:p>
        </p:txBody>
      </p:sp>
      <p:sp>
        <p:nvSpPr>
          <p:cNvPr id="15" name="Two-way communication body"/>
          <p:cNvSpPr/>
          <p:nvPr/>
        </p:nvSpPr>
        <p:spPr>
          <a:xfrm>
            <a:off x="8166201" y="1828800"/>
            <a:ext cx="3532632" cy="2971800"/>
          </a:xfrm>
          <a:prstGeom prst="rect">
            <a:avLst/>
          </a:prstGeom>
          <a:solidFill>
            <a:srgbClr val="F0F7FD"/>
          </a:solidFill>
          <a:ln>
            <a:noFill/>
          </a:ln>
        </p:spPr>
        <p:txBody>
          <a:bodyPr wrap="square" lIns="201168" tIns="182880" rIns="182880" bIns="91440" rtlCol="0" anchor="t"/>
          <a:lstStyle/>
          <a:p>
            <a:pPr marL="171450" indent="-171450" algn="l">
              <a:buFont typeface="Arial"/>
              <a:buChar char="•"/>
            </a:pPr>
            <a:r>
              <a:rPr sz="1650" b="0">
                <a:solidFill>
                  <a:srgbClr val="152230"/>
                </a:solidFill>
                <a:latin typeface="Gartner Sans"/>
                <a:ea typeface="Gartner Sans"/>
                <a:cs typeface="Gartner Sans"/>
              </a:rPr>
              <a:t>Say clearly what is changing and why</a:t>
            </a:r>
          </a:p>
          <a:p>
            <a:pPr marL="171450" indent="-171450" algn="l">
              <a:spcBef>
                <a:spcPts val="600"/>
              </a:spcBef>
              <a:buFont typeface="Arial"/>
              <a:buChar char="•"/>
            </a:pPr>
            <a:r>
              <a:rPr sz="1650" b="0">
                <a:solidFill>
                  <a:srgbClr val="152230"/>
                </a:solidFill>
                <a:latin typeface="Gartner Sans"/>
                <a:ea typeface="Gartner Sans"/>
                <a:cs typeface="Gartner Sans"/>
              </a:rPr>
              <a:t>Give people a route to share successes and raise problems</a:t>
            </a:r>
          </a:p>
          <a:p>
            <a:pPr marL="171450" indent="-171450" algn="l">
              <a:spcBef>
                <a:spcPts val="600"/>
              </a:spcBef>
              <a:buFont typeface="Arial"/>
              <a:buChar char="•"/>
            </a:pPr>
            <a:r>
              <a:rPr sz="1650" b="0">
                <a:solidFill>
                  <a:srgbClr val="152230"/>
                </a:solidFill>
                <a:latin typeface="Gartner Sans"/>
                <a:ea typeface="Gartner Sans"/>
                <a:cs typeface="Gartner Sans"/>
              </a:rPr>
              <a:t>Hold regular retrospectives on AI</a:t>
            </a:r>
          </a:p>
        </p:txBody>
      </p:sp>
      <p:sp>
        <p:nvSpPr>
          <p:cNvPr id="16" name="Note"/>
          <p:cNvSpPr/>
          <p:nvPr/>
        </p:nvSpPr>
        <p:spPr>
          <a:xfrm>
            <a:off x="552297" y="4983480"/>
            <a:ext cx="11146536" cy="77724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Involve partners early: </a:t>
            </a:r>
            <a:r>
              <a:rPr sz="1800" b="0">
                <a:solidFill>
                  <a:srgbClr val="152230"/>
                </a:solidFill>
                <a:latin typeface="Gartner Sans"/>
                <a:ea typeface="Gartner Sans"/>
                <a:cs typeface="Gartner Sans"/>
              </a:rPr>
              <a:t>product, security, data, risk, legal, finance and business units. Move beyond buy-in to designing the approach together.</a:t>
            </a:r>
          </a:p>
        </p:txBody>
      </p:sp>
      <p:sp>
        <p:nvSpPr>
          <p:cNvPr id="17"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G00836860</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Find time to adopt AI and learn the new behaviours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90</a:t>
            </a:r>
          </a:p>
        </p:txBody>
      </p:sp>
      <p:sp>
        <p:nvSpPr>
          <p:cNvPr id="10" name="Make learning part of the work heading"/>
          <p:cNvSpPr/>
          <p:nvPr/>
        </p:nvSpPr>
        <p:spPr>
          <a:xfrm>
            <a:off x="552297" y="1325880"/>
            <a:ext cx="3532632" cy="502920"/>
          </a:xfrm>
          <a:prstGeom prst="rect">
            <a:avLst/>
          </a:prstGeom>
          <a:solidFill>
            <a:srgbClr val="002869"/>
          </a:solidFill>
          <a:ln>
            <a:noFill/>
          </a:ln>
        </p:spPr>
        <p:txBody>
          <a:bodyPr wrap="square" lIns="201168" tIns="0" rIns="182880" bIns="0" rtlCol="0" anchor="ctr"/>
          <a:lstStyle/>
          <a:p>
            <a:pPr algn="l"/>
            <a:r>
              <a:rPr sz="1600" b="1">
                <a:solidFill>
                  <a:srgbClr val="FFFFFF"/>
                </a:solidFill>
                <a:latin typeface="Gartner Sans"/>
                <a:ea typeface="Gartner Sans"/>
                <a:cs typeface="Gartner Sans"/>
              </a:rPr>
              <a:t>1  Make learning part of the work</a:t>
            </a:r>
          </a:p>
        </p:txBody>
      </p:sp>
      <p:sp>
        <p:nvSpPr>
          <p:cNvPr id="11" name="Make learning part of the work body"/>
          <p:cNvSpPr/>
          <p:nvPr/>
        </p:nvSpPr>
        <p:spPr>
          <a:xfrm>
            <a:off x="552297" y="1828800"/>
            <a:ext cx="3532632" cy="2331720"/>
          </a:xfrm>
          <a:prstGeom prst="rect">
            <a:avLst/>
          </a:prstGeom>
          <a:solidFill>
            <a:srgbClr val="F0F7FD"/>
          </a:solidFill>
          <a:ln>
            <a:noFill/>
          </a:ln>
        </p:spPr>
        <p:txBody>
          <a:bodyPr wrap="square" lIns="201168" tIns="182880" rIns="182880" bIns="91440" rtlCol="0" anchor="t"/>
          <a:lstStyle/>
          <a:p>
            <a:pPr marL="171450" indent="-171450" algn="l">
              <a:buFont typeface="Arial"/>
              <a:buChar char="•"/>
            </a:pPr>
            <a:r>
              <a:rPr sz="1400" b="0">
                <a:solidFill>
                  <a:srgbClr val="152230"/>
                </a:solidFill>
                <a:latin typeface="Gartner Sans"/>
                <a:ea typeface="Gartner Sans"/>
                <a:cs typeface="Gartner Sans"/>
              </a:rPr>
              <a:t>Set aside recurring team capacity for practice, demonstrations and shared patterns</a:t>
            </a:r>
          </a:p>
          <a:p>
            <a:pPr marL="171450" indent="-171450" algn="l">
              <a:spcBef>
                <a:spcPts val="600"/>
              </a:spcBef>
              <a:buFont typeface="Arial"/>
              <a:buChar char="•"/>
            </a:pPr>
            <a:r>
              <a:rPr sz="1400" b="0">
                <a:solidFill>
                  <a:srgbClr val="152230"/>
                </a:solidFill>
                <a:latin typeface="Gartner Sans"/>
                <a:ea typeface="Gartner Sans"/>
                <a:cs typeface="Gartner Sans"/>
              </a:rPr>
              <a:t>Do not rely on optional, one-off training. It decays quickly</a:t>
            </a:r>
          </a:p>
        </p:txBody>
      </p:sp>
      <p:sp>
        <p:nvSpPr>
          <p:cNvPr id="12" name="Learn on real work heading"/>
          <p:cNvSpPr/>
          <p:nvPr/>
        </p:nvSpPr>
        <p:spPr>
          <a:xfrm>
            <a:off x="4359249" y="1325880"/>
            <a:ext cx="3532632" cy="502920"/>
          </a:xfrm>
          <a:prstGeom prst="rect">
            <a:avLst/>
          </a:prstGeom>
          <a:solidFill>
            <a:srgbClr val="002869"/>
          </a:solidFill>
          <a:ln>
            <a:noFill/>
          </a:ln>
        </p:spPr>
        <p:txBody>
          <a:bodyPr wrap="square" lIns="201168" tIns="0" rIns="182880" bIns="0" rtlCol="0" anchor="ctr"/>
          <a:lstStyle/>
          <a:p>
            <a:pPr algn="l"/>
            <a:r>
              <a:rPr sz="1600" b="1">
                <a:solidFill>
                  <a:srgbClr val="FFFFFF"/>
                </a:solidFill>
                <a:latin typeface="Gartner Sans"/>
                <a:ea typeface="Gartner Sans"/>
                <a:cs typeface="Gartner Sans"/>
              </a:rPr>
              <a:t>2  Learn on real work</a:t>
            </a:r>
          </a:p>
        </p:txBody>
      </p:sp>
      <p:sp>
        <p:nvSpPr>
          <p:cNvPr id="13" name="Learn on real work body"/>
          <p:cNvSpPr/>
          <p:nvPr/>
        </p:nvSpPr>
        <p:spPr>
          <a:xfrm>
            <a:off x="4359249" y="1828800"/>
            <a:ext cx="3532632" cy="2331720"/>
          </a:xfrm>
          <a:prstGeom prst="rect">
            <a:avLst/>
          </a:prstGeom>
          <a:solidFill>
            <a:srgbClr val="F0F7FD"/>
          </a:solidFill>
          <a:ln>
            <a:noFill/>
          </a:ln>
        </p:spPr>
        <p:txBody>
          <a:bodyPr wrap="square" lIns="201168" tIns="182880" rIns="182880" bIns="91440" rtlCol="0" anchor="t"/>
          <a:lstStyle/>
          <a:p>
            <a:pPr marL="171450" indent="-171450" algn="l">
              <a:buFont typeface="Arial"/>
              <a:buChar char="•"/>
            </a:pPr>
            <a:r>
              <a:rPr sz="1400" b="0">
                <a:solidFill>
                  <a:srgbClr val="152230"/>
                </a:solidFill>
                <a:latin typeface="Gartner Sans"/>
                <a:ea typeface="Gartner Sans"/>
                <a:cs typeface="Gartner Sans"/>
              </a:rPr>
              <a:t>Run pilots and pair people with AI tools on live tasks</a:t>
            </a:r>
          </a:p>
          <a:p>
            <a:pPr marL="171450" indent="-171450" algn="l">
              <a:spcBef>
                <a:spcPts val="600"/>
              </a:spcBef>
              <a:buFont typeface="Arial"/>
              <a:buChar char="•"/>
            </a:pPr>
            <a:r>
              <a:rPr sz="1400" b="0">
                <a:solidFill>
                  <a:srgbClr val="152230"/>
                </a:solidFill>
                <a:latin typeface="Gartner Sans"/>
                <a:ea typeface="Gartner Sans"/>
                <a:cs typeface="Gartner Sans"/>
              </a:rPr>
              <a:t>Use AI champions, office hours and communities of practice</a:t>
            </a:r>
          </a:p>
          <a:p>
            <a:pPr marL="171450" indent="-171450" algn="l">
              <a:spcBef>
                <a:spcPts val="600"/>
              </a:spcBef>
              <a:buFont typeface="Arial"/>
              <a:buChar char="•"/>
            </a:pPr>
            <a:r>
              <a:rPr sz="1400" b="0">
                <a:solidFill>
                  <a:srgbClr val="152230"/>
                </a:solidFill>
                <a:latin typeface="Gartner Sans"/>
                <a:ea typeface="Gartner Sans"/>
                <a:cs typeface="Gartner Sans"/>
              </a:rPr>
              <a:t>Make AI-assisted work visible by default, so that others can learn from it</a:t>
            </a:r>
          </a:p>
        </p:txBody>
      </p:sp>
      <p:sp>
        <p:nvSpPr>
          <p:cNvPr id="14" name="Reinvest the time AI saves heading"/>
          <p:cNvSpPr/>
          <p:nvPr/>
        </p:nvSpPr>
        <p:spPr>
          <a:xfrm>
            <a:off x="8166201" y="1325880"/>
            <a:ext cx="3532632" cy="502920"/>
          </a:xfrm>
          <a:prstGeom prst="rect">
            <a:avLst/>
          </a:prstGeom>
          <a:solidFill>
            <a:srgbClr val="002869"/>
          </a:solidFill>
          <a:ln>
            <a:noFill/>
          </a:ln>
        </p:spPr>
        <p:txBody>
          <a:bodyPr wrap="square" lIns="201168" tIns="0" rIns="182880" bIns="0" rtlCol="0" anchor="ctr"/>
          <a:lstStyle/>
          <a:p>
            <a:pPr algn="l"/>
            <a:r>
              <a:rPr sz="1600" b="1">
                <a:solidFill>
                  <a:srgbClr val="FFFFFF"/>
                </a:solidFill>
                <a:latin typeface="Gartner Sans"/>
                <a:ea typeface="Gartner Sans"/>
                <a:cs typeface="Gartner Sans"/>
              </a:rPr>
              <a:t>3  Reinvest the time AI saves</a:t>
            </a:r>
          </a:p>
        </p:txBody>
      </p:sp>
      <p:sp>
        <p:nvSpPr>
          <p:cNvPr id="15" name="Reinvest the time AI saves body"/>
          <p:cNvSpPr/>
          <p:nvPr/>
        </p:nvSpPr>
        <p:spPr>
          <a:xfrm>
            <a:off x="8166201" y="1828800"/>
            <a:ext cx="3532632" cy="2331720"/>
          </a:xfrm>
          <a:prstGeom prst="rect">
            <a:avLst/>
          </a:prstGeom>
          <a:solidFill>
            <a:srgbClr val="F0F7FD"/>
          </a:solidFill>
          <a:ln>
            <a:noFill/>
          </a:ln>
        </p:spPr>
        <p:txBody>
          <a:bodyPr wrap="square" lIns="201168" tIns="182880" rIns="182880" bIns="91440" rtlCol="0" anchor="t"/>
          <a:lstStyle/>
          <a:p>
            <a:pPr marL="171450" indent="-171450" algn="l">
              <a:buFont typeface="Arial"/>
              <a:buChar char="•"/>
            </a:pPr>
            <a:r>
              <a:rPr sz="1400" b="0">
                <a:solidFill>
                  <a:srgbClr val="152230"/>
                </a:solidFill>
                <a:latin typeface="Gartner Sans"/>
                <a:ea typeface="Gartner Sans"/>
                <a:cs typeface="Gartner Sans"/>
              </a:rPr>
              <a:t>AI creates value only when saved time is redirected to higher-value work</a:t>
            </a:r>
          </a:p>
          <a:p>
            <a:pPr marL="171450" indent="-171450" algn="l">
              <a:spcBef>
                <a:spcPts val="600"/>
              </a:spcBef>
              <a:buFont typeface="Arial"/>
              <a:buChar char="•"/>
            </a:pPr>
            <a:r>
              <a:rPr sz="1400" b="0">
                <a:solidFill>
                  <a:srgbClr val="152230"/>
                </a:solidFill>
                <a:latin typeface="Gartner Sans"/>
                <a:ea typeface="Gartner Sans"/>
                <a:cs typeface="Gartner Sans"/>
              </a:rPr>
              <a:t>Reserve released time for learning and improvement before reducing capacity</a:t>
            </a:r>
          </a:p>
          <a:p>
            <a:pPr marL="171450" indent="-171450" algn="l">
              <a:spcBef>
                <a:spcPts val="600"/>
              </a:spcBef>
              <a:buFont typeface="Arial"/>
              <a:buChar char="•"/>
            </a:pPr>
            <a:r>
              <a:rPr sz="1400" b="0">
                <a:solidFill>
                  <a:srgbClr val="152230"/>
                </a:solidFill>
                <a:latin typeface="Gartner Sans"/>
                <a:ea typeface="Gartner Sans"/>
                <a:cs typeface="Gartner Sans"/>
              </a:rPr>
              <a:t>Track the share of time spent on valuable work</a:t>
            </a:r>
          </a:p>
        </p:txBody>
      </p:sp>
      <p:sp>
        <p:nvSpPr>
          <p:cNvPr id="16" name="Heading"/>
          <p:cNvSpPr txBox="1"/>
          <p:nvPr/>
        </p:nvSpPr>
        <p:spPr>
          <a:xfrm>
            <a:off x="552297" y="4343400"/>
            <a:ext cx="11146536" cy="279737"/>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The new behaviours that need the time</a:t>
            </a:r>
          </a:p>
        </p:txBody>
      </p:sp>
      <p:sp>
        <p:nvSpPr>
          <p:cNvPr id="17" name="Number 1"/>
          <p:cNvSpPr/>
          <p:nvPr/>
        </p:nvSpPr>
        <p:spPr>
          <a:xfrm>
            <a:off x="552297" y="470916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8" name="Point 1"/>
          <p:cNvSpPr txBox="1"/>
          <p:nvPr/>
        </p:nvSpPr>
        <p:spPr>
          <a:xfrm>
            <a:off x="991209" y="4727448"/>
            <a:ext cx="2141982" cy="1005840"/>
          </a:xfrm>
          <a:prstGeom prst="rect">
            <a:avLst/>
          </a:prstGeom>
          <a:noFill/>
        </p:spPr>
        <p:txBody>
          <a:bodyPr wrap="square" lIns="0" tIns="0" rIns="0" bIns="0" anchor="t">
            <a:spAutoFit/>
          </a:bodyPr>
          <a:lstStyle/>
          <a:p>
            <a:pPr algn="l"/>
            <a:r>
              <a:rPr sz="1600" b="0">
                <a:solidFill>
                  <a:srgbClr val="152230"/>
                </a:solidFill>
                <a:latin typeface="Gartner Sans"/>
                <a:ea typeface="Gartner Sans"/>
                <a:cs typeface="Gartner Sans"/>
              </a:rPr>
              <a:t>State the intent clearly before the work starts.</a:t>
            </a:r>
          </a:p>
        </p:txBody>
      </p:sp>
      <p:sp>
        <p:nvSpPr>
          <p:cNvPr id="19" name="Number 2"/>
          <p:cNvSpPr/>
          <p:nvPr/>
        </p:nvSpPr>
        <p:spPr>
          <a:xfrm>
            <a:off x="3407511" y="470916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20" name="Point 2"/>
          <p:cNvSpPr txBox="1"/>
          <p:nvPr/>
        </p:nvSpPr>
        <p:spPr>
          <a:xfrm>
            <a:off x="3846423" y="4727448"/>
            <a:ext cx="2141982" cy="1005840"/>
          </a:xfrm>
          <a:prstGeom prst="rect">
            <a:avLst/>
          </a:prstGeom>
          <a:noFill/>
        </p:spPr>
        <p:txBody>
          <a:bodyPr wrap="square" lIns="0" tIns="0" rIns="0" bIns="0" anchor="t">
            <a:spAutoFit/>
          </a:bodyPr>
          <a:lstStyle/>
          <a:p>
            <a:pPr algn="l"/>
            <a:r>
              <a:rPr sz="1600" b="0">
                <a:solidFill>
                  <a:srgbClr val="152230"/>
                </a:solidFill>
                <a:latin typeface="Gartner Sans"/>
                <a:ea typeface="Gartner Sans"/>
                <a:cs typeface="Gartner Sans"/>
              </a:rPr>
              <a:t>Check and challenge what the AI produces.</a:t>
            </a:r>
          </a:p>
        </p:txBody>
      </p:sp>
      <p:sp>
        <p:nvSpPr>
          <p:cNvPr id="21" name="Number 3"/>
          <p:cNvSpPr/>
          <p:nvPr/>
        </p:nvSpPr>
        <p:spPr>
          <a:xfrm>
            <a:off x="6262725" y="470916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22" name="Point 3"/>
          <p:cNvSpPr txBox="1"/>
          <p:nvPr/>
        </p:nvSpPr>
        <p:spPr>
          <a:xfrm>
            <a:off x="6701637" y="4727448"/>
            <a:ext cx="2141982" cy="1005840"/>
          </a:xfrm>
          <a:prstGeom prst="rect">
            <a:avLst/>
          </a:prstGeom>
          <a:noFill/>
        </p:spPr>
        <p:txBody>
          <a:bodyPr wrap="square" lIns="0" tIns="0" rIns="0" bIns="0" anchor="t">
            <a:spAutoFit/>
          </a:bodyPr>
          <a:lstStyle/>
          <a:p>
            <a:pPr algn="l"/>
            <a:r>
              <a:rPr sz="1600" b="0">
                <a:solidFill>
                  <a:srgbClr val="152230"/>
                </a:solidFill>
                <a:latin typeface="Gartner Sans"/>
                <a:ea typeface="Gartner Sans"/>
                <a:cs typeface="Gartner Sans"/>
              </a:rPr>
              <a:t>Write context down and keep it current.</a:t>
            </a:r>
          </a:p>
        </p:txBody>
      </p:sp>
      <p:sp>
        <p:nvSpPr>
          <p:cNvPr id="23" name="Number 4"/>
          <p:cNvSpPr/>
          <p:nvPr/>
        </p:nvSpPr>
        <p:spPr>
          <a:xfrm>
            <a:off x="9117939" y="4709160"/>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24" name="Point 4"/>
          <p:cNvSpPr txBox="1"/>
          <p:nvPr/>
        </p:nvSpPr>
        <p:spPr>
          <a:xfrm>
            <a:off x="9556851" y="4727448"/>
            <a:ext cx="2141982" cy="1005840"/>
          </a:xfrm>
          <a:prstGeom prst="rect">
            <a:avLst/>
          </a:prstGeom>
          <a:noFill/>
        </p:spPr>
        <p:txBody>
          <a:bodyPr wrap="square" lIns="0" tIns="0" rIns="0" bIns="0" anchor="t">
            <a:spAutoFit/>
          </a:bodyPr>
          <a:lstStyle/>
          <a:p>
            <a:pPr algn="l"/>
            <a:r>
              <a:rPr sz="1600" b="0">
                <a:solidFill>
                  <a:srgbClr val="152230"/>
                </a:solidFill>
                <a:latin typeface="Gartner Sans"/>
                <a:ea typeface="Gartner Sans"/>
                <a:cs typeface="Gartner Sans"/>
              </a:rPr>
              <a:t>Share what worked, and what did not.</a:t>
            </a:r>
          </a:p>
        </p:txBody>
      </p:sp>
      <p:sp>
        <p:nvSpPr>
          <p:cNvPr id="25" name="Source"/>
          <p:cNvSpPr txBox="1"/>
          <p:nvPr/>
        </p:nvSpPr>
        <p:spPr>
          <a:xfrm>
            <a:off x="552450" y="5981700"/>
            <a:ext cx="9700000" cy="295275"/>
          </a:xfrm>
          <a:prstGeom prst="rect">
            <a:avLst/>
          </a:prstGeom>
          <a:noFill/>
        </p:spPr>
        <p:txBody>
          <a:bodyPr wrap="square" lIns="0" tIns="0" rIns="0" bIns="0" anchor="t">
            <a:spAutoFit/>
          </a:bodyPr>
          <a:lstStyle/>
          <a:p>
            <a:pPr algn="l"/>
            <a:r>
              <a:rPr sz="1000" b="0">
                <a:solidFill>
                  <a:srgbClr val="526273"/>
                </a:solidFill>
                <a:latin typeface="Gartner Sans"/>
                <a:ea typeface="Gartner Sans"/>
                <a:cs typeface="Gartner Sans"/>
              </a:rPr>
              <a:t>Sources: G00855654 (points 1 to 3); G00858441 (released time); G00850352 and G00858533 (behaviours). The list of behaviours is a summary for this audience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CBRE: scaling through people, not by shrinking teams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91</a:t>
            </a:r>
          </a:p>
        </p:txBody>
      </p:sp>
      <p:sp>
        <p:nvSpPr>
          <p:cNvPr id="10" name="Number 1"/>
          <p:cNvSpPr/>
          <p:nvPr/>
        </p:nvSpPr>
        <p:spPr>
          <a:xfrm>
            <a:off x="552297" y="1727073"/>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1" name="Point 1"/>
          <p:cNvSpPr txBox="1"/>
          <p:nvPr/>
        </p:nvSpPr>
        <p:spPr>
          <a:xfrm>
            <a:off x="1027785" y="1399032"/>
            <a:ext cx="610819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CBRE piloted tiny teams of three to four people supported by AI agents, on well-scoped work.</a:t>
            </a:r>
          </a:p>
        </p:txBody>
      </p:sp>
      <p:cxnSp>
        <p:nvCxnSpPr>
          <p:cNvPr id="12" name="Divider"/>
          <p:cNvCxnSpPr/>
          <p:nvPr/>
        </p:nvCxnSpPr>
        <p:spPr>
          <a:xfrm>
            <a:off x="552297" y="2439162"/>
            <a:ext cx="6583680" cy="0"/>
          </a:xfrm>
          <a:prstGeom prst="line">
            <a:avLst/>
          </a:prstGeom>
          <a:ln w="9525">
            <a:solidFill>
              <a:srgbClr val="D0D7DF"/>
            </a:solidFill>
          </a:ln>
        </p:spPr>
      </p:cxnSp>
      <p:sp>
        <p:nvSpPr>
          <p:cNvPr id="13" name="Number 2"/>
          <p:cNvSpPr/>
          <p:nvPr/>
        </p:nvSpPr>
        <p:spPr>
          <a:xfrm>
            <a:off x="552297" y="2840355"/>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4" name="Point 2"/>
          <p:cNvSpPr txBox="1"/>
          <p:nvPr/>
        </p:nvSpPr>
        <p:spPr>
          <a:xfrm>
            <a:off x="1027785" y="2512314"/>
            <a:ext cx="610819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It did not scale by shrinking existing teams. People from the pilots carried the practices back to the wider organisation.</a:t>
            </a:r>
          </a:p>
        </p:txBody>
      </p:sp>
      <p:cxnSp>
        <p:nvCxnSpPr>
          <p:cNvPr id="15" name="Divider"/>
          <p:cNvCxnSpPr/>
          <p:nvPr/>
        </p:nvCxnSpPr>
        <p:spPr>
          <a:xfrm>
            <a:off x="552297" y="3552444"/>
            <a:ext cx="6583680" cy="0"/>
          </a:xfrm>
          <a:prstGeom prst="line">
            <a:avLst/>
          </a:prstGeom>
          <a:ln w="9525">
            <a:solidFill>
              <a:srgbClr val="D0D7DF"/>
            </a:solidFill>
          </a:ln>
        </p:spPr>
      </p:cxnSp>
      <p:sp>
        <p:nvSpPr>
          <p:cNvPr id="16" name="Number 3"/>
          <p:cNvSpPr/>
          <p:nvPr/>
        </p:nvSpPr>
        <p:spPr>
          <a:xfrm>
            <a:off x="552297" y="395363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7" name="Point 3"/>
          <p:cNvSpPr txBox="1"/>
          <p:nvPr/>
        </p:nvSpPr>
        <p:spPr>
          <a:xfrm>
            <a:off x="1027785" y="3625596"/>
            <a:ext cx="610819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Training in leadership and AI, prompt engineering and agentic AI reached more than 90 employees.</a:t>
            </a:r>
          </a:p>
        </p:txBody>
      </p:sp>
      <p:cxnSp>
        <p:nvCxnSpPr>
          <p:cNvPr id="18" name="Divider"/>
          <p:cNvCxnSpPr/>
          <p:nvPr/>
        </p:nvCxnSpPr>
        <p:spPr>
          <a:xfrm>
            <a:off x="552297" y="4665726"/>
            <a:ext cx="6583680" cy="0"/>
          </a:xfrm>
          <a:prstGeom prst="line">
            <a:avLst/>
          </a:prstGeom>
          <a:ln w="9525">
            <a:solidFill>
              <a:srgbClr val="D0D7DF"/>
            </a:solidFill>
          </a:ln>
        </p:spPr>
      </p:cxnSp>
      <p:sp>
        <p:nvSpPr>
          <p:cNvPr id="19" name="Number 4"/>
          <p:cNvSpPr/>
          <p:nvPr/>
        </p:nvSpPr>
        <p:spPr>
          <a:xfrm>
            <a:off x="552297" y="5066919"/>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20" name="Point 4"/>
          <p:cNvSpPr txBox="1"/>
          <p:nvPr/>
        </p:nvSpPr>
        <p:spPr>
          <a:xfrm>
            <a:off x="1027785" y="4738878"/>
            <a:ext cx="6108192" cy="966978"/>
          </a:xfrm>
          <a:prstGeom prst="rect">
            <a:avLst/>
          </a:prstGeom>
          <a:noFill/>
        </p:spPr>
        <p:txBody>
          <a:bodyPr wrap="square" lIns="0" tIns="0" rIns="0" bIns="0" anchor="ctr">
            <a:spAutoFit/>
          </a:bodyPr>
          <a:lstStyle/>
          <a:p>
            <a:pPr algn="l"/>
            <a:r>
              <a:rPr sz="1750" b="0">
                <a:solidFill>
                  <a:srgbClr val="152230"/>
                </a:solidFill>
                <a:latin typeface="Gartner Sans"/>
                <a:ea typeface="Gartner Sans"/>
                <a:cs typeface="Gartner Sans"/>
              </a:rPr>
              <a:t>A dedicated team kept delivery stable while teams formed and re-formed around the work.</a:t>
            </a:r>
          </a:p>
        </p:txBody>
      </p:sp>
      <p:sp>
        <p:nvSpPr>
          <p:cNvPr id="21" name="Card heading"/>
          <p:cNvSpPr/>
          <p:nvPr/>
        </p:nvSpPr>
        <p:spPr>
          <a:xfrm>
            <a:off x="7589520" y="1325880"/>
            <a:ext cx="4109313"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Three conditions for success</a:t>
            </a:r>
          </a:p>
        </p:txBody>
      </p:sp>
      <p:sp>
        <p:nvSpPr>
          <p:cNvPr id="22" name="Card body"/>
          <p:cNvSpPr/>
          <p:nvPr/>
        </p:nvSpPr>
        <p:spPr>
          <a:xfrm>
            <a:off x="7589520" y="1828800"/>
            <a:ext cx="4109313" cy="160020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800" b="0">
                <a:solidFill>
                  <a:srgbClr val="152230"/>
                </a:solidFill>
                <a:latin typeface="Gartner Sans"/>
                <a:ea typeface="Gartner Sans"/>
                <a:cs typeface="Gartner Sans"/>
              </a:rPr>
              <a:t>Strong platform support</a:t>
            </a:r>
          </a:p>
          <a:p>
            <a:pPr marL="171450" indent="-171450" algn="l">
              <a:spcBef>
                <a:spcPts val="500"/>
              </a:spcBef>
              <a:buFont typeface="Arial"/>
              <a:buChar char="•"/>
            </a:pPr>
            <a:r>
              <a:rPr sz="1800" b="0">
                <a:solidFill>
                  <a:srgbClr val="152230"/>
                </a:solidFill>
                <a:latin typeface="Gartner Sans"/>
                <a:ea typeface="Gartner Sans"/>
                <a:cs typeface="Gartner Sans"/>
              </a:rPr>
              <a:t>Clear ownership of outcomes</a:t>
            </a:r>
          </a:p>
          <a:p>
            <a:pPr marL="171450" indent="-171450" algn="l">
              <a:spcBef>
                <a:spcPts val="500"/>
              </a:spcBef>
              <a:buFont typeface="Arial"/>
              <a:buChar char="•"/>
            </a:pPr>
            <a:r>
              <a:rPr sz="1800" b="0">
                <a:solidFill>
                  <a:srgbClr val="152230"/>
                </a:solidFill>
                <a:latin typeface="Gartner Sans"/>
                <a:ea typeface="Gartner Sans"/>
                <a:cs typeface="Gartner Sans"/>
              </a:rPr>
              <a:t>Enough talent density in each team</a:t>
            </a:r>
          </a:p>
        </p:txBody>
      </p:sp>
      <p:sp>
        <p:nvSpPr>
          <p:cNvPr id="23" name="About CBRE"/>
          <p:cNvSpPr/>
          <p:nvPr/>
        </p:nvSpPr>
        <p:spPr>
          <a:xfrm>
            <a:off x="7589520" y="3657600"/>
            <a:ext cx="4109313" cy="2103120"/>
          </a:xfrm>
          <a:prstGeom prst="rect">
            <a:avLst/>
          </a:prstGeom>
          <a:solidFill>
            <a:srgbClr val="F0F7FD"/>
          </a:solidFill>
          <a:ln>
            <a:noFill/>
          </a:ln>
        </p:spPr>
        <p:txBody>
          <a:bodyPr wrap="square" lIns="201168" tIns="182880" rIns="182880" bIns="91440" rtlCol="0" anchor="t"/>
          <a:lstStyle/>
          <a:p>
            <a:pPr algn="l"/>
            <a:r>
              <a:rPr sz="1800" b="1">
                <a:solidFill>
                  <a:srgbClr val="002869"/>
                </a:solidFill>
                <a:latin typeface="Gartner Sans"/>
                <a:ea typeface="Gartner Sans"/>
                <a:cs typeface="Gartner Sans"/>
              </a:rPr>
              <a:t>About CBRE</a:t>
            </a:r>
          </a:p>
          <a:p>
            <a:pPr algn="l">
              <a:spcBef>
                <a:spcPts val="500"/>
              </a:spcBef>
            </a:pPr>
            <a:r>
              <a:rPr sz="1800" b="0">
                <a:solidFill>
                  <a:srgbClr val="152230"/>
                </a:solidFill>
                <a:latin typeface="Gartner Sans"/>
                <a:ea typeface="Gartner Sans"/>
                <a:cs typeface="Gartner Sans"/>
              </a:rPr>
              <a:t>Commercial real estate, headquartered in Dallas, Texas. Revenue of 40.6 billion US dollars and 155,000 employees in 2025.</a:t>
            </a:r>
          </a:p>
        </p:txBody>
      </p:sp>
      <p:sp>
        <p:nvSpPr>
          <p:cNvPr id="24"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Sources: G00857393; CBRE presentation slides for G00857393</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Four cautions from the research</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92</a:t>
            </a:r>
          </a:p>
        </p:txBody>
      </p:sp>
      <p:sp>
        <p:nvSpPr>
          <p:cNvPr id="10" name="Friction is not scepticism"/>
          <p:cNvSpPr/>
          <p:nvPr/>
        </p:nvSpPr>
        <p:spPr>
          <a:xfrm>
            <a:off x="552297" y="1325880"/>
            <a:ext cx="5390388" cy="2057400"/>
          </a:xfrm>
          <a:prstGeom prst="rect">
            <a:avLst/>
          </a:prstGeom>
          <a:solidFill>
            <a:srgbClr val="F0F7FD"/>
          </a:solidFill>
          <a:ln>
            <a:noFill/>
          </a:ln>
        </p:spPr>
        <p:txBody>
          <a:bodyPr rtlCol="0" anchor="ctr"/>
          <a:lstStyle/>
          <a:p>
            <a:pPr algn="ctr"/>
            <a:endParaRPr/>
          </a:p>
        </p:txBody>
      </p:sp>
      <p:sp>
        <p:nvSpPr>
          <p:cNvPr id="11" name="Number 1"/>
          <p:cNvSpPr/>
          <p:nvPr/>
        </p:nvSpPr>
        <p:spPr>
          <a:xfrm>
            <a:off x="780897" y="1527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2" name="Friction is not scepticism text"/>
          <p:cNvSpPr txBox="1"/>
          <p:nvPr/>
        </p:nvSpPr>
        <p:spPr>
          <a:xfrm>
            <a:off x="1256385" y="1472184"/>
            <a:ext cx="4475988"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Friction is not scepticism</a:t>
            </a:r>
          </a:p>
          <a:p>
            <a:pPr algn="l">
              <a:spcBef>
                <a:spcPts val="500"/>
              </a:spcBef>
            </a:pPr>
            <a:r>
              <a:rPr sz="1750" b="0">
                <a:solidFill>
                  <a:srgbClr val="152230"/>
                </a:solidFill>
                <a:latin typeface="Gartner Sans"/>
                <a:ea typeface="Gartner Sans"/>
                <a:cs typeface="Gartner Sans"/>
              </a:rPr>
              <a:t>Do not assume that slow adoption means people doubt the value of AI. Look for the practical burden first.</a:t>
            </a:r>
          </a:p>
        </p:txBody>
      </p:sp>
      <p:sp>
        <p:nvSpPr>
          <p:cNvPr id="13" name="Governance is not a separate approval layer"/>
          <p:cNvSpPr/>
          <p:nvPr/>
        </p:nvSpPr>
        <p:spPr>
          <a:xfrm>
            <a:off x="6308445" y="1325880"/>
            <a:ext cx="5390388" cy="2057400"/>
          </a:xfrm>
          <a:prstGeom prst="rect">
            <a:avLst/>
          </a:prstGeom>
          <a:solidFill>
            <a:srgbClr val="F0F7FD"/>
          </a:solidFill>
          <a:ln>
            <a:noFill/>
          </a:ln>
        </p:spPr>
        <p:txBody>
          <a:bodyPr rtlCol="0" anchor="ctr"/>
          <a:lstStyle/>
          <a:p>
            <a:pPr algn="ctr"/>
            <a:endParaRPr/>
          </a:p>
        </p:txBody>
      </p:sp>
      <p:sp>
        <p:nvSpPr>
          <p:cNvPr id="14" name="Number 2"/>
          <p:cNvSpPr/>
          <p:nvPr/>
        </p:nvSpPr>
        <p:spPr>
          <a:xfrm>
            <a:off x="6537045" y="152704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5" name="Governance is not a separate approval layer text"/>
          <p:cNvSpPr txBox="1"/>
          <p:nvPr/>
        </p:nvSpPr>
        <p:spPr>
          <a:xfrm>
            <a:off x="7012533" y="1472184"/>
            <a:ext cx="4475988"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Governance is not a separate approval layer</a:t>
            </a:r>
          </a:p>
          <a:p>
            <a:pPr algn="l">
              <a:spcBef>
                <a:spcPts val="500"/>
              </a:spcBef>
            </a:pPr>
            <a:r>
              <a:rPr sz="1750" b="0">
                <a:solidFill>
                  <a:srgbClr val="152230"/>
                </a:solidFill>
                <a:latin typeface="Gartner Sans"/>
                <a:ea typeface="Gartner Sans"/>
                <a:cs typeface="Gartner Sans"/>
              </a:rPr>
              <a:t>Turn policy into guardrails in the tools and the pipeline, so that the compliant route is the easy one.</a:t>
            </a:r>
          </a:p>
        </p:txBody>
      </p:sp>
      <p:sp>
        <p:nvSpPr>
          <p:cNvPr id="16" name="A faster task is not success"/>
          <p:cNvSpPr/>
          <p:nvPr/>
        </p:nvSpPr>
        <p:spPr>
          <a:xfrm>
            <a:off x="552297" y="3657600"/>
            <a:ext cx="5390388" cy="2057400"/>
          </a:xfrm>
          <a:prstGeom prst="rect">
            <a:avLst/>
          </a:prstGeom>
          <a:solidFill>
            <a:srgbClr val="F0F7FD"/>
          </a:solidFill>
          <a:ln>
            <a:noFill/>
          </a:ln>
        </p:spPr>
        <p:txBody>
          <a:bodyPr rtlCol="0" anchor="ctr"/>
          <a:lstStyle/>
          <a:p>
            <a:pPr algn="ctr"/>
            <a:endParaRPr/>
          </a:p>
        </p:txBody>
      </p:sp>
      <p:sp>
        <p:nvSpPr>
          <p:cNvPr id="17" name="Number 3"/>
          <p:cNvSpPr/>
          <p:nvPr/>
        </p:nvSpPr>
        <p:spPr>
          <a:xfrm>
            <a:off x="780897" y="385876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18" name="A faster task is not success text"/>
          <p:cNvSpPr txBox="1"/>
          <p:nvPr/>
        </p:nvSpPr>
        <p:spPr>
          <a:xfrm>
            <a:off x="1256385" y="3803904"/>
            <a:ext cx="4475988"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A faster task is not success</a:t>
            </a:r>
          </a:p>
          <a:p>
            <a:pPr algn="l">
              <a:spcBef>
                <a:spcPts val="500"/>
              </a:spcBef>
            </a:pPr>
            <a:r>
              <a:rPr sz="1750" b="0">
                <a:solidFill>
                  <a:srgbClr val="152230"/>
                </a:solidFill>
                <a:latin typeface="Gartner Sans"/>
                <a:ea typeface="Gartner Sans"/>
                <a:cs typeface="Gartner Sans"/>
              </a:rPr>
              <a:t>AI can cut effort in one step and add review, testing or risk work in the next. Measure the whole value stream.</a:t>
            </a:r>
          </a:p>
        </p:txBody>
      </p:sp>
      <p:sp>
        <p:nvSpPr>
          <p:cNvPr id="19" name="Senior people are not the permanent backstop"/>
          <p:cNvSpPr/>
          <p:nvPr/>
        </p:nvSpPr>
        <p:spPr>
          <a:xfrm>
            <a:off x="6308445" y="3657600"/>
            <a:ext cx="5390388" cy="2057400"/>
          </a:xfrm>
          <a:prstGeom prst="rect">
            <a:avLst/>
          </a:prstGeom>
          <a:solidFill>
            <a:srgbClr val="F0F7FD"/>
          </a:solidFill>
          <a:ln>
            <a:noFill/>
          </a:ln>
        </p:spPr>
        <p:txBody>
          <a:bodyPr rtlCol="0" anchor="ctr"/>
          <a:lstStyle/>
          <a:p>
            <a:pPr algn="ctr"/>
            <a:endParaRPr/>
          </a:p>
        </p:txBody>
      </p:sp>
      <p:sp>
        <p:nvSpPr>
          <p:cNvPr id="20" name="Number 4"/>
          <p:cNvSpPr/>
          <p:nvPr/>
        </p:nvSpPr>
        <p:spPr>
          <a:xfrm>
            <a:off x="6537045" y="3858768"/>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4</a:t>
            </a:r>
          </a:p>
        </p:txBody>
      </p:sp>
      <p:sp>
        <p:nvSpPr>
          <p:cNvPr id="21" name="Senior people are not the permanent backstop text"/>
          <p:cNvSpPr txBox="1"/>
          <p:nvPr/>
        </p:nvSpPr>
        <p:spPr>
          <a:xfrm>
            <a:off x="7012533" y="3803904"/>
            <a:ext cx="4475988" cy="1819656"/>
          </a:xfrm>
          <a:prstGeom prst="rect">
            <a:avLst/>
          </a:prstGeom>
          <a:noFill/>
        </p:spPr>
        <p:txBody>
          <a:bodyPr wrap="square" lIns="0" tIns="0" rIns="0" bIns="0" anchor="t">
            <a:spAutoFit/>
          </a:bodyPr>
          <a:lstStyle/>
          <a:p>
            <a:pPr algn="l"/>
            <a:r>
              <a:rPr sz="1750" b="1">
                <a:solidFill>
                  <a:srgbClr val="002869"/>
                </a:solidFill>
                <a:latin typeface="Gartner Sans"/>
                <a:ea typeface="Gartner Sans"/>
                <a:cs typeface="Gartner Sans"/>
              </a:rPr>
              <a:t>Senior people are not the permanent backstop</a:t>
            </a:r>
          </a:p>
          <a:p>
            <a:pPr algn="l">
              <a:spcBef>
                <a:spcPts val="500"/>
              </a:spcBef>
            </a:pPr>
            <a:r>
              <a:rPr sz="1750" b="0">
                <a:solidFill>
                  <a:srgbClr val="152230"/>
                </a:solidFill>
                <a:latin typeface="Gartner Sans"/>
                <a:ea typeface="Gartner Sans"/>
                <a:cs typeface="Gartner Sans"/>
              </a:rPr>
              <a:t>Experts should define patterns, constraints and review criteria. Automated validation should then carry the routine checks.</a:t>
            </a:r>
          </a:p>
        </p:txBody>
      </p:sp>
      <p:sp>
        <p:nvSpPr>
          <p:cNvPr id="22" name="Source"/>
          <p:cNvSpPr txBox="1"/>
          <p:nvPr/>
        </p:nvSpPr>
        <p:spPr>
          <a:xfrm>
            <a:off x="552450" y="5981700"/>
            <a:ext cx="9700000" cy="295275"/>
          </a:xfrm>
          <a:prstGeom prst="rect">
            <a:avLst/>
          </a:prstGeom>
          <a:noFill/>
        </p:spPr>
        <p:txBody>
          <a:bodyPr wrap="square" lIns="0" tIns="0" rIns="0" bIns="0" anchor="t">
            <a:spAutoFit/>
          </a:bodyPr>
          <a:lstStyle/>
          <a:p>
            <a:pPr algn="l"/>
            <a:r>
              <a:rPr sz="1150" b="0">
                <a:solidFill>
                  <a:srgbClr val="526273"/>
                </a:solidFill>
                <a:latin typeface="Gartner Sans"/>
                <a:ea typeface="Gartner Sans"/>
                <a:cs typeface="Gartner Sans"/>
              </a:rPr>
              <a:t>Source: G00855654</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From the research to your barriers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93</a:t>
            </a:r>
          </a:p>
        </p:txBody>
      </p:sp>
      <p:sp>
        <p:nvSpPr>
          <p:cNvPr id="10" name="Card heading"/>
          <p:cNvSpPr/>
          <p:nvPr/>
        </p:nvSpPr>
        <p:spPr>
          <a:xfrm>
            <a:off x="552297" y="1325880"/>
            <a:ext cx="5074920" cy="502920"/>
          </a:xfrm>
          <a:prstGeom prst="rect">
            <a:avLst/>
          </a:prstGeom>
          <a:solidFill>
            <a:srgbClr val="F0F7FD"/>
          </a:solidFill>
          <a:ln w="12700">
            <a:solidFill>
              <a:srgbClr val="D0D7DF"/>
            </a:solidFill>
          </a:ln>
        </p:spPr>
        <p:txBody>
          <a:bodyPr wrap="square" lIns="228600" tIns="0" rIns="228600" bIns="0" rtlCol="0" anchor="ctr"/>
          <a:lstStyle/>
          <a:p>
            <a:pPr algn="l"/>
            <a:r>
              <a:rPr sz="1800" b="1">
                <a:solidFill>
                  <a:srgbClr val="002869"/>
                </a:solidFill>
                <a:latin typeface="Gartner Sans"/>
                <a:ea typeface="Gartner Sans"/>
                <a:cs typeface="Gartner Sans"/>
              </a:rPr>
              <a:t>What Gartner sees</a:t>
            </a:r>
          </a:p>
        </p:txBody>
      </p:sp>
      <p:sp>
        <p:nvSpPr>
          <p:cNvPr id="11" name="Card body"/>
          <p:cNvSpPr/>
          <p:nvPr/>
        </p:nvSpPr>
        <p:spPr>
          <a:xfrm>
            <a:off x="552297" y="1828800"/>
            <a:ext cx="5074920" cy="2788920"/>
          </a:xfrm>
          <a:prstGeom prst="rect">
            <a:avLst/>
          </a:prstGeom>
          <a:solidFill>
            <a:srgbClr val="FFFFFF"/>
          </a:solidFill>
          <a:ln w="12700">
            <a:solidFill>
              <a:srgbClr val="D0D7DF"/>
            </a:solidFill>
          </a:ln>
        </p:spPr>
        <p:txBody>
          <a:bodyPr wrap="square" lIns="274320" tIns="274320" rIns="228600" bIns="137160" rtlCol="0" anchor="t"/>
          <a:lstStyle/>
          <a:p>
            <a:pPr marL="171450" indent="-171450" algn="l">
              <a:buFont typeface="Arial"/>
              <a:buChar char="•"/>
            </a:pPr>
            <a:r>
              <a:rPr sz="1800" b="0">
                <a:solidFill>
                  <a:srgbClr val="152230"/>
                </a:solidFill>
                <a:latin typeface="Gartner Sans"/>
                <a:ea typeface="Gartner Sans"/>
                <a:cs typeface="Gartner Sans"/>
              </a:rPr>
              <a:t>The barriers are practical: tool sprawl, rapid change, review burden and risk.</a:t>
            </a:r>
          </a:p>
          <a:p>
            <a:pPr marL="171450" indent="-171450" algn="l">
              <a:spcBef>
                <a:spcPts val="1000"/>
              </a:spcBef>
              <a:buFont typeface="Arial"/>
              <a:buChar char="•"/>
            </a:pPr>
            <a:r>
              <a:rPr sz="1800" b="0">
                <a:solidFill>
                  <a:srgbClr val="152230"/>
                </a:solidFill>
                <a:latin typeface="Gartner Sans"/>
                <a:ea typeface="Gartner Sans"/>
                <a:cs typeface="Gartner Sans"/>
              </a:rPr>
              <a:t>Culture, governance of a continuous flow and protected time decide whether adoption holds.</a:t>
            </a:r>
          </a:p>
          <a:p>
            <a:pPr marL="171450" indent="-171450" algn="l">
              <a:spcBef>
                <a:spcPts val="1000"/>
              </a:spcBef>
              <a:buFont typeface="Arial"/>
              <a:buChar char="•"/>
            </a:pPr>
            <a:r>
              <a:rPr sz="1800" b="0">
                <a:solidFill>
                  <a:srgbClr val="152230"/>
                </a:solidFill>
                <a:latin typeface="Gartner Sans"/>
                <a:ea typeface="Gartner Sans"/>
                <a:cs typeface="Gartner Sans"/>
              </a:rPr>
              <a:t>Adoption needs leadership: clear outcomes, handoffs and accountability.</a:t>
            </a:r>
          </a:p>
        </p:txBody>
      </p:sp>
      <p:sp>
        <p:nvSpPr>
          <p:cNvPr id="12" name="Card heading"/>
          <p:cNvSpPr/>
          <p:nvPr/>
        </p:nvSpPr>
        <p:spPr>
          <a:xfrm>
            <a:off x="6623913" y="1325880"/>
            <a:ext cx="5074920" cy="502920"/>
          </a:xfrm>
          <a:prstGeom prst="rect">
            <a:avLst/>
          </a:prstGeom>
          <a:solidFill>
            <a:srgbClr val="002869"/>
          </a:solidFill>
          <a:ln w="12700">
            <a:solidFill>
              <a:srgbClr val="002869"/>
            </a:solidFill>
          </a:ln>
        </p:spPr>
        <p:txBody>
          <a:bodyPr wrap="square" lIns="228600" tIns="0" rIns="228600" bIns="0" rtlCol="0" anchor="ctr"/>
          <a:lstStyle/>
          <a:p>
            <a:pPr algn="l"/>
            <a:r>
              <a:rPr sz="1800" b="1">
                <a:solidFill>
                  <a:srgbClr val="FFFFFF"/>
                </a:solidFill>
                <a:latin typeface="Gartner Sans"/>
                <a:ea typeface="Gartner Sans"/>
                <a:cs typeface="Gartner Sans"/>
              </a:rPr>
              <a:t>In your context</a:t>
            </a:r>
          </a:p>
        </p:txBody>
      </p:sp>
      <p:sp>
        <p:nvSpPr>
          <p:cNvPr id="13" name="Card body"/>
          <p:cNvSpPr/>
          <p:nvPr/>
        </p:nvSpPr>
        <p:spPr>
          <a:xfrm>
            <a:off x="6623913" y="1828800"/>
            <a:ext cx="5074920" cy="2788920"/>
          </a:xfrm>
          <a:prstGeom prst="rect">
            <a:avLst/>
          </a:prstGeom>
          <a:solidFill>
            <a:srgbClr val="FFFFFF"/>
          </a:solidFill>
          <a:ln w="12700">
            <a:solidFill>
              <a:srgbClr val="002869"/>
            </a:solidFill>
          </a:ln>
        </p:spPr>
        <p:txBody>
          <a:bodyPr wrap="square" lIns="274320" tIns="274320" rIns="228600" bIns="137160" rtlCol="0" anchor="t"/>
          <a:lstStyle/>
          <a:p>
            <a:pPr marL="171450" indent="-171450" algn="l">
              <a:buFont typeface="Arial"/>
              <a:buChar char="•"/>
            </a:pPr>
            <a:r>
              <a:rPr sz="1800" b="0">
                <a:solidFill>
                  <a:srgbClr val="152230"/>
                </a:solidFill>
                <a:latin typeface="Gartner Sans"/>
                <a:ea typeface="Gartner Sans"/>
                <a:cs typeface="Gartner Sans"/>
              </a:rPr>
              <a:t>Brainstorm the challenges and barriers you expect.</a:t>
            </a:r>
          </a:p>
          <a:p>
            <a:pPr marL="171450" indent="-171450" algn="l">
              <a:spcBef>
                <a:spcPts val="1000"/>
              </a:spcBef>
              <a:buFont typeface="Arial"/>
              <a:buChar char="•"/>
            </a:pPr>
            <a:r>
              <a:rPr sz="1800" b="0">
                <a:solidFill>
                  <a:srgbClr val="152230"/>
                </a:solidFill>
                <a:latin typeface="Gartner Sans"/>
                <a:ea typeface="Gartner Sans"/>
                <a:cs typeface="Gartner Sans"/>
              </a:rPr>
              <a:t>Group them into themes.</a:t>
            </a:r>
          </a:p>
          <a:p>
            <a:pPr marL="171450" indent="-171450" algn="l">
              <a:spcBef>
                <a:spcPts val="1000"/>
              </a:spcBef>
              <a:buFont typeface="Arial"/>
              <a:buChar char="•"/>
            </a:pPr>
            <a:r>
              <a:rPr sz="1800" b="0">
                <a:solidFill>
                  <a:srgbClr val="152230"/>
                </a:solidFill>
                <a:latin typeface="Gartner Sans"/>
                <a:ea typeface="Gartner Sans"/>
                <a:cs typeface="Gartner Sans"/>
              </a:rPr>
              <a:t>Agree mitigation steps for each group, and who can help.</a:t>
            </a:r>
          </a:p>
        </p:txBody>
      </p:sp>
      <p:sp>
        <p:nvSpPr>
          <p:cNvPr id="14" name="Arrow"/>
          <p:cNvSpPr/>
          <p:nvPr/>
        </p:nvSpPr>
        <p:spPr>
          <a:xfrm>
            <a:off x="5810097" y="2743200"/>
            <a:ext cx="630935" cy="548640"/>
          </a:xfrm>
          <a:prstGeom prst="rightArrow">
            <a:avLst/>
          </a:prstGeom>
          <a:solidFill>
            <a:srgbClr val="002869"/>
          </a:solidFill>
          <a:ln>
            <a:noFill/>
          </a:ln>
        </p:spPr>
        <p:txBody>
          <a:bodyPr rtlCol="0" anchor="ctr"/>
          <a:lstStyle/>
          <a:p>
            <a:pPr algn="ctr"/>
            <a:endParaRPr/>
          </a:p>
        </p:txBody>
      </p:sp>
      <p:sp>
        <p:nvSpPr>
          <p:cNvPr id="15" name="Note"/>
          <p:cNvSpPr/>
          <p:nvPr/>
        </p:nvSpPr>
        <p:spPr>
          <a:xfrm>
            <a:off x="552297" y="4892040"/>
            <a:ext cx="11146536" cy="68580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The exercise: </a:t>
            </a:r>
            <a:r>
              <a:rPr sz="1800" b="0">
                <a:solidFill>
                  <a:srgbClr val="152230"/>
                </a:solidFill>
                <a:latin typeface="Gartner Sans"/>
                <a:ea typeface="Gartner Sans"/>
                <a:cs typeface="Gartner Sans"/>
              </a:rPr>
              <a:t>60 minutes in your teams.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Exercise: our challenges and barriers to adoption</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94</a:t>
            </a:r>
          </a:p>
        </p:txBody>
      </p:sp>
      <p:sp>
        <p:nvSpPr>
          <p:cNvPr id="10" name="Heading"/>
          <p:cNvSpPr txBox="1"/>
          <p:nvPr/>
        </p:nvSpPr>
        <p:spPr>
          <a:xfrm>
            <a:off x="552297" y="1325880"/>
            <a:ext cx="6675120" cy="274320"/>
          </a:xfrm>
          <a:prstGeom prst="rect">
            <a:avLst/>
          </a:prstGeom>
          <a:noFill/>
        </p:spPr>
        <p:txBody>
          <a:bodyPr wrap="square" lIns="0" tIns="0" rIns="0" bIns="0" anchor="t">
            <a:spAutoFit/>
          </a:bodyPr>
          <a:lstStyle/>
          <a:p>
            <a:pPr algn="l"/>
            <a:r>
              <a:rPr sz="1700" b="1">
                <a:solidFill>
                  <a:srgbClr val="002869"/>
                </a:solidFill>
                <a:latin typeface="Gartner Sans"/>
                <a:ea typeface="Gartner Sans"/>
                <a:cs typeface="Gartner Sans"/>
              </a:rPr>
              <a:t>In your team (60 minutes)</a:t>
            </a:r>
          </a:p>
        </p:txBody>
      </p:sp>
      <p:sp>
        <p:nvSpPr>
          <p:cNvPr id="11" name="Setup"/>
          <p:cNvSpPr txBox="1"/>
          <p:nvPr/>
        </p:nvSpPr>
        <p:spPr>
          <a:xfrm>
            <a:off x="552297" y="1645920"/>
            <a:ext cx="6675120" cy="287729"/>
          </a:xfrm>
          <a:prstGeom prst="rect">
            <a:avLst/>
          </a:prstGeom>
          <a:noFill/>
        </p:spPr>
        <p:txBody>
          <a:bodyPr wrap="square" lIns="0" tIns="0" rIns="0" bIns="0" anchor="t">
            <a:spAutoFit/>
          </a:bodyPr>
          <a:lstStyle/>
          <a:p>
            <a:pPr algn="l"/>
            <a:r>
              <a:rPr sz="1800" b="0">
                <a:solidFill>
                  <a:srgbClr val="152230"/>
                </a:solidFill>
                <a:latin typeface="Gartner Sans"/>
                <a:ea typeface="Gartner Sans"/>
                <a:cs typeface="Gartner Sans"/>
              </a:rPr>
              <a:t>What will be the major challenges and barriers to adopting AI?</a:t>
            </a:r>
          </a:p>
        </p:txBody>
      </p:sp>
      <p:cxnSp>
        <p:nvCxnSpPr>
          <p:cNvPr id="12" name="Divider"/>
          <p:cNvCxnSpPr/>
          <p:nvPr/>
        </p:nvCxnSpPr>
        <p:spPr>
          <a:xfrm>
            <a:off x="552297" y="2103120"/>
            <a:ext cx="6675120" cy="0"/>
          </a:xfrm>
          <a:prstGeom prst="line">
            <a:avLst/>
          </a:prstGeom>
          <a:ln w="9525">
            <a:solidFill>
              <a:srgbClr val="D0D7DF"/>
            </a:solidFill>
          </a:ln>
        </p:spPr>
      </p:cxnSp>
      <p:sp>
        <p:nvSpPr>
          <p:cNvPr id="13" name="Number 1"/>
          <p:cNvSpPr/>
          <p:nvPr/>
        </p:nvSpPr>
        <p:spPr>
          <a:xfrm>
            <a:off x="552297" y="2276856"/>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1</a:t>
            </a:r>
          </a:p>
        </p:txBody>
      </p:sp>
      <p:sp>
        <p:nvSpPr>
          <p:cNvPr id="14" name="Step 1"/>
          <p:cNvSpPr txBox="1"/>
          <p:nvPr/>
        </p:nvSpPr>
        <p:spPr>
          <a:xfrm>
            <a:off x="1027785" y="2130551"/>
            <a:ext cx="5285231" cy="603503"/>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Brainstorm. Write every challenge and barrier you expect, one per sticky note. Everyone contributes.</a:t>
            </a:r>
          </a:p>
        </p:txBody>
      </p:sp>
      <p:sp>
        <p:nvSpPr>
          <p:cNvPr id="15" name="Step 1 time"/>
          <p:cNvSpPr txBox="1"/>
          <p:nvPr/>
        </p:nvSpPr>
        <p:spPr>
          <a:xfrm>
            <a:off x="6358737" y="2130551"/>
            <a:ext cx="868680" cy="603503"/>
          </a:xfrm>
          <a:prstGeom prst="rect">
            <a:avLst/>
          </a:prstGeom>
          <a:noFill/>
        </p:spPr>
        <p:txBody>
          <a:bodyPr wrap="square" lIns="0" tIns="0" rIns="0" bIns="0" anchor="ctr">
            <a:spAutoFit/>
          </a:bodyPr>
          <a:lstStyle/>
          <a:p>
            <a:pPr algn="r"/>
            <a:r>
              <a:rPr sz="1800" b="0">
                <a:solidFill>
                  <a:srgbClr val="526273"/>
                </a:solidFill>
                <a:latin typeface="Gartner Sans"/>
                <a:ea typeface="Gartner Sans"/>
                <a:cs typeface="Gartner Sans"/>
              </a:rPr>
              <a:t>15 min</a:t>
            </a:r>
          </a:p>
        </p:txBody>
      </p:sp>
      <p:cxnSp>
        <p:nvCxnSpPr>
          <p:cNvPr id="16" name="Divider"/>
          <p:cNvCxnSpPr/>
          <p:nvPr/>
        </p:nvCxnSpPr>
        <p:spPr>
          <a:xfrm>
            <a:off x="552297" y="2761487"/>
            <a:ext cx="6675120" cy="0"/>
          </a:xfrm>
          <a:prstGeom prst="line">
            <a:avLst/>
          </a:prstGeom>
          <a:ln w="9525">
            <a:solidFill>
              <a:srgbClr val="D0D7DF"/>
            </a:solidFill>
          </a:ln>
        </p:spPr>
      </p:cxnSp>
      <p:sp>
        <p:nvSpPr>
          <p:cNvPr id="17" name="Number 2"/>
          <p:cNvSpPr/>
          <p:nvPr/>
        </p:nvSpPr>
        <p:spPr>
          <a:xfrm>
            <a:off x="552297" y="2935223"/>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2</a:t>
            </a:r>
          </a:p>
        </p:txBody>
      </p:sp>
      <p:sp>
        <p:nvSpPr>
          <p:cNvPr id="18" name="Step 2"/>
          <p:cNvSpPr txBox="1"/>
          <p:nvPr/>
        </p:nvSpPr>
        <p:spPr>
          <a:xfrm>
            <a:off x="1027785" y="2788919"/>
            <a:ext cx="5285231" cy="603503"/>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Group similar notes together. Name each group on an index card.</a:t>
            </a:r>
          </a:p>
        </p:txBody>
      </p:sp>
      <p:sp>
        <p:nvSpPr>
          <p:cNvPr id="19" name="Step 2 time"/>
          <p:cNvSpPr txBox="1"/>
          <p:nvPr/>
        </p:nvSpPr>
        <p:spPr>
          <a:xfrm>
            <a:off x="6358737" y="2788919"/>
            <a:ext cx="868680" cy="603503"/>
          </a:xfrm>
          <a:prstGeom prst="rect">
            <a:avLst/>
          </a:prstGeom>
          <a:noFill/>
        </p:spPr>
        <p:txBody>
          <a:bodyPr wrap="square" lIns="0" tIns="0" rIns="0" bIns="0" anchor="ctr">
            <a:spAutoFit/>
          </a:bodyPr>
          <a:lstStyle/>
          <a:p>
            <a:pPr algn="r"/>
            <a:r>
              <a:rPr sz="1800" b="0">
                <a:solidFill>
                  <a:srgbClr val="526273"/>
                </a:solidFill>
                <a:latin typeface="Gartner Sans"/>
                <a:ea typeface="Gartner Sans"/>
                <a:cs typeface="Gartner Sans"/>
              </a:rPr>
              <a:t>15 min</a:t>
            </a:r>
          </a:p>
        </p:txBody>
      </p:sp>
      <p:cxnSp>
        <p:nvCxnSpPr>
          <p:cNvPr id="20" name="Divider"/>
          <p:cNvCxnSpPr/>
          <p:nvPr/>
        </p:nvCxnSpPr>
        <p:spPr>
          <a:xfrm>
            <a:off x="552297" y="3419856"/>
            <a:ext cx="6675120" cy="0"/>
          </a:xfrm>
          <a:prstGeom prst="line">
            <a:avLst/>
          </a:prstGeom>
          <a:ln w="9525">
            <a:solidFill>
              <a:srgbClr val="D0D7DF"/>
            </a:solidFill>
          </a:ln>
        </p:spPr>
      </p:cxnSp>
      <p:sp>
        <p:nvSpPr>
          <p:cNvPr id="21" name="Number 3"/>
          <p:cNvSpPr/>
          <p:nvPr/>
        </p:nvSpPr>
        <p:spPr>
          <a:xfrm>
            <a:off x="552297" y="3593591"/>
            <a:ext cx="310896" cy="310896"/>
          </a:xfrm>
          <a:prstGeom prst="ellipse">
            <a:avLst/>
          </a:prstGeom>
          <a:solidFill>
            <a:srgbClr val="002869"/>
          </a:solidFill>
          <a:ln>
            <a:noFill/>
          </a:ln>
        </p:spPr>
        <p:txBody>
          <a:bodyPr wrap="square" lIns="0" tIns="0" rIns="0" bIns="0" rtlCol="0" anchor="ctr"/>
          <a:lstStyle/>
          <a:p>
            <a:pPr algn="ctr"/>
            <a:r>
              <a:rPr sz="1200" b="1">
                <a:solidFill>
                  <a:srgbClr val="FFFFFF"/>
                </a:solidFill>
                <a:latin typeface="Gartner Sans"/>
                <a:ea typeface="Gartner Sans"/>
                <a:cs typeface="Gartner Sans"/>
              </a:rPr>
              <a:t>3</a:t>
            </a:r>
          </a:p>
        </p:txBody>
      </p:sp>
      <p:sp>
        <p:nvSpPr>
          <p:cNvPr id="22" name="Step 3"/>
          <p:cNvSpPr txBox="1"/>
          <p:nvPr/>
        </p:nvSpPr>
        <p:spPr>
          <a:xfrm>
            <a:off x="1027785" y="3447287"/>
            <a:ext cx="5285231" cy="603503"/>
          </a:xfrm>
          <a:prstGeom prst="rect">
            <a:avLst/>
          </a:prstGeom>
          <a:noFill/>
        </p:spPr>
        <p:txBody>
          <a:bodyPr wrap="square" lIns="0" tIns="0" rIns="0" bIns="0" anchor="ctr">
            <a:spAutoFit/>
          </a:bodyPr>
          <a:lstStyle/>
          <a:p>
            <a:pPr algn="l"/>
            <a:r>
              <a:rPr sz="1800" b="0">
                <a:solidFill>
                  <a:srgbClr val="152230"/>
                </a:solidFill>
                <a:latin typeface="Gartner Sans"/>
                <a:ea typeface="Gartner Sans"/>
                <a:cs typeface="Gartner Sans"/>
              </a:rPr>
              <a:t>For each group, agree the mitigation steps and who can help.</a:t>
            </a:r>
          </a:p>
        </p:txBody>
      </p:sp>
      <p:sp>
        <p:nvSpPr>
          <p:cNvPr id="23" name="Step 3 time"/>
          <p:cNvSpPr txBox="1"/>
          <p:nvPr/>
        </p:nvSpPr>
        <p:spPr>
          <a:xfrm>
            <a:off x="6358737" y="3447287"/>
            <a:ext cx="868680" cy="603503"/>
          </a:xfrm>
          <a:prstGeom prst="rect">
            <a:avLst/>
          </a:prstGeom>
          <a:noFill/>
        </p:spPr>
        <p:txBody>
          <a:bodyPr wrap="square" lIns="0" tIns="0" rIns="0" bIns="0" anchor="ctr">
            <a:spAutoFit/>
          </a:bodyPr>
          <a:lstStyle/>
          <a:p>
            <a:pPr algn="r"/>
            <a:r>
              <a:rPr sz="1800" b="0">
                <a:solidFill>
                  <a:srgbClr val="526273"/>
                </a:solidFill>
                <a:latin typeface="Gartner Sans"/>
                <a:ea typeface="Gartner Sans"/>
                <a:cs typeface="Gartner Sans"/>
              </a:rPr>
              <a:t>30 min</a:t>
            </a:r>
          </a:p>
        </p:txBody>
      </p:sp>
      <p:sp>
        <p:nvSpPr>
          <p:cNvPr id="24" name="Card heading"/>
          <p:cNvSpPr/>
          <p:nvPr/>
        </p:nvSpPr>
        <p:spPr>
          <a:xfrm>
            <a:off x="7680960" y="1325880"/>
            <a:ext cx="4017873" cy="502920"/>
          </a:xfrm>
          <a:prstGeom prst="rect">
            <a:avLst/>
          </a:prstGeom>
          <a:solidFill>
            <a:srgbClr val="002869"/>
          </a:solidFill>
          <a:ln w="12700">
            <a:solidFill>
              <a:srgbClr val="002869"/>
            </a:solidFill>
          </a:ln>
        </p:spPr>
        <p:txBody>
          <a:bodyPr wrap="square" lIns="201168" tIns="0" rIns="182880" bIns="0" rtlCol="0" anchor="ctr"/>
          <a:lstStyle/>
          <a:p>
            <a:pPr algn="l"/>
            <a:r>
              <a:rPr sz="1800" b="1">
                <a:solidFill>
                  <a:srgbClr val="FFFFFF"/>
                </a:solidFill>
                <a:latin typeface="Gartner Sans"/>
                <a:ea typeface="Gartner Sans"/>
                <a:cs typeface="Gartner Sans"/>
              </a:rPr>
              <a:t>Prompts if you get stuck</a:t>
            </a:r>
          </a:p>
        </p:txBody>
      </p:sp>
      <p:sp>
        <p:nvSpPr>
          <p:cNvPr id="25" name="Card body"/>
          <p:cNvSpPr/>
          <p:nvPr/>
        </p:nvSpPr>
        <p:spPr>
          <a:xfrm>
            <a:off x="7680960" y="1828800"/>
            <a:ext cx="4017873" cy="2514600"/>
          </a:xfrm>
          <a:prstGeom prst="rect">
            <a:avLst/>
          </a:prstGeom>
          <a:solidFill>
            <a:srgbClr val="FFFFFF"/>
          </a:solidFill>
          <a:ln w="12700">
            <a:solidFill>
              <a:srgbClr val="002869"/>
            </a:solidFill>
          </a:ln>
        </p:spPr>
        <p:txBody>
          <a:bodyPr wrap="square" lIns="228600" tIns="182880" rIns="182880" bIns="109728" rtlCol="0" anchor="t"/>
          <a:lstStyle/>
          <a:p>
            <a:pPr marL="171450" indent="-171450" algn="l">
              <a:buFont typeface="Arial"/>
              <a:buChar char="•"/>
            </a:pPr>
            <a:r>
              <a:rPr sz="1700" b="0">
                <a:solidFill>
                  <a:srgbClr val="152230"/>
                </a:solidFill>
                <a:latin typeface="Gartner Sans"/>
                <a:ea typeface="Gartner Sans"/>
                <a:cs typeface="Gartner Sans"/>
              </a:rPr>
              <a:t>Too many tools to choose from</a:t>
            </a:r>
          </a:p>
          <a:p>
            <a:pPr marL="171450" indent="-171450" algn="l">
              <a:spcBef>
                <a:spcPts val="500"/>
              </a:spcBef>
              <a:buFont typeface="Arial"/>
              <a:buChar char="•"/>
            </a:pPr>
            <a:r>
              <a:rPr sz="1700" b="0">
                <a:solidFill>
                  <a:srgbClr val="152230"/>
                </a:solidFill>
                <a:latin typeface="Gartner Sans"/>
                <a:ea typeface="Gartner Sans"/>
                <a:cs typeface="Gartner Sans"/>
              </a:rPr>
              <a:t>More to review and check</a:t>
            </a:r>
          </a:p>
          <a:p>
            <a:pPr marL="171450" indent="-171450" algn="l">
              <a:spcBef>
                <a:spcPts val="500"/>
              </a:spcBef>
              <a:buFont typeface="Arial"/>
              <a:buChar char="•"/>
            </a:pPr>
            <a:r>
              <a:rPr sz="1700" b="0">
                <a:solidFill>
                  <a:srgbClr val="152230"/>
                </a:solidFill>
                <a:latin typeface="Gartner Sans"/>
                <a:ea typeface="Gartner Sans"/>
                <a:cs typeface="Gartner Sans"/>
              </a:rPr>
              <a:t>Risk, privacy and compliance</a:t>
            </a:r>
          </a:p>
          <a:p>
            <a:pPr marL="171450" indent="-171450" algn="l">
              <a:spcBef>
                <a:spcPts val="500"/>
              </a:spcBef>
              <a:buFont typeface="Arial"/>
              <a:buChar char="•"/>
            </a:pPr>
            <a:r>
              <a:rPr sz="1700" b="0">
                <a:solidFill>
                  <a:srgbClr val="152230"/>
                </a:solidFill>
                <a:latin typeface="Gartner Sans"/>
                <a:ea typeface="Gartner Sans"/>
                <a:cs typeface="Gartner Sans"/>
              </a:rPr>
              <a:t>No protected time to learn</a:t>
            </a:r>
          </a:p>
          <a:p>
            <a:pPr marL="171450" indent="-171450" algn="l">
              <a:spcBef>
                <a:spcPts val="500"/>
              </a:spcBef>
              <a:buFont typeface="Arial"/>
              <a:buChar char="•"/>
            </a:pPr>
            <a:r>
              <a:rPr sz="1700" b="0">
                <a:solidFill>
                  <a:srgbClr val="152230"/>
                </a:solidFill>
                <a:latin typeface="Gartner Sans"/>
                <a:ea typeface="Gartner Sans"/>
                <a:cs typeface="Gartner Sans"/>
              </a:rPr>
              <a:t>Habits, norms and trust</a:t>
            </a:r>
          </a:p>
          <a:p>
            <a:pPr marL="171450" indent="-171450" algn="l">
              <a:spcBef>
                <a:spcPts val="500"/>
              </a:spcBef>
              <a:buFont typeface="Arial"/>
              <a:buChar char="•"/>
            </a:pPr>
            <a:r>
              <a:rPr sz="1700" b="0">
                <a:solidFill>
                  <a:srgbClr val="152230"/>
                </a:solidFill>
                <a:latin typeface="Gartner Sans"/>
                <a:ea typeface="Gartner Sans"/>
                <a:cs typeface="Gartner Sans"/>
              </a:rPr>
              <a:t>Governance built for the old process</a:t>
            </a:r>
          </a:p>
        </p:txBody>
      </p:sp>
      <p:sp>
        <p:nvSpPr>
          <p:cNvPr id="26" name="Note"/>
          <p:cNvSpPr/>
          <p:nvPr/>
        </p:nvSpPr>
        <p:spPr>
          <a:xfrm>
            <a:off x="552297" y="4434840"/>
            <a:ext cx="11146536" cy="640080"/>
          </a:xfrm>
          <a:prstGeom prst="rect">
            <a:avLst/>
          </a:prstGeom>
          <a:solidFill>
            <a:srgbClr val="F0F7FD"/>
          </a:solidFill>
          <a:ln>
            <a:noFill/>
          </a:ln>
        </p:spPr>
        <p:txBody>
          <a:bodyPr wrap="square" lIns="228600" rIns="228600" rtlCol="0" anchor="ctr"/>
          <a:lstStyle/>
          <a:p>
            <a:pPr algn="l"/>
            <a:r>
              <a:rPr sz="1650" b="1">
                <a:solidFill>
                  <a:srgbClr val="002869"/>
                </a:solidFill>
                <a:latin typeface="Gartner Sans"/>
                <a:ea typeface="Gartner Sans"/>
                <a:cs typeface="Gartner Sans"/>
              </a:rPr>
              <a:t>What you need: </a:t>
            </a:r>
            <a:r>
              <a:rPr sz="1650" b="0">
                <a:solidFill>
                  <a:srgbClr val="152230"/>
                </a:solidFill>
                <a:latin typeface="Gartner Sans"/>
                <a:ea typeface="Gartner Sans"/>
                <a:cs typeface="Gartner Sans"/>
              </a:rPr>
              <a:t>sticky notes for the challenges, index cards to name the groups, and a second colour of note for the mitigations.</a:t>
            </a:r>
          </a:p>
        </p:txBody>
      </p:sp>
      <p:sp>
        <p:nvSpPr>
          <p:cNvPr id="27" name="Note"/>
          <p:cNvSpPr/>
          <p:nvPr/>
        </p:nvSpPr>
        <p:spPr>
          <a:xfrm>
            <a:off x="552297" y="5212080"/>
            <a:ext cx="11146536" cy="548640"/>
          </a:xfrm>
          <a:prstGeom prst="rect">
            <a:avLst/>
          </a:prstGeom>
          <a:solidFill>
            <a:srgbClr val="F0F7FD"/>
          </a:solidFill>
          <a:ln>
            <a:noFill/>
          </a:ln>
        </p:spPr>
        <p:txBody>
          <a:bodyPr wrap="square" lIns="228600" rIns="228600" rtlCol="0" anchor="ctr"/>
          <a:lstStyle/>
          <a:p>
            <a:pPr algn="l"/>
            <a:r>
              <a:rPr sz="1800" b="1">
                <a:solidFill>
                  <a:srgbClr val="002869"/>
                </a:solidFill>
                <a:latin typeface="Gartner Sans"/>
                <a:ea typeface="Gartner Sans"/>
                <a:cs typeface="Gartner Sans"/>
              </a:rPr>
              <a:t>Be ready to share </a:t>
            </a:r>
            <a:r>
              <a:rPr sz="1800" b="0">
                <a:solidFill>
                  <a:srgbClr val="152230"/>
                </a:solidFill>
                <a:latin typeface="Gartner Sans"/>
                <a:ea typeface="Gartner Sans"/>
                <a:cs typeface="Gartner Sans"/>
              </a:rPr>
              <a:t>your groups and your mitigation steps with the room.</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Example 1: brainstorm, then group the challenges</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95</a:t>
            </a:r>
          </a:p>
        </p:txBody>
      </p:sp>
      <p:pic>
        <p:nvPicPr>
          <p:cNvPr id="10" name="Hand-drawn example" descr="Hand-drawn example: yellow sticky notes, one challenge each, grouped under five index cards named Time, Skills and confidence, Trust and culture, Governance and risk, and Tools and access."/>
          <p:cNvPicPr>
            <a:picLocks noChangeAspect="1"/>
          </p:cNvPicPr>
          <p:nvPr/>
        </p:nvPicPr>
        <p:blipFill>
          <a:blip r:embed="rId2"/>
          <a:stretch>
            <a:fillRect/>
          </a:stretch>
        </p:blipFill>
        <p:spPr>
          <a:xfrm>
            <a:off x="552297" y="1188720"/>
            <a:ext cx="11146536" cy="4527631"/>
          </a:xfrm>
          <a:prstGeom prst="rect">
            <a:avLst/>
          </a:prstGeom>
        </p:spPr>
      </p:pic>
      <p:sp>
        <p:nvSpPr>
          <p:cNvPr id="11" name="Key"/>
          <p:cNvSpPr/>
          <p:nvPr/>
        </p:nvSpPr>
        <p:spPr>
          <a:xfrm>
            <a:off x="552297" y="5852160"/>
            <a:ext cx="155448" cy="155448"/>
          </a:xfrm>
          <a:prstGeom prst="rect">
            <a:avLst/>
          </a:prstGeom>
          <a:solidFill>
            <a:srgbClr val="FFFDF4"/>
          </a:solidFill>
          <a:ln w="9525">
            <a:solidFill>
              <a:srgbClr val="D0D7DF"/>
            </a:solidFill>
          </a:ln>
        </p:spPr>
        <p:txBody>
          <a:bodyPr rtlCol="0" anchor="ctr"/>
          <a:lstStyle/>
          <a:p>
            <a:pPr algn="ctr"/>
            <a:endParaRPr/>
          </a:p>
        </p:txBody>
      </p:sp>
      <p:sp>
        <p:nvSpPr>
          <p:cNvPr id="12" name="Key label"/>
          <p:cNvSpPr txBox="1"/>
          <p:nvPr/>
        </p:nvSpPr>
        <p:spPr>
          <a:xfrm>
            <a:off x="780897" y="5806440"/>
            <a:ext cx="2514600" cy="246888"/>
          </a:xfrm>
          <a:prstGeom prst="rect">
            <a:avLst/>
          </a:prstGeom>
          <a:noFill/>
        </p:spPr>
        <p:txBody>
          <a:bodyPr wrap="square" lIns="0" tIns="0" rIns="0" bIns="0" anchor="ctr">
            <a:spAutoFit/>
          </a:bodyPr>
          <a:lstStyle/>
          <a:p>
            <a:pPr algn="l"/>
            <a:r>
              <a:rPr sz="1350" b="0">
                <a:solidFill>
                  <a:srgbClr val="152230"/>
                </a:solidFill>
                <a:latin typeface="Gartner Sans"/>
                <a:ea typeface="Gartner Sans"/>
                <a:cs typeface="Gartner Sans"/>
              </a:rPr>
              <a:t>Index card: the name of a group</a:t>
            </a:r>
          </a:p>
        </p:txBody>
      </p:sp>
      <p:sp>
        <p:nvSpPr>
          <p:cNvPr id="13" name="Key"/>
          <p:cNvSpPr/>
          <p:nvPr/>
        </p:nvSpPr>
        <p:spPr>
          <a:xfrm>
            <a:off x="3341217" y="5852160"/>
            <a:ext cx="155448" cy="155448"/>
          </a:xfrm>
          <a:prstGeom prst="rect">
            <a:avLst/>
          </a:prstGeom>
          <a:solidFill>
            <a:srgbClr val="FFE566"/>
          </a:solidFill>
          <a:ln>
            <a:noFill/>
          </a:ln>
        </p:spPr>
        <p:txBody>
          <a:bodyPr rtlCol="0" anchor="ctr"/>
          <a:lstStyle/>
          <a:p>
            <a:pPr algn="ctr"/>
            <a:endParaRPr/>
          </a:p>
        </p:txBody>
      </p:sp>
      <p:sp>
        <p:nvSpPr>
          <p:cNvPr id="14" name="Key label"/>
          <p:cNvSpPr txBox="1"/>
          <p:nvPr/>
        </p:nvSpPr>
        <p:spPr>
          <a:xfrm>
            <a:off x="3569817" y="5806440"/>
            <a:ext cx="2834640" cy="24688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Sticky note: one challenge or barrier</a:t>
            </a:r>
          </a:p>
        </p:txBody>
      </p:sp>
      <p:sp>
        <p:nvSpPr>
          <p:cNvPr id="15" name="Note"/>
          <p:cNvSpPr txBox="1"/>
          <p:nvPr/>
        </p:nvSpPr>
        <p:spPr>
          <a:xfrm>
            <a:off x="6450177" y="5806440"/>
            <a:ext cx="2743200" cy="246888"/>
          </a:xfrm>
          <a:prstGeom prst="rect">
            <a:avLst/>
          </a:prstGeom>
          <a:noFill/>
        </p:spPr>
        <p:txBody>
          <a:bodyPr wrap="square" lIns="0" tIns="0" rIns="0" bIns="0" anchor="ctr">
            <a:spAutoFit/>
          </a:bodyPr>
          <a:lstStyle/>
          <a:p>
            <a:pPr algn="l"/>
            <a:r>
              <a:rPr sz="1450" b="0">
                <a:solidFill>
                  <a:srgbClr val="526273"/>
                </a:solidFill>
                <a:latin typeface="Gartner Sans"/>
                <a:ea typeface="Gartner Sans"/>
                <a:cs typeface="Gartner Sans"/>
              </a:rPr>
              <a:t>Illustrative example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Example 2: agree mitigation steps for each group</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96</a:t>
            </a:r>
          </a:p>
        </p:txBody>
      </p:sp>
      <p:pic>
        <p:nvPicPr>
          <p:cNvPr id="10" name="Hand-drawn example" descr="Hand-drawn example: under each index card, green sticky notes give the mitigation steps and a blue note names who can help."/>
          <p:cNvPicPr>
            <a:picLocks noChangeAspect="1"/>
          </p:cNvPicPr>
          <p:nvPr/>
        </p:nvPicPr>
        <p:blipFill>
          <a:blip r:embed="rId2"/>
          <a:stretch>
            <a:fillRect/>
          </a:stretch>
        </p:blipFill>
        <p:spPr>
          <a:xfrm>
            <a:off x="552297" y="1188720"/>
            <a:ext cx="11146536" cy="4527631"/>
          </a:xfrm>
          <a:prstGeom prst="rect">
            <a:avLst/>
          </a:prstGeom>
        </p:spPr>
      </p:pic>
      <p:sp>
        <p:nvSpPr>
          <p:cNvPr id="11" name="Key"/>
          <p:cNvSpPr/>
          <p:nvPr/>
        </p:nvSpPr>
        <p:spPr>
          <a:xfrm>
            <a:off x="552297" y="5852160"/>
            <a:ext cx="155448" cy="155448"/>
          </a:xfrm>
          <a:prstGeom prst="rect">
            <a:avLst/>
          </a:prstGeom>
          <a:solidFill>
            <a:srgbClr val="FFFDF4"/>
          </a:solidFill>
          <a:ln w="9525">
            <a:solidFill>
              <a:srgbClr val="D0D7DF"/>
            </a:solidFill>
          </a:ln>
        </p:spPr>
        <p:txBody>
          <a:bodyPr rtlCol="0" anchor="ctr"/>
          <a:lstStyle/>
          <a:p>
            <a:pPr algn="ctr"/>
            <a:endParaRPr/>
          </a:p>
        </p:txBody>
      </p:sp>
      <p:sp>
        <p:nvSpPr>
          <p:cNvPr id="12" name="Key label"/>
          <p:cNvSpPr txBox="1"/>
          <p:nvPr/>
        </p:nvSpPr>
        <p:spPr>
          <a:xfrm>
            <a:off x="780897" y="5806440"/>
            <a:ext cx="1691640" cy="246888"/>
          </a:xfrm>
          <a:prstGeom prst="rect">
            <a:avLst/>
          </a:prstGeom>
          <a:noFill/>
        </p:spPr>
        <p:txBody>
          <a:bodyPr wrap="square" lIns="0" tIns="0" rIns="0" bIns="0" anchor="ctr">
            <a:spAutoFit/>
          </a:bodyPr>
          <a:lstStyle/>
          <a:p>
            <a:pPr algn="l"/>
            <a:r>
              <a:rPr sz="1300" b="0">
                <a:solidFill>
                  <a:srgbClr val="152230"/>
                </a:solidFill>
                <a:latin typeface="Gartner Sans"/>
                <a:ea typeface="Gartner Sans"/>
                <a:cs typeface="Gartner Sans"/>
              </a:rPr>
              <a:t>Index card: the group</a:t>
            </a:r>
          </a:p>
        </p:txBody>
      </p:sp>
      <p:sp>
        <p:nvSpPr>
          <p:cNvPr id="13" name="Key"/>
          <p:cNvSpPr/>
          <p:nvPr/>
        </p:nvSpPr>
        <p:spPr>
          <a:xfrm>
            <a:off x="2518257" y="5852160"/>
            <a:ext cx="155448" cy="155448"/>
          </a:xfrm>
          <a:prstGeom prst="rect">
            <a:avLst/>
          </a:prstGeom>
          <a:solidFill>
            <a:srgbClr val="A8E6A1"/>
          </a:solidFill>
          <a:ln>
            <a:noFill/>
          </a:ln>
        </p:spPr>
        <p:txBody>
          <a:bodyPr rtlCol="0" anchor="ctr"/>
          <a:lstStyle/>
          <a:p>
            <a:pPr algn="ctr"/>
            <a:endParaRPr/>
          </a:p>
        </p:txBody>
      </p:sp>
      <p:sp>
        <p:nvSpPr>
          <p:cNvPr id="14" name="Key label"/>
          <p:cNvSpPr txBox="1"/>
          <p:nvPr/>
        </p:nvSpPr>
        <p:spPr>
          <a:xfrm>
            <a:off x="2746857" y="5806440"/>
            <a:ext cx="1325880" cy="246888"/>
          </a:xfrm>
          <a:prstGeom prst="rect">
            <a:avLst/>
          </a:prstGeom>
          <a:noFill/>
        </p:spPr>
        <p:txBody>
          <a:bodyPr wrap="square" lIns="0" tIns="0" rIns="0" bIns="0" anchor="ctr">
            <a:spAutoFit/>
          </a:bodyPr>
          <a:lstStyle/>
          <a:p>
            <a:pPr algn="l"/>
            <a:r>
              <a:rPr sz="1450" b="0">
                <a:solidFill>
                  <a:srgbClr val="152230"/>
                </a:solidFill>
                <a:latin typeface="Gartner Sans"/>
                <a:ea typeface="Gartner Sans"/>
                <a:cs typeface="Gartner Sans"/>
              </a:rPr>
              <a:t>Mitigation step</a:t>
            </a:r>
          </a:p>
        </p:txBody>
      </p:sp>
      <p:sp>
        <p:nvSpPr>
          <p:cNvPr id="15" name="Key"/>
          <p:cNvSpPr/>
          <p:nvPr/>
        </p:nvSpPr>
        <p:spPr>
          <a:xfrm>
            <a:off x="4118457" y="5852160"/>
            <a:ext cx="155448" cy="155448"/>
          </a:xfrm>
          <a:prstGeom prst="rect">
            <a:avLst/>
          </a:prstGeom>
          <a:solidFill>
            <a:srgbClr val="9FD3F5"/>
          </a:solidFill>
          <a:ln>
            <a:noFill/>
          </a:ln>
        </p:spPr>
        <p:txBody>
          <a:bodyPr rtlCol="0" anchor="ctr"/>
          <a:lstStyle/>
          <a:p>
            <a:pPr algn="ctr"/>
            <a:endParaRPr/>
          </a:p>
        </p:txBody>
      </p:sp>
      <p:sp>
        <p:nvSpPr>
          <p:cNvPr id="16" name="Key label"/>
          <p:cNvSpPr txBox="1"/>
          <p:nvPr/>
        </p:nvSpPr>
        <p:spPr>
          <a:xfrm>
            <a:off x="4347057" y="5806440"/>
            <a:ext cx="1188720" cy="246888"/>
          </a:xfrm>
          <a:prstGeom prst="rect">
            <a:avLst/>
          </a:prstGeom>
          <a:noFill/>
        </p:spPr>
        <p:txBody>
          <a:bodyPr wrap="square" lIns="0" tIns="0" rIns="0" bIns="0" anchor="ctr">
            <a:spAutoFit/>
          </a:bodyPr>
          <a:lstStyle/>
          <a:p>
            <a:pPr algn="l"/>
            <a:r>
              <a:rPr sz="1450" b="0">
                <a:solidFill>
                  <a:srgbClr val="152230"/>
                </a:solidFill>
                <a:latin typeface="Gartner Sans"/>
                <a:ea typeface="Gartner Sans"/>
                <a:cs typeface="Gartner Sans"/>
              </a:rPr>
              <a:t>Who can help</a:t>
            </a:r>
          </a:p>
        </p:txBody>
      </p:sp>
      <p:sp>
        <p:nvSpPr>
          <p:cNvPr id="17" name="Note"/>
          <p:cNvSpPr txBox="1"/>
          <p:nvPr/>
        </p:nvSpPr>
        <p:spPr>
          <a:xfrm>
            <a:off x="5581497" y="5806440"/>
            <a:ext cx="2743200" cy="246888"/>
          </a:xfrm>
          <a:prstGeom prst="rect">
            <a:avLst/>
          </a:prstGeom>
          <a:noFill/>
        </p:spPr>
        <p:txBody>
          <a:bodyPr wrap="square" lIns="0" tIns="0" rIns="0" bIns="0" anchor="ctr">
            <a:spAutoFit/>
          </a:bodyPr>
          <a:lstStyle/>
          <a:p>
            <a:pPr algn="l"/>
            <a:r>
              <a:rPr sz="1450" b="0">
                <a:solidFill>
                  <a:srgbClr val="526273"/>
                </a:solidFill>
                <a:latin typeface="Gartner Sans"/>
                <a:ea typeface="Gartner Sans"/>
                <a:cs typeface="Gartner Sans"/>
              </a:rPr>
              <a:t>Illustrative example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Eight actions to improve stakeholder engagement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16</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to do: actions 5 to 8</a:t>
            </a:r>
          </a:p>
        </p:txBody>
      </p:sp>
      <p:sp>
        <p:nvSpPr>
          <p:cNvPr id="24" name="Make the product team a hub"/>
          <p:cNvSpPr/>
          <p:nvPr/>
        </p:nvSpPr>
        <p:spPr>
          <a:xfrm>
            <a:off x="552297" y="1764792"/>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25" name="Number 5"/>
          <p:cNvSpPr/>
          <p:nvPr/>
        </p:nvSpPr>
        <p:spPr>
          <a:xfrm>
            <a:off x="735177" y="194767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5</a:t>
            </a:r>
          </a:p>
        </p:txBody>
      </p:sp>
      <p:sp>
        <p:nvSpPr>
          <p:cNvPr id="26" name="Make the product team a hub text"/>
          <p:cNvSpPr txBox="1"/>
          <p:nvPr/>
        </p:nvSpPr>
        <p:spPr>
          <a:xfrm>
            <a:off x="1146657" y="1860804"/>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Make the product team a hub</a:t>
            </a:r>
          </a:p>
        </p:txBody>
      </p:sp>
      <p:sp>
        <p:nvSpPr>
          <p:cNvPr id="37" name="Make the product team a hub body"/>
          <p:cNvSpPr txBox="1"/>
          <p:nvPr/>
        </p:nvSpPr>
        <p:spPr>
          <a:xfrm>
            <a:off x="735177" y="2404872"/>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Share decisions, inputs and reasoning with every part of the organisation.</a:t>
            </a:r>
          </a:p>
        </p:txBody>
      </p:sp>
      <p:sp>
        <p:nvSpPr>
          <p:cNvPr id="27" name="Align teams to value streams"/>
          <p:cNvSpPr/>
          <p:nvPr/>
        </p:nvSpPr>
        <p:spPr>
          <a:xfrm>
            <a:off x="6217004" y="1764792"/>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28" name="Number 6"/>
          <p:cNvSpPr/>
          <p:nvPr/>
        </p:nvSpPr>
        <p:spPr>
          <a:xfrm>
            <a:off x="6399884" y="194767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6</a:t>
            </a:r>
          </a:p>
        </p:txBody>
      </p:sp>
      <p:sp>
        <p:nvSpPr>
          <p:cNvPr id="29" name="Align teams to value streams text"/>
          <p:cNvSpPr txBox="1"/>
          <p:nvPr/>
        </p:nvSpPr>
        <p:spPr>
          <a:xfrm>
            <a:off x="6811364" y="1860804"/>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Align teams to value streams</a:t>
            </a:r>
          </a:p>
        </p:txBody>
      </p:sp>
      <p:sp>
        <p:nvSpPr>
          <p:cNvPr id="38" name="Align teams to value streams body"/>
          <p:cNvSpPr txBox="1"/>
          <p:nvPr/>
        </p:nvSpPr>
        <p:spPr>
          <a:xfrm>
            <a:off x="6399884" y="2404872"/>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Map the flow from request to delivery, so that each team sees how its work connects to enterprise outcomes.</a:t>
            </a:r>
          </a:p>
        </p:txBody>
      </p:sp>
      <p:sp>
        <p:nvSpPr>
          <p:cNvPr id="30" name="Adapt governance"/>
          <p:cNvSpPr/>
          <p:nvPr/>
        </p:nvSpPr>
        <p:spPr>
          <a:xfrm>
            <a:off x="552297" y="3923836"/>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31" name="Number 7"/>
          <p:cNvSpPr/>
          <p:nvPr/>
        </p:nvSpPr>
        <p:spPr>
          <a:xfrm>
            <a:off x="735177" y="410671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7</a:t>
            </a:r>
          </a:p>
        </p:txBody>
      </p:sp>
      <p:sp>
        <p:nvSpPr>
          <p:cNvPr id="32" name="Adapt governance text"/>
          <p:cNvSpPr txBox="1"/>
          <p:nvPr/>
        </p:nvSpPr>
        <p:spPr>
          <a:xfrm>
            <a:off x="1146657" y="4019848"/>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Adapt governance</a:t>
            </a:r>
          </a:p>
        </p:txBody>
      </p:sp>
      <p:sp>
        <p:nvSpPr>
          <p:cNvPr id="39" name="Adapt governance body"/>
          <p:cNvSpPr txBox="1"/>
          <p:nvPr/>
        </p:nvSpPr>
        <p:spPr>
          <a:xfrm>
            <a:off x="735177" y="4563916"/>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Co-create guardrails with delivery teams and embed them in workflows.</a:t>
            </a:r>
          </a:p>
        </p:txBody>
      </p:sp>
      <p:sp>
        <p:nvSpPr>
          <p:cNvPr id="33" name="Coordinate cadences"/>
          <p:cNvSpPr/>
          <p:nvPr/>
        </p:nvSpPr>
        <p:spPr>
          <a:xfrm>
            <a:off x="6217004" y="3923836"/>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34" name="Number 8"/>
          <p:cNvSpPr/>
          <p:nvPr/>
        </p:nvSpPr>
        <p:spPr>
          <a:xfrm>
            <a:off x="6399884" y="410671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8</a:t>
            </a:r>
          </a:p>
        </p:txBody>
      </p:sp>
      <p:sp>
        <p:nvSpPr>
          <p:cNvPr id="35" name="Coordinate cadences text"/>
          <p:cNvSpPr txBox="1"/>
          <p:nvPr/>
        </p:nvSpPr>
        <p:spPr>
          <a:xfrm>
            <a:off x="6811364" y="4019848"/>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Coordinate cadences</a:t>
            </a:r>
          </a:p>
        </p:txBody>
      </p:sp>
      <p:sp>
        <p:nvSpPr>
          <p:cNvPr id="40" name="Coordinate cadences body"/>
          <p:cNvSpPr txBox="1"/>
          <p:nvPr/>
        </p:nvSpPr>
        <p:spPr>
          <a:xfrm>
            <a:off x="6399884" y="4563916"/>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Identify dependencies early and agree how they will be met, without slowing agile teams.</a:t>
            </a:r>
          </a:p>
        </p:txBody>
      </p:sp>
      <p:sp>
        <p:nvSpPr>
          <p:cNvPr id="36"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references 1, 2, 4, 5 and 7 (see the References slide)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Eight issues recur in stakeholder engagement</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12</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What goes wrong: issues 5 to 8</a:t>
            </a:r>
          </a:p>
        </p:txBody>
      </p:sp>
      <p:sp>
        <p:nvSpPr>
          <p:cNvPr id="24" name="Conflicting priorities"/>
          <p:cNvSpPr/>
          <p:nvPr/>
        </p:nvSpPr>
        <p:spPr>
          <a:xfrm>
            <a:off x="552297" y="1764792"/>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25" name="Number 5"/>
          <p:cNvSpPr/>
          <p:nvPr/>
        </p:nvSpPr>
        <p:spPr>
          <a:xfrm>
            <a:off x="735177" y="194767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5</a:t>
            </a:r>
          </a:p>
        </p:txBody>
      </p:sp>
      <p:sp>
        <p:nvSpPr>
          <p:cNvPr id="26" name="Conflicting priorities text"/>
          <p:cNvSpPr txBox="1"/>
          <p:nvPr/>
        </p:nvSpPr>
        <p:spPr>
          <a:xfrm>
            <a:off x="1146657" y="1860804"/>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Conflicting priorities</a:t>
            </a:r>
          </a:p>
        </p:txBody>
      </p:sp>
      <p:sp>
        <p:nvSpPr>
          <p:cNvPr id="37" name="Conflicting priorities body"/>
          <p:cNvSpPr txBox="1"/>
          <p:nvPr/>
        </p:nvSpPr>
        <p:spPr>
          <a:xfrm>
            <a:off x="735177" y="2404872"/>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Stakeholders with different incentives or risks resist change. Their concerns are labelled as blockers and are not addressed.</a:t>
            </a:r>
          </a:p>
        </p:txBody>
      </p:sp>
      <p:sp>
        <p:nvSpPr>
          <p:cNvPr id="27" name="Low transparency"/>
          <p:cNvSpPr/>
          <p:nvPr/>
        </p:nvSpPr>
        <p:spPr>
          <a:xfrm>
            <a:off x="6217004" y="1764792"/>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28" name="Number 6"/>
          <p:cNvSpPr/>
          <p:nvPr/>
        </p:nvSpPr>
        <p:spPr>
          <a:xfrm>
            <a:off x="6399884" y="1947672"/>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6</a:t>
            </a:r>
          </a:p>
        </p:txBody>
      </p:sp>
      <p:sp>
        <p:nvSpPr>
          <p:cNvPr id="29" name="Low transparency text"/>
          <p:cNvSpPr txBox="1"/>
          <p:nvPr/>
        </p:nvSpPr>
        <p:spPr>
          <a:xfrm>
            <a:off x="6811364" y="1860804"/>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Low transparency</a:t>
            </a:r>
          </a:p>
        </p:txBody>
      </p:sp>
      <p:sp>
        <p:nvSpPr>
          <p:cNvPr id="38" name="Low transparency body"/>
          <p:cNvSpPr txBox="1"/>
          <p:nvPr/>
        </p:nvSpPr>
        <p:spPr>
          <a:xfrm>
            <a:off x="6399884" y="2404872"/>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Stakeholders lose trust when decisions and trade-offs are not shared. Collaboration slips when no one is accountable for it.</a:t>
            </a:r>
          </a:p>
        </p:txBody>
      </p:sp>
      <p:sp>
        <p:nvSpPr>
          <p:cNvPr id="30" name="Scaling and role complexity"/>
          <p:cNvSpPr/>
          <p:nvPr/>
        </p:nvSpPr>
        <p:spPr>
          <a:xfrm>
            <a:off x="552297" y="3923836"/>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31" name="Number 7"/>
          <p:cNvSpPr/>
          <p:nvPr/>
        </p:nvSpPr>
        <p:spPr>
          <a:xfrm>
            <a:off x="735177" y="410671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7</a:t>
            </a:r>
          </a:p>
        </p:txBody>
      </p:sp>
      <p:sp>
        <p:nvSpPr>
          <p:cNvPr id="32" name="Scaling and role complexity text"/>
          <p:cNvSpPr txBox="1"/>
          <p:nvPr/>
        </p:nvSpPr>
        <p:spPr>
          <a:xfrm>
            <a:off x="1146657" y="4019848"/>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Scaling and role complexity</a:t>
            </a:r>
          </a:p>
        </p:txBody>
      </p:sp>
      <p:sp>
        <p:nvSpPr>
          <p:cNvPr id="39" name="Scaling and role complexity body"/>
          <p:cNvSpPr txBox="1"/>
          <p:nvPr/>
        </p:nvSpPr>
        <p:spPr>
          <a:xfrm>
            <a:off x="735177" y="4563916"/>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One product manager cannot cover a complex product. Security, architecture and specialist views arrive late or not at all.</a:t>
            </a:r>
          </a:p>
        </p:txBody>
      </p:sp>
      <p:sp>
        <p:nvSpPr>
          <p:cNvPr id="33" name="Agile and non-agile dependencies"/>
          <p:cNvSpPr/>
          <p:nvPr/>
        </p:nvSpPr>
        <p:spPr>
          <a:xfrm>
            <a:off x="6217004" y="3923836"/>
            <a:ext cx="5481827" cy="1976164"/>
          </a:xfrm>
          <a:prstGeom prst="rect">
            <a:avLst/>
          </a:prstGeom>
          <a:solidFill>
            <a:srgbClr val="F0F7FD"/>
          </a:solidFill>
          <a:ln>
            <a:noFill/>
          </a:ln>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cs typeface="Calibri"/>
            </a:endParaRPr>
          </a:p>
        </p:txBody>
      </p:sp>
      <p:sp>
        <p:nvSpPr>
          <p:cNvPr id="34" name="Number 8"/>
          <p:cNvSpPr/>
          <p:nvPr/>
        </p:nvSpPr>
        <p:spPr>
          <a:xfrm>
            <a:off x="6399884" y="4106716"/>
            <a:ext cx="310896" cy="310896"/>
          </a:xfrm>
          <a:prstGeom prst="ellipse">
            <a:avLst/>
          </a:prstGeom>
          <a:solidFill>
            <a:srgbClr val="002869"/>
          </a:solidFill>
          <a:ln>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FFFFFF"/>
                </a:solidFill>
                <a:effectLst/>
                <a:uLnTx/>
                <a:uFillTx/>
                <a:latin typeface="Gartner Sans"/>
                <a:ea typeface="Gartner Sans"/>
                <a:cs typeface="Gartner Sans"/>
              </a:rPr>
              <a:t>8</a:t>
            </a:r>
          </a:p>
        </p:txBody>
      </p:sp>
      <p:sp>
        <p:nvSpPr>
          <p:cNvPr id="35" name="Agile and non-agile dependencies text"/>
          <p:cNvSpPr txBox="1"/>
          <p:nvPr/>
        </p:nvSpPr>
        <p:spPr>
          <a:xfrm>
            <a:off x="6811364" y="4019848"/>
            <a:ext cx="4750307" cy="484632"/>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750" b="1" i="0" u="none" strike="noStrike" kern="1200" cap="none" spc="0" normalizeH="0" baseline="0" noProof="0">
                <a:ln>
                  <a:noFill/>
                </a:ln>
                <a:solidFill>
                  <a:srgbClr val="002869"/>
                </a:solidFill>
                <a:effectLst/>
                <a:uLnTx/>
                <a:uFillTx/>
                <a:latin typeface="Gartner Sans"/>
                <a:ea typeface="Gartner Sans"/>
                <a:cs typeface="Gartner Sans"/>
              </a:rPr>
              <a:t>Agile and non-agile dependencies</a:t>
            </a:r>
          </a:p>
        </p:txBody>
      </p:sp>
      <p:sp>
        <p:nvSpPr>
          <p:cNvPr id="40" name="Agile and non-agile dependencies body"/>
          <p:cNvSpPr txBox="1"/>
          <p:nvPr/>
        </p:nvSpPr>
        <p:spPr>
          <a:xfrm>
            <a:off x="6399884" y="4563916"/>
            <a:ext cx="5116067" cy="1244644"/>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500"/>
              </a:spcBef>
              <a:spcAft>
                <a:spcPts val="0"/>
              </a:spcAft>
              <a:buClrTx/>
              <a:buSzTx/>
              <a:buFontTx/>
              <a:buNone/>
              <a:tabLst/>
              <a:defRPr/>
            </a:pPr>
            <a:r>
              <a:rPr kumimoji="0" sz="1750" b="0" i="0" u="none" strike="noStrike" kern="1200" cap="none" spc="0" normalizeH="0" baseline="0" noProof="0">
                <a:ln>
                  <a:noFill/>
                </a:ln>
                <a:solidFill>
                  <a:srgbClr val="152230"/>
                </a:solidFill>
                <a:effectLst/>
                <a:uLnTx/>
                <a:uFillTx/>
                <a:latin typeface="Gartner Sans"/>
                <a:ea typeface="Gartner Sans"/>
                <a:cs typeface="Gartner Sans"/>
              </a:rPr>
              <a:t>Cadences and governance models conflict. Dependencies are not agreed in advance, which causes delay.</a:t>
            </a:r>
          </a:p>
        </p:txBody>
      </p:sp>
      <p:sp>
        <p:nvSpPr>
          <p:cNvPr id="36"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references 1, 2, 5 and 7 (see the References slide)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Title"/>
          <p:cNvSpPr>
            <a:spLocks noGrp="1"/>
          </p:cNvSpPr>
          <p:nvPr/>
        </p:nvSpPr>
        <p:spPr>
          <a:xfrm>
            <a:off x="552450" y="419100"/>
            <a:ext cx="11144250" cy="6858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2800" b="0">
                <a:solidFill>
                  <a:srgbClr val="002869"/>
                </a:solidFill>
                <a:latin typeface="Gartner Sans"/>
                <a:ea typeface="Gartner Sans"/>
                <a:cs typeface="Gartner Sans"/>
              </a:defRPr>
            </a:pPr>
            <a:r>
              <a:rPr kumimoji="0" sz="2800" b="0" i="0" u="none" strike="noStrike" kern="1200" cap="none" spc="0" normalizeH="0" baseline="0" noProof="0">
                <a:ln>
                  <a:noFill/>
                </a:ln>
                <a:solidFill>
                  <a:srgbClr val="002869"/>
                </a:solidFill>
                <a:effectLst/>
                <a:uLnTx/>
                <a:uFillTx/>
                <a:latin typeface="Gartner Sans"/>
                <a:ea typeface="Gartner Sans"/>
                <a:cs typeface="Gartner Sans"/>
              </a:rPr>
              <a:t>Ten stakeholder groups take part in software delivery</a:t>
            </a:r>
          </a:p>
        </p:txBody>
      </p:sp>
      <p:sp>
        <p:nvSpPr>
          <p:cNvPr id="2" name="Slide number"/>
          <p:cNvSpPr>
            <a:spLocks noGrp="1"/>
          </p:cNvSpPr>
          <p:nvPr/>
        </p:nvSpPr>
        <p:spPr>
          <a:xfrm>
            <a:off x="552450" y="6448425"/>
            <a:ext cx="381000" cy="152400"/>
          </a:xfrm>
          <a:prstGeom prst="rect">
            <a:avLst/>
          </a:prstGeom>
          <a:noFill/>
          <a:ln w="0">
            <a:noFill/>
          </a:ln>
        </p:spPr>
        <p:txBody>
          <a:bodyPr lIns="0" tIns="0" rIns="0" bIns="0">
            <a:noAutofit/>
          </a:bodyPr>
          <a:lstStyle/>
          <a:p>
            <a:pPr marL="0" marR="0" lvl="0" indent="0" algn="l" defTabSz="914400" eaLnBrk="1" fontAlgn="auto" latinLnBrk="0" hangingPunct="1">
              <a:lnSpc>
                <a:spcPct val="100000"/>
              </a:lnSpc>
              <a:spcBef>
                <a:spcPts val="0"/>
              </a:spcBef>
              <a:spcAft>
                <a:spcPts val="0"/>
              </a:spcAft>
              <a:buClrTx/>
              <a:buSzTx/>
              <a:buFontTx/>
              <a:buNone/>
              <a:tabLst/>
              <a:defRPr sz="700" b="0">
                <a:solidFill>
                  <a:srgbClr val="666666"/>
                </a:solidFill>
                <a:latin typeface="Gartner Sans"/>
                <a:ea typeface="Gartner Sans"/>
                <a:cs typeface="Gartner Sans"/>
              </a:defRPr>
            </a:pPr>
            <a:r>
              <a:rPr kumimoji="0" sz="700" b="0" i="0" u="none" strike="noStrike" kern="1200" cap="none" spc="0" normalizeH="0" baseline="0" noProof="0">
                <a:ln>
                  <a:noFill/>
                </a:ln>
                <a:solidFill>
                  <a:srgbClr val="666666"/>
                </a:solidFill>
                <a:effectLst/>
                <a:uLnTx/>
                <a:uFillTx/>
                <a:latin typeface="Gartner Sans"/>
                <a:ea typeface="Gartner Sans"/>
                <a:cs typeface="Gartner Sans"/>
              </a:rPr>
              <a:t>10</a:t>
            </a:r>
          </a:p>
        </p:txBody>
      </p:sp>
      <p:sp>
        <p:nvSpPr>
          <p:cNvPr id="11" name="Part heading"/>
          <p:cNvSpPr txBox="1"/>
          <p:nvPr/>
        </p:nvSpPr>
        <p:spPr>
          <a:xfrm>
            <a:off x="552297" y="1325880"/>
            <a:ext cx="9637776" cy="329184"/>
          </a:xfrm>
          <a:prstGeom prst="rect">
            <a:avLst/>
          </a:prstGeom>
          <a:noFill/>
        </p:spPr>
        <p:txBody>
          <a:bodyPr wrap="square" lIns="0" tIns="0" rIns="0" bIns="0" anchor="ct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2869"/>
                </a:solidFill>
                <a:effectLst/>
                <a:uLnTx/>
                <a:uFillTx/>
                <a:latin typeface="Gartner Sans"/>
                <a:ea typeface="Gartner Sans"/>
                <a:cs typeface="Gartner Sans"/>
              </a:rPr>
              <a:t>Who to engage: business, customers and support</a:t>
            </a:r>
          </a:p>
        </p:txBody>
      </p:sp>
      <p:graphicFrame>
        <p:nvGraphicFramePr>
          <p:cNvPr id="12" name="Table"/>
          <p:cNvGraphicFramePr>
            <a:graphicFrameLocks noGrp="1"/>
          </p:cNvGraphicFramePr>
          <p:nvPr/>
        </p:nvGraphicFramePr>
        <p:xfrm>
          <a:off x="552297" y="1783080"/>
          <a:ext cx="11146536" cy="2395728"/>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6528816">
                  <a:extLst>
                    <a:ext uri="{9D8B030D-6E8A-4147-A177-3AD203B41FA5}">
                      <a16:colId xmlns:a16="http://schemas.microsoft.com/office/drawing/2014/main" val="20002"/>
                    </a:ext>
                  </a:extLst>
                </a:gridCol>
              </a:tblGrid>
              <a:tr h="310896">
                <a:tc>
                  <a:txBody>
                    <a:bodyPr/>
                    <a:lstStyle/>
                    <a:p>
                      <a:pPr algn="l"/>
                      <a:r>
                        <a:rPr sz="1700" b="1">
                          <a:solidFill>
                            <a:srgbClr val="FFFFFF"/>
                          </a:solidFill>
                          <a:latin typeface="Gartner Sans"/>
                          <a:ea typeface="Gartner Sans"/>
                          <a:cs typeface="Gartner Sans"/>
                        </a:rPr>
                        <a:t>Group</a:t>
                      </a:r>
                    </a:p>
                  </a:txBody>
                  <a:tcPr marL="137160" marR="137160" anchor="ctr">
                    <a:solidFill>
                      <a:srgbClr val="002869"/>
                    </a:solidFill>
                  </a:tcPr>
                </a:tc>
                <a:tc>
                  <a:txBody>
                    <a:bodyPr/>
                    <a:lstStyle/>
                    <a:p>
                      <a:pPr algn="l"/>
                      <a:r>
                        <a:rPr sz="1700" b="1">
                          <a:solidFill>
                            <a:srgbClr val="FFFFFF"/>
                          </a:solidFill>
                          <a:latin typeface="Gartner Sans"/>
                          <a:ea typeface="Gartner Sans"/>
                          <a:cs typeface="Gartner Sans"/>
                        </a:rPr>
                        <a:t>Stakeholder</a:t>
                      </a:r>
                    </a:p>
                  </a:txBody>
                  <a:tcPr marL="137160" marR="137160" anchor="ctr">
                    <a:solidFill>
                      <a:srgbClr val="002869"/>
                    </a:solidFill>
                  </a:tcPr>
                </a:tc>
                <a:tc>
                  <a:txBody>
                    <a:bodyPr/>
                    <a:lstStyle/>
                    <a:p>
                      <a:pPr algn="l"/>
                      <a:r>
                        <a:rPr sz="1700" b="1">
                          <a:solidFill>
                            <a:srgbClr val="FFFFFF"/>
                          </a:solidFill>
                          <a:latin typeface="Gartner Sans"/>
                          <a:ea typeface="Gartner Sans"/>
                          <a:cs typeface="Gartner Sans"/>
                        </a:rPr>
                        <a:t>Role in delivery</a:t>
                      </a:r>
                    </a:p>
                  </a:txBody>
                  <a:tcPr marL="137160" marR="137160" anchor="ctr">
                    <a:solidFill>
                      <a:srgbClr val="002869"/>
                    </a:solidFill>
                  </a:tcPr>
                </a:tc>
                <a:extLst>
                  <a:ext uri="{0D108BD9-81ED-4DB2-BD59-A6C34878D82A}">
                    <a16:rowId xmlns:a16="http://schemas.microsoft.com/office/drawing/2014/main" val="10000"/>
                  </a:ext>
                </a:extLst>
              </a:tr>
              <a:tr h="347472">
                <a:tc rowSpan="3">
                  <a:txBody>
                    <a:bodyPr/>
                    <a:lstStyle/>
                    <a:p>
                      <a:pPr algn="l"/>
                      <a:r>
                        <a:rPr sz="1700" b="1">
                          <a:solidFill>
                            <a:srgbClr val="152230"/>
                          </a:solidFill>
                          <a:latin typeface="Gartner Sans"/>
                          <a:ea typeface="Gartner Sans"/>
                          <a:cs typeface="Gartner Sans"/>
                        </a:rPr>
                        <a:t>Business and strategic</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Business stakeholders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Own business capabilities, define outcomes and state what success looks like.</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5"/>
                  </a:ext>
                </a:extLst>
              </a:tr>
              <a:tr h="347472">
                <a:tc vMerge="1">
                  <a:txBody>
                    <a:bodyPr/>
                    <a:lstStyle/>
                    <a:p>
                      <a:pPr algn="l"/>
                      <a:endParaRPr sz="1700"/>
                    </a:p>
                  </a:txBody>
                  <a:tcPr marL="137160" marR="137160" anchor="ctr">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Governance partners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Security, compliance and risk. Embed controls in workflows, not in retrospective checks.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6"/>
                  </a:ext>
                </a:extLst>
              </a:tr>
              <a:tr h="347472">
                <a:tc vMerge="1">
                  <a:txBody>
                    <a:bodyPr/>
                    <a:lstStyle/>
                    <a:p>
                      <a:pPr algn="l"/>
                      <a:endParaRPr sz="1700"/>
                    </a:p>
                  </a:txBody>
                  <a:tcPr marL="137160" marR="137160" anchor="ctr">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Finance and budget holders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Decide funding and resource allocation against strategic priorities.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7"/>
                  </a:ext>
                </a:extLst>
              </a:tr>
              <a:tr h="347472">
                <a:tc>
                  <a:txBody>
                    <a:bodyPr/>
                    <a:lstStyle/>
                    <a:p>
                      <a:pPr algn="l"/>
                      <a:r>
                        <a:rPr sz="1700" b="1">
                          <a:solidFill>
                            <a:srgbClr val="152230"/>
                          </a:solidFill>
                          <a:latin typeface="Gartner Sans"/>
                          <a:ea typeface="Gartner Sans"/>
                          <a:cs typeface="Gartner Sans"/>
                        </a:rPr>
                        <a:t>Customers and users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Customers or internal user groups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Give feedback, validate product value and drive prioritisation.</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8"/>
                  </a:ext>
                </a:extLst>
              </a:tr>
              <a:tr h="347472">
                <a:tc rowSpan="2">
                  <a:txBody>
                    <a:bodyPr/>
                    <a:lstStyle/>
                    <a:p>
                      <a:pPr algn="l"/>
                      <a:r>
                        <a:rPr sz="1700" b="1">
                          <a:solidFill>
                            <a:srgbClr val="152230"/>
                          </a:solidFill>
                          <a:latin typeface="Gartner Sans"/>
                          <a:ea typeface="Gartner Sans"/>
                          <a:cs typeface="Gartner Sans"/>
                        </a:rPr>
                        <a:t>Support functions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Platform teams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Run enabling services and infrastructure for product teams.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09"/>
                  </a:ext>
                </a:extLst>
              </a:tr>
              <a:tr h="347472">
                <a:tc vMerge="1">
                  <a:txBody>
                    <a:bodyPr/>
                    <a:lstStyle/>
                    <a:p>
                      <a:pPr algn="l"/>
                      <a:endParaRPr sz="1700"/>
                    </a:p>
                  </a:txBody>
                  <a:tcPr marL="137160" marR="137160" anchor="ctr">
                    <a:lnB w="9525">
                      <a:solidFill>
                        <a:srgbClr val="D0D7DF"/>
                      </a:solidFill>
                    </a:lnB>
                    <a:solidFill>
                      <a:srgbClr val="F0F7FD"/>
                    </a:solidFill>
                  </a:tcPr>
                </a:tc>
                <a:tc>
                  <a:txBody>
                    <a:bodyPr/>
                    <a:lstStyle/>
                    <a:p>
                      <a:pPr algn="l"/>
                      <a:r>
                        <a:rPr sz="1700" b="0">
                          <a:solidFill>
                            <a:srgbClr val="152230"/>
                          </a:solidFill>
                          <a:latin typeface="Gartner Sans"/>
                          <a:ea typeface="Gartner Sans"/>
                          <a:cs typeface="Gartner Sans"/>
                        </a:rPr>
                        <a:t>Service providers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tc>
                  <a:txBody>
                    <a:bodyPr/>
                    <a:lstStyle/>
                    <a:p>
                      <a:pPr algn="l"/>
                      <a:r>
                        <a:rPr sz="1700" b="0">
                          <a:solidFill>
                            <a:srgbClr val="152230"/>
                          </a:solidFill>
                          <a:latin typeface="Gartner Sans"/>
                          <a:ea typeface="Gartner Sans"/>
                          <a:cs typeface="Gartner Sans"/>
                        </a:rPr>
                        <a:t>In outsourced delivery, carry out defined activities to agreed milestones and service levels.</a:t>
                      </a:r>
                    </a:p>
                  </a:txBody>
                  <a:tcPr marL="137160" marR="137160" anchor="ctr">
                    <a:lnT w="9525" cap="flat" cmpd="sng" algn="ctr">
                      <a:solidFill>
                        <a:srgbClr val="D0D7DF"/>
                      </a:solidFill>
                      <a:prstDash val="solid"/>
                      <a:round/>
                      <a:headEnd type="none" w="med" len="med"/>
                      <a:tailEnd type="none" w="med" len="med"/>
                    </a:lnT>
                    <a:lnB w="9525">
                      <a:solidFill>
                        <a:srgbClr val="D0D7DF"/>
                      </a:solidFill>
                    </a:lnB>
                    <a:solidFill>
                      <a:srgbClr val="FFFFFF"/>
                    </a:solidFill>
                  </a:tcPr>
                </a:tc>
                <a:extLst>
                  <a:ext uri="{0D108BD9-81ED-4DB2-BD59-A6C34878D82A}">
                    <a16:rowId xmlns:a16="http://schemas.microsoft.com/office/drawing/2014/main" val="10010"/>
                  </a:ext>
                </a:extLst>
              </a:tr>
            </a:tbl>
          </a:graphicData>
        </a:graphic>
      </p:graphicFrame>
      <p:sp>
        <p:nvSpPr>
          <p:cNvPr id="13" name="Source"/>
          <p:cNvSpPr txBox="1"/>
          <p:nvPr/>
        </p:nvSpPr>
        <p:spPr>
          <a:xfrm>
            <a:off x="552450" y="5981700"/>
            <a:ext cx="9700000" cy="295275"/>
          </a:xfrm>
          <a:prstGeom prst="rect">
            <a:avLst/>
          </a:prstGeom>
          <a:noFill/>
        </p:spPr>
        <p:txBody>
          <a:bodyPr wrap="square" lIns="0" tIns="0" rIns="0" bIns="0" anchor="t">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1150" b="0" i="0" u="none" strike="noStrike" kern="1200" cap="none" spc="0" normalizeH="0" baseline="0" noProof="0">
                <a:ln>
                  <a:noFill/>
                </a:ln>
                <a:solidFill>
                  <a:srgbClr val="526273"/>
                </a:solidFill>
                <a:effectLst/>
                <a:uLnTx/>
                <a:uFillTx/>
                <a:latin typeface="Gartner Sans"/>
                <a:ea typeface="Gartner Sans"/>
                <a:cs typeface="Gartner Sans"/>
              </a:rPr>
              <a:t>Sources: references 3, 4 and 7 (see the References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ow_AI_Is_Transforming_Software_Engineering_and_the_SDLC" id="{D8132CA7-FF70-C046-A8D7-46B5280962ED}" vid="{99E23B72-F14E-F543-891D-A738301356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103</TotalTime>
  <Words>11650</Words>
  <Application>Microsoft Macintosh PowerPoint</Application>
  <DocSecurity>0</DocSecurity>
  <PresentationFormat>Widescreen</PresentationFormat>
  <Paragraphs>1541</Paragraphs>
  <Slides>93</Slides>
  <Notes>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93</vt:i4>
      </vt:variant>
    </vt:vector>
  </HeadingPairs>
  <TitlesOfParts>
    <vt:vector size="98" baseType="lpstr">
      <vt:lpstr>Arial</vt:lpstr>
      <vt:lpstr>Calibri</vt:lpstr>
      <vt:lpstr>Gartner Sans Semibold</vt:lpstr>
      <vt:lpstr>Gartner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software delivery workshop</dc:title>
  <dc:creator>Walnut Exporter</dc:creator>
  <cp:lastModifiedBy>David Norton</cp:lastModifiedBy>
  <cp:revision>14</cp:revision>
  <dcterms:created xsi:type="dcterms:W3CDTF">2026-10-03T19:28:06Z</dcterms:created>
  <dcterms:modified xsi:type="dcterms:W3CDTF">2026-10-04T22:18:10Z</dcterms:modified>
</cp:coreProperties>
</file>